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418320" y="-1005840"/>
            <a:ext cx="4206240" cy="4206240"/>
          </a:xfrm>
          <a:prstGeom prst="ellipse">
            <a:avLst/>
          </a:prstGeom>
          <a:solidFill>
            <a:srgbClr val="141B4D"/>
          </a:solidFill>
          <a:ln/>
        </p:spPr>
      </p:sp>
      <p:sp>
        <p:nvSpPr>
          <p:cNvPr id="3" name="Shape 1"/>
          <p:cNvSpPr/>
          <p:nvPr/>
        </p:nvSpPr>
        <p:spPr>
          <a:xfrm>
            <a:off x="10058400" y="-274320"/>
            <a:ext cx="2743200" cy="2743200"/>
          </a:xfrm>
          <a:prstGeom prst="ellipse">
            <a:avLst/>
          </a:prstGeom>
          <a:solidFill>
            <a:srgbClr val="232C6B"/>
          </a:solidFill>
          <a:ln/>
        </p:spPr>
      </p:sp>
      <p:sp>
        <p:nvSpPr>
          <p:cNvPr id="4" name="Shape 2"/>
          <p:cNvSpPr/>
          <p:nvPr/>
        </p:nvSpPr>
        <p:spPr>
          <a:xfrm>
            <a:off x="10561320" y="6035040"/>
            <a:ext cx="164592" cy="365760"/>
          </a:xfrm>
          <a:prstGeom prst="rect">
            <a:avLst/>
          </a:prstGeom>
          <a:solidFill>
            <a:srgbClr val="CADCFC"/>
          </a:solidFill>
          <a:ln/>
        </p:spPr>
      </p:sp>
      <p:sp>
        <p:nvSpPr>
          <p:cNvPr id="5" name="Shape 3"/>
          <p:cNvSpPr/>
          <p:nvPr/>
        </p:nvSpPr>
        <p:spPr>
          <a:xfrm>
            <a:off x="10817352" y="5833872"/>
            <a:ext cx="164592" cy="566928"/>
          </a:xfrm>
          <a:prstGeom prst="rect">
            <a:avLst/>
          </a:prstGeom>
          <a:solidFill>
            <a:srgbClr val="CADCFC"/>
          </a:solidFill>
          <a:ln/>
        </p:spPr>
      </p:sp>
      <p:sp>
        <p:nvSpPr>
          <p:cNvPr id="6" name="Shape 4"/>
          <p:cNvSpPr/>
          <p:nvPr/>
        </p:nvSpPr>
        <p:spPr>
          <a:xfrm>
            <a:off x="11073384" y="5943600"/>
            <a:ext cx="164592" cy="457200"/>
          </a:xfrm>
          <a:prstGeom prst="rect">
            <a:avLst/>
          </a:prstGeom>
          <a:solidFill>
            <a:srgbClr val="CADCFC"/>
          </a:solidFill>
          <a:ln/>
        </p:spPr>
      </p:sp>
      <p:sp>
        <p:nvSpPr>
          <p:cNvPr id="7" name="Shape 5"/>
          <p:cNvSpPr/>
          <p:nvPr/>
        </p:nvSpPr>
        <p:spPr>
          <a:xfrm>
            <a:off x="11329416" y="5687568"/>
            <a:ext cx="164592" cy="713232"/>
          </a:xfrm>
          <a:prstGeom prst="rect">
            <a:avLst/>
          </a:prstGeom>
          <a:solidFill>
            <a:srgbClr val="C2542D"/>
          </a:solidFill>
          <a:ln/>
        </p:spPr>
      </p:sp>
      <p:sp>
        <p:nvSpPr>
          <p:cNvPr id="8" name="Text 6"/>
          <p:cNvSpPr/>
          <p:nvPr/>
        </p:nvSpPr>
        <p:spPr>
          <a:xfrm>
            <a:off x="822960" y="1280160"/>
            <a:ext cx="8229600" cy="365760"/>
          </a:xfrm>
          <a:prstGeom prst="rect">
            <a:avLst/>
          </a:prstGeom>
          <a:noFill/>
          <a:ln/>
        </p:spPr>
        <p:txBody>
          <a:bodyPr wrap="square" rtlCol="0" anchor="ctr"/>
          <a:lstStyle/>
          <a:p>
            <a:pPr indent="0" marL="0">
              <a:buNone/>
            </a:pPr>
            <a:r>
              <a:rPr lang="en-US" sz="1300" b="1" spc="300" kern="0" dirty="0">
                <a:solidFill>
                  <a:srgbClr val="CADCFC"/>
                </a:solidFill>
                <a:latin typeface="Calibri" pitchFamily="34" charset="0"/>
                <a:ea typeface="Calibri" pitchFamily="34" charset="-122"/>
                <a:cs typeface="Calibri" pitchFamily="34" charset="-120"/>
              </a:rPr>
              <a:t>INFOSYS SPRINGBOARD VIRTUAL INTERNSHIP 7.0</a:t>
            </a:r>
            <a:endParaRPr lang="en-US" sz="1300" dirty="0"/>
          </a:p>
        </p:txBody>
      </p:sp>
      <p:sp>
        <p:nvSpPr>
          <p:cNvPr id="9" name="Text 7"/>
          <p:cNvSpPr/>
          <p:nvPr/>
        </p:nvSpPr>
        <p:spPr>
          <a:xfrm>
            <a:off x="822960" y="1664208"/>
            <a:ext cx="8961120" cy="1600200"/>
          </a:xfrm>
          <a:prstGeom prst="rect">
            <a:avLst/>
          </a:prstGeom>
          <a:noFill/>
          <a:ln/>
        </p:spPr>
        <p:txBody>
          <a:bodyPr wrap="square" rtlCol="0" anchor="ctr"/>
          <a:lstStyle/>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Supply Chain Visibility</a:t>
            </a:r>
            <a:endParaRPr lang="en-US" sz="4000" dirty="0"/>
          </a:p>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&amp; Optimization</a:t>
            </a:r>
            <a:endParaRPr lang="en-US" sz="4000" dirty="0"/>
          </a:p>
        </p:txBody>
      </p:sp>
      <p:sp>
        <p:nvSpPr>
          <p:cNvPr id="10" name="Text 8"/>
          <p:cNvSpPr/>
          <p:nvPr/>
        </p:nvSpPr>
        <p:spPr>
          <a:xfrm>
            <a:off x="822960" y="3291840"/>
            <a:ext cx="8138160" cy="868680"/>
          </a:xfrm>
          <a:prstGeom prst="rect">
            <a:avLst/>
          </a:prstGeom>
          <a:noFill/>
          <a:ln/>
        </p:spPr>
        <p:txBody>
          <a:bodyPr wrap="square" rtlCol="0" anchor="ctr"/>
          <a:lstStyle/>
          <a:p>
            <a:pPr indent="0" marL="0">
              <a:lnSpc>
                <a:spcPct val="122000"/>
              </a:lnSpc>
              <a:buNone/>
            </a:pPr>
            <a:r>
              <a:rPr lang="en-US" sz="1350" i="1" dirty="0">
                <a:solidFill>
                  <a:srgbClr val="CADCFC"/>
                </a:solidFill>
                <a:latin typeface="Calibri" pitchFamily="34" charset="0"/>
                <a:ea typeface="Calibri" pitchFamily="34" charset="-122"/>
                <a:cs typeface="Calibri" pitchFamily="34" charset="-120"/>
              </a:rPr>
              <a:t>An individual completion report presented as an end-to-end Power BI business intelligence solution — a governed, seven-page interactive dashboard suite delivering real-time visibility into retail sales, profitability, shipping, and returns.</a:t>
            </a:r>
            <a:endParaRPr lang="en-US" sz="1350" dirty="0"/>
          </a:p>
        </p:txBody>
      </p:sp>
      <p:sp>
        <p:nvSpPr>
          <p:cNvPr id="11" name="Shape 9"/>
          <p:cNvSpPr/>
          <p:nvPr/>
        </p:nvSpPr>
        <p:spPr>
          <a:xfrm>
            <a:off x="822960" y="4297680"/>
            <a:ext cx="7863840" cy="0"/>
          </a:xfrm>
          <a:prstGeom prst="line">
            <a:avLst/>
          </a:prstGeom>
          <a:noFill/>
          <a:ln w="12700">
            <a:solidFill>
              <a:srgbClr val="3A448C"/>
            </a:solidFill>
            <a:prstDash val="solid"/>
          </a:ln>
        </p:spPr>
      </p:sp>
      <p:sp>
        <p:nvSpPr>
          <p:cNvPr id="12" name="Text 10"/>
          <p:cNvSpPr/>
          <p:nvPr/>
        </p:nvSpPr>
        <p:spPr>
          <a:xfrm>
            <a:off x="822960" y="4480560"/>
            <a:ext cx="3657600" cy="292608"/>
          </a:xfrm>
          <a:prstGeom prst="rect">
            <a:avLst/>
          </a:prstGeom>
          <a:noFill/>
          <a:ln/>
        </p:spPr>
        <p:txBody>
          <a:bodyPr wrap="square" rtlCol="0" anchor="ctr"/>
          <a:lstStyle/>
          <a:p>
            <a:pPr indent="0" marL="0">
              <a:buNone/>
            </a:pPr>
            <a:r>
              <a:rPr lang="en-US" sz="1100" b="1" spc="200" kern="0" dirty="0">
                <a:solidFill>
                  <a:srgbClr val="C2542D"/>
                </a:solidFill>
                <a:latin typeface="Calibri" pitchFamily="34" charset="0"/>
                <a:ea typeface="Calibri" pitchFamily="34" charset="-122"/>
                <a:cs typeface="Calibri" pitchFamily="34" charset="-120"/>
              </a:rPr>
              <a:t>PREPARED BY</a:t>
            </a:r>
            <a:endParaRPr lang="en-US" sz="1100" dirty="0"/>
          </a:p>
        </p:txBody>
      </p:sp>
      <p:sp>
        <p:nvSpPr>
          <p:cNvPr id="13" name="Text 11"/>
          <p:cNvSpPr/>
          <p:nvPr/>
        </p:nvSpPr>
        <p:spPr>
          <a:xfrm>
            <a:off x="822960" y="4773168"/>
            <a:ext cx="8229600" cy="457200"/>
          </a:xfrm>
          <a:prstGeom prst="rect">
            <a:avLst/>
          </a:prstGeom>
          <a:noFill/>
          <a:ln/>
        </p:spPr>
        <p:txBody>
          <a:bodyPr wrap="square"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Pendyala Venkata Bharath</a:t>
            </a:r>
            <a:endParaRPr lang="en-US" sz="1900" dirty="0"/>
          </a:p>
        </p:txBody>
      </p:sp>
      <p:sp>
        <p:nvSpPr>
          <p:cNvPr id="14" name="Text 12"/>
          <p:cNvSpPr/>
          <p:nvPr/>
        </p:nvSpPr>
        <p:spPr>
          <a:xfrm>
            <a:off x="822960" y="5230368"/>
            <a:ext cx="8229600" cy="320040"/>
          </a:xfrm>
          <a:prstGeom prst="rect">
            <a:avLst/>
          </a:prstGeom>
          <a:noFill/>
          <a:ln/>
        </p:spPr>
        <p:txBody>
          <a:bodyPr wrap="square" rtlCol="0" anchor="ctr"/>
          <a:lstStyle/>
          <a:p>
            <a:pPr indent="0" marL="0">
              <a:buNone/>
            </a:pPr>
            <a:r>
              <a:rPr lang="en-US" sz="1250" i="1" dirty="0">
                <a:solidFill>
                  <a:srgbClr val="CADCFC"/>
                </a:solidFill>
                <a:latin typeface="Calibri" pitchFamily="34" charset="0"/>
                <a:ea typeface="Calibri" pitchFamily="34" charset="-122"/>
                <a:cs typeface="Calibri" pitchFamily="34" charset="-120"/>
              </a:rPr>
              <a:t>Team B, Batch-01  •  Individual Milestone-4 Completion Submission</a:t>
            </a:r>
            <a:endParaRPr lang="en-US" sz="1250" dirty="0"/>
          </a:p>
        </p:txBody>
      </p:sp>
      <p:sp>
        <p:nvSpPr>
          <p:cNvPr id="15" name="Shape 13"/>
          <p:cNvSpPr/>
          <p:nvPr/>
        </p:nvSpPr>
        <p:spPr>
          <a:xfrm>
            <a:off x="822960" y="5650992"/>
            <a:ext cx="7863840" cy="0"/>
          </a:xfrm>
          <a:prstGeom prst="line">
            <a:avLst/>
          </a:prstGeom>
          <a:noFill/>
          <a:ln w="9525">
            <a:solidFill>
              <a:srgbClr val="3A448C"/>
            </a:solidFill>
            <a:prstDash val="solid"/>
          </a:ln>
        </p:spPr>
      </p:sp>
      <p:sp>
        <p:nvSpPr>
          <p:cNvPr id="16" name="Text 14"/>
          <p:cNvSpPr/>
          <p:nvPr/>
        </p:nvSpPr>
        <p:spPr>
          <a:xfrm>
            <a:off x="822960" y="5797296"/>
            <a:ext cx="5486400" cy="310896"/>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Infosys Springboard Virtual Internship 7.0</a:t>
            </a:r>
            <a:endParaRPr lang="en-US" sz="1150" dirty="0"/>
          </a:p>
        </p:txBody>
      </p:sp>
      <p:sp>
        <p:nvSpPr>
          <p:cNvPr id="17" name="Text 15"/>
          <p:cNvSpPr/>
          <p:nvPr/>
        </p:nvSpPr>
        <p:spPr>
          <a:xfrm>
            <a:off x="822960" y="6089904"/>
            <a:ext cx="5486400" cy="310896"/>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Mentor: Ms. Nityasree</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E2761"/>
          </a:solidFill>
          <a:ln/>
        </p:spPr>
      </p:sp>
      <p:sp>
        <p:nvSpPr>
          <p:cNvPr id="3" name="Text 1"/>
          <p:cNvSpPr/>
          <p:nvPr/>
        </p:nvSpPr>
        <p:spPr>
          <a:xfrm>
            <a:off x="548640" y="201168"/>
            <a:ext cx="914400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Project Objective</a:t>
            </a:r>
            <a:endParaRPr lang="en-US" sz="3000" dirty="0"/>
          </a:p>
        </p:txBody>
      </p:sp>
      <p:sp>
        <p:nvSpPr>
          <p:cNvPr id="4" name="Text 2"/>
          <p:cNvSpPr/>
          <p:nvPr/>
        </p:nvSpPr>
        <p:spPr>
          <a:xfrm>
            <a:off x="548640" y="1371600"/>
            <a:ext cx="5120640" cy="457200"/>
          </a:xfrm>
          <a:prstGeom prst="rect">
            <a:avLst/>
          </a:prstGeom>
          <a:noFill/>
          <a:ln/>
        </p:spPr>
        <p:txBody>
          <a:bodyPr wrap="square" rtlCol="0" anchor="ctr"/>
          <a:lstStyle/>
          <a:p>
            <a:pPr indent="0" marL="0">
              <a:buNone/>
            </a:pPr>
            <a:r>
              <a:rPr lang="en-US" sz="1300" b="1" spc="200" kern="0" dirty="0">
                <a:solidFill>
                  <a:srgbClr val="C2542D"/>
                </a:solidFill>
                <a:latin typeface="Calibri" pitchFamily="34" charset="0"/>
                <a:ea typeface="Calibri" pitchFamily="34" charset="-122"/>
                <a:cs typeface="Calibri" pitchFamily="34" charset="-120"/>
              </a:rPr>
              <a:t>PROJECT OBJECTIVE</a:t>
            </a:r>
            <a:endParaRPr lang="en-US" sz="1300" dirty="0"/>
          </a:p>
        </p:txBody>
      </p:sp>
      <p:sp>
        <p:nvSpPr>
          <p:cNvPr id="5" name="Shape 3"/>
          <p:cNvSpPr/>
          <p:nvPr/>
        </p:nvSpPr>
        <p:spPr>
          <a:xfrm>
            <a:off x="548640" y="1828800"/>
            <a:ext cx="274320" cy="274320"/>
          </a:xfrm>
          <a:prstGeom prst="ellipse">
            <a:avLst/>
          </a:prstGeom>
          <a:solidFill>
            <a:srgbClr val="F4F6FB"/>
          </a:solidFill>
          <a:ln w="12700">
            <a:solidFill>
              <a:srgbClr val="CADCFC"/>
            </a:solidFill>
            <a:prstDash val="solid"/>
          </a:ln>
        </p:spPr>
      </p:sp>
      <p:sp>
        <p:nvSpPr>
          <p:cNvPr id="6" name="Text 4"/>
          <p:cNvSpPr/>
          <p:nvPr/>
        </p:nvSpPr>
        <p:spPr>
          <a:xfrm>
            <a:off x="548640" y="1828800"/>
            <a:ext cx="274320" cy="274320"/>
          </a:xfrm>
          <a:prstGeom prst="rect">
            <a:avLst/>
          </a:prstGeom>
          <a:noFill/>
          <a:ln/>
        </p:spPr>
        <p:txBody>
          <a:bodyPr wrap="square"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987552" y="1755648"/>
            <a:ext cx="4754880" cy="548640"/>
          </a:xfrm>
          <a:prstGeom prst="rect">
            <a:avLst/>
          </a:prstGeom>
          <a:noFill/>
          <a:ln/>
        </p:spPr>
        <p:txBody>
          <a:bodyPr wrap="square" rtlCol="0" anchor="t"/>
          <a:lstStyle/>
          <a:p>
            <a:pPr indent="0" marL="0">
              <a:lnSpc>
                <a:spcPct val="114000"/>
              </a:lnSpc>
              <a:buNone/>
            </a:pPr>
            <a:r>
              <a:rPr lang="en-US" sz="1170" dirty="0">
                <a:solidFill>
                  <a:srgbClr val="1B1F2E"/>
                </a:solidFill>
                <a:latin typeface="Calibri" pitchFamily="34" charset="0"/>
                <a:ea typeface="Calibri" pitchFamily="34" charset="-122"/>
                <a:cs typeface="Calibri" pitchFamily="34" charset="-120"/>
              </a:rPr>
              <a:t>Establish a single, centralized source of truth for order, sales, and shipping data across procurement, inventory, and distribution.</a:t>
            </a:r>
            <a:endParaRPr lang="en-US" sz="1170" dirty="0"/>
          </a:p>
        </p:txBody>
      </p:sp>
      <p:sp>
        <p:nvSpPr>
          <p:cNvPr id="8" name="Text 6"/>
          <p:cNvSpPr/>
          <p:nvPr/>
        </p:nvSpPr>
        <p:spPr>
          <a:xfrm>
            <a:off x="987552" y="2322576"/>
            <a:ext cx="4754880" cy="329184"/>
          </a:xfrm>
          <a:prstGeom prst="rect">
            <a:avLst/>
          </a:prstGeom>
          <a:noFill/>
          <a:ln/>
        </p:spPr>
        <p:txBody>
          <a:bodyPr wrap="square" rtlCol="0" anchor="t"/>
          <a:lstStyle/>
          <a:p>
            <a:pPr indent="0" marL="0">
              <a:lnSpc>
                <a:spcPct val="110000"/>
              </a:lnSpc>
              <a:buNone/>
            </a:pPr>
            <a:r>
              <a:rPr lang="en-US" sz="960" i="1" dirty="0">
                <a:solidFill>
                  <a:srgbClr val="5B6B8C"/>
                </a:solidFill>
                <a:latin typeface="Calibri" pitchFamily="34" charset="0"/>
                <a:ea typeface="Calibri" pitchFamily="34" charset="-122"/>
                <a:cs typeface="Calibri" pitchFamily="34" charset="-120"/>
              </a:rPr>
              <a:t>Governance theory: one governed data model behind every visual removes the inconsistent-figures risk of scattered spreadsheets.</a:t>
            </a:r>
            <a:endParaRPr lang="en-US" sz="960" dirty="0"/>
          </a:p>
        </p:txBody>
      </p:sp>
      <p:sp>
        <p:nvSpPr>
          <p:cNvPr id="9" name="Shape 7"/>
          <p:cNvSpPr/>
          <p:nvPr/>
        </p:nvSpPr>
        <p:spPr>
          <a:xfrm>
            <a:off x="548640" y="2862072"/>
            <a:ext cx="274320" cy="274320"/>
          </a:xfrm>
          <a:prstGeom prst="ellipse">
            <a:avLst/>
          </a:prstGeom>
          <a:solidFill>
            <a:srgbClr val="F4F6FB"/>
          </a:solidFill>
          <a:ln w="12700">
            <a:solidFill>
              <a:srgbClr val="CADCFC"/>
            </a:solidFill>
            <a:prstDash val="solid"/>
          </a:ln>
        </p:spPr>
      </p:sp>
      <p:sp>
        <p:nvSpPr>
          <p:cNvPr id="10" name="Text 8"/>
          <p:cNvSpPr/>
          <p:nvPr/>
        </p:nvSpPr>
        <p:spPr>
          <a:xfrm>
            <a:off x="548640" y="2862072"/>
            <a:ext cx="274320" cy="274320"/>
          </a:xfrm>
          <a:prstGeom prst="rect">
            <a:avLst/>
          </a:prstGeom>
          <a:noFill/>
          <a:ln/>
        </p:spPr>
        <p:txBody>
          <a:bodyPr wrap="square"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2</a:t>
            </a:r>
            <a:endParaRPr lang="en-US" sz="1200" dirty="0"/>
          </a:p>
        </p:txBody>
      </p:sp>
      <p:sp>
        <p:nvSpPr>
          <p:cNvPr id="11" name="Text 9"/>
          <p:cNvSpPr/>
          <p:nvPr/>
        </p:nvSpPr>
        <p:spPr>
          <a:xfrm>
            <a:off x="987552" y="2788920"/>
            <a:ext cx="4754880" cy="548640"/>
          </a:xfrm>
          <a:prstGeom prst="rect">
            <a:avLst/>
          </a:prstGeom>
          <a:noFill/>
          <a:ln/>
        </p:spPr>
        <p:txBody>
          <a:bodyPr wrap="square" rtlCol="0" anchor="t"/>
          <a:lstStyle/>
          <a:p>
            <a:pPr indent="0" marL="0">
              <a:lnSpc>
                <a:spcPct val="114000"/>
              </a:lnSpc>
              <a:buNone/>
            </a:pPr>
            <a:r>
              <a:rPr lang="en-US" sz="1170" dirty="0">
                <a:solidFill>
                  <a:srgbClr val="1B1F2E"/>
                </a:solidFill>
                <a:latin typeface="Calibri" pitchFamily="34" charset="0"/>
                <a:ea typeface="Calibri" pitchFamily="34" charset="-122"/>
                <a:cs typeface="Calibri" pitchFamily="34" charset="-120"/>
              </a:rPr>
              <a:t>Track key performance indicators such as lead time, on-time delivery rate, profit margin, and unit-level profitability.</a:t>
            </a:r>
            <a:endParaRPr lang="en-US" sz="1170" dirty="0"/>
          </a:p>
        </p:txBody>
      </p:sp>
      <p:sp>
        <p:nvSpPr>
          <p:cNvPr id="12" name="Text 10"/>
          <p:cNvSpPr/>
          <p:nvPr/>
        </p:nvSpPr>
        <p:spPr>
          <a:xfrm>
            <a:off x="987552" y="3355848"/>
            <a:ext cx="4754880" cy="329184"/>
          </a:xfrm>
          <a:prstGeom prst="rect">
            <a:avLst/>
          </a:prstGeom>
          <a:noFill/>
          <a:ln/>
        </p:spPr>
        <p:txBody>
          <a:bodyPr wrap="square" rtlCol="0" anchor="t"/>
          <a:lstStyle/>
          <a:p>
            <a:pPr indent="0" marL="0">
              <a:lnSpc>
                <a:spcPct val="110000"/>
              </a:lnSpc>
              <a:buNone/>
            </a:pPr>
            <a:r>
              <a:rPr lang="en-US" sz="960" i="1" dirty="0">
                <a:solidFill>
                  <a:srgbClr val="5B6B8C"/>
                </a:solidFill>
                <a:latin typeface="Calibri" pitchFamily="34" charset="0"/>
                <a:ea typeface="Calibri" pitchFamily="34" charset="-122"/>
                <a:cs typeface="Calibri" pitchFamily="34" charset="-120"/>
              </a:rPr>
              <a:t>Normalized ratios (margin, rate) allow fair comparison across regions and time periods regardless of absolute scale.</a:t>
            </a:r>
            <a:endParaRPr lang="en-US" sz="960" dirty="0"/>
          </a:p>
        </p:txBody>
      </p:sp>
      <p:sp>
        <p:nvSpPr>
          <p:cNvPr id="13" name="Shape 11"/>
          <p:cNvSpPr/>
          <p:nvPr/>
        </p:nvSpPr>
        <p:spPr>
          <a:xfrm>
            <a:off x="548640" y="3895344"/>
            <a:ext cx="274320" cy="274320"/>
          </a:xfrm>
          <a:prstGeom prst="ellipse">
            <a:avLst/>
          </a:prstGeom>
          <a:solidFill>
            <a:srgbClr val="F4F6FB"/>
          </a:solidFill>
          <a:ln w="12700">
            <a:solidFill>
              <a:srgbClr val="CADCFC"/>
            </a:solidFill>
            <a:prstDash val="solid"/>
          </a:ln>
        </p:spPr>
      </p:sp>
      <p:sp>
        <p:nvSpPr>
          <p:cNvPr id="14" name="Text 12"/>
          <p:cNvSpPr/>
          <p:nvPr/>
        </p:nvSpPr>
        <p:spPr>
          <a:xfrm>
            <a:off x="548640" y="3895344"/>
            <a:ext cx="274320" cy="274320"/>
          </a:xfrm>
          <a:prstGeom prst="rect">
            <a:avLst/>
          </a:prstGeom>
          <a:noFill/>
          <a:ln/>
        </p:spPr>
        <p:txBody>
          <a:bodyPr wrap="square"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3</a:t>
            </a:r>
            <a:endParaRPr lang="en-US" sz="1200" dirty="0"/>
          </a:p>
        </p:txBody>
      </p:sp>
      <p:sp>
        <p:nvSpPr>
          <p:cNvPr id="15" name="Text 13"/>
          <p:cNvSpPr/>
          <p:nvPr/>
        </p:nvSpPr>
        <p:spPr>
          <a:xfrm>
            <a:off x="987552" y="3822192"/>
            <a:ext cx="4754880" cy="548640"/>
          </a:xfrm>
          <a:prstGeom prst="rect">
            <a:avLst/>
          </a:prstGeom>
          <a:noFill/>
          <a:ln/>
        </p:spPr>
        <p:txBody>
          <a:bodyPr wrap="square" rtlCol="0" anchor="t"/>
          <a:lstStyle/>
          <a:p>
            <a:pPr indent="0" marL="0">
              <a:lnSpc>
                <a:spcPct val="114000"/>
              </a:lnSpc>
              <a:buNone/>
            </a:pPr>
            <a:r>
              <a:rPr lang="en-US" sz="1170" dirty="0">
                <a:solidFill>
                  <a:srgbClr val="1B1F2E"/>
                </a:solidFill>
                <a:latin typeface="Calibri" pitchFamily="34" charset="0"/>
                <a:ea typeface="Calibri" pitchFamily="34" charset="-122"/>
                <a:cs typeface="Calibri" pitchFamily="34" charset="-120"/>
              </a:rPr>
              <a:t>Identify regions, categories, discount bands, and shipping modes that contribute most to delays and losses.</a:t>
            </a:r>
            <a:endParaRPr lang="en-US" sz="1170" dirty="0"/>
          </a:p>
        </p:txBody>
      </p:sp>
      <p:sp>
        <p:nvSpPr>
          <p:cNvPr id="16" name="Text 14"/>
          <p:cNvSpPr/>
          <p:nvPr/>
        </p:nvSpPr>
        <p:spPr>
          <a:xfrm>
            <a:off x="987552" y="4389120"/>
            <a:ext cx="4754880" cy="329184"/>
          </a:xfrm>
          <a:prstGeom prst="rect">
            <a:avLst/>
          </a:prstGeom>
          <a:noFill/>
          <a:ln/>
        </p:spPr>
        <p:txBody>
          <a:bodyPr wrap="square" rtlCol="0" anchor="t"/>
          <a:lstStyle/>
          <a:p>
            <a:pPr indent="0" marL="0">
              <a:lnSpc>
                <a:spcPct val="110000"/>
              </a:lnSpc>
              <a:buNone/>
            </a:pPr>
            <a:r>
              <a:rPr lang="en-US" sz="960" i="1" dirty="0">
                <a:solidFill>
                  <a:srgbClr val="5B6B8C"/>
                </a:solidFill>
                <a:latin typeface="Calibri" pitchFamily="34" charset="0"/>
                <a:ea typeface="Calibri" pitchFamily="34" charset="-122"/>
                <a:cs typeface="Calibri" pitchFamily="34" charset="-120"/>
              </a:rPr>
              <a:t>Pareto-style ranking surfaces the small subset of drivers responsible for most of the cost or delay.</a:t>
            </a:r>
            <a:endParaRPr lang="en-US" sz="960" dirty="0"/>
          </a:p>
        </p:txBody>
      </p:sp>
      <p:sp>
        <p:nvSpPr>
          <p:cNvPr id="17" name="Shape 15"/>
          <p:cNvSpPr/>
          <p:nvPr/>
        </p:nvSpPr>
        <p:spPr>
          <a:xfrm>
            <a:off x="548640" y="4928616"/>
            <a:ext cx="274320" cy="274320"/>
          </a:xfrm>
          <a:prstGeom prst="ellipse">
            <a:avLst/>
          </a:prstGeom>
          <a:solidFill>
            <a:srgbClr val="F4F6FB"/>
          </a:solidFill>
          <a:ln w="12700">
            <a:solidFill>
              <a:srgbClr val="CADCFC"/>
            </a:solidFill>
            <a:prstDash val="solid"/>
          </a:ln>
        </p:spPr>
      </p:sp>
      <p:sp>
        <p:nvSpPr>
          <p:cNvPr id="18" name="Text 16"/>
          <p:cNvSpPr/>
          <p:nvPr/>
        </p:nvSpPr>
        <p:spPr>
          <a:xfrm>
            <a:off x="548640" y="4928616"/>
            <a:ext cx="274320" cy="274320"/>
          </a:xfrm>
          <a:prstGeom prst="rect">
            <a:avLst/>
          </a:prstGeom>
          <a:noFill/>
          <a:ln/>
        </p:spPr>
        <p:txBody>
          <a:bodyPr wrap="square"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4</a:t>
            </a:r>
            <a:endParaRPr lang="en-US" sz="1200" dirty="0"/>
          </a:p>
        </p:txBody>
      </p:sp>
      <p:sp>
        <p:nvSpPr>
          <p:cNvPr id="19" name="Text 17"/>
          <p:cNvSpPr/>
          <p:nvPr/>
        </p:nvSpPr>
        <p:spPr>
          <a:xfrm>
            <a:off x="987552" y="4855464"/>
            <a:ext cx="4754880" cy="548640"/>
          </a:xfrm>
          <a:prstGeom prst="rect">
            <a:avLst/>
          </a:prstGeom>
          <a:noFill/>
          <a:ln/>
        </p:spPr>
        <p:txBody>
          <a:bodyPr wrap="square" rtlCol="0" anchor="t"/>
          <a:lstStyle/>
          <a:p>
            <a:pPr indent="0" marL="0">
              <a:lnSpc>
                <a:spcPct val="114000"/>
              </a:lnSpc>
              <a:buNone/>
            </a:pPr>
            <a:r>
              <a:rPr lang="en-US" sz="1170" dirty="0">
                <a:solidFill>
                  <a:srgbClr val="1B1F2E"/>
                </a:solidFill>
                <a:latin typeface="Calibri" pitchFamily="34" charset="0"/>
                <a:ea typeface="Calibri" pitchFamily="34" charset="-122"/>
                <a:cs typeface="Calibri" pitchFamily="34" charset="-120"/>
              </a:rPr>
              <a:t>Support faster, evidence-based decisions with a complete seven-page suite spanning executive, operational, and unit-economics views.</a:t>
            </a:r>
            <a:endParaRPr lang="en-US" sz="1170" dirty="0"/>
          </a:p>
        </p:txBody>
      </p:sp>
      <p:sp>
        <p:nvSpPr>
          <p:cNvPr id="20" name="Text 18"/>
          <p:cNvSpPr/>
          <p:nvPr/>
        </p:nvSpPr>
        <p:spPr>
          <a:xfrm>
            <a:off x="987552" y="5422392"/>
            <a:ext cx="4754880" cy="329184"/>
          </a:xfrm>
          <a:prstGeom prst="rect">
            <a:avLst/>
          </a:prstGeom>
          <a:noFill/>
          <a:ln/>
        </p:spPr>
        <p:txBody>
          <a:bodyPr wrap="square" rtlCol="0" anchor="t"/>
          <a:lstStyle/>
          <a:p>
            <a:pPr indent="0" marL="0">
              <a:lnSpc>
                <a:spcPct val="110000"/>
              </a:lnSpc>
              <a:buNone/>
            </a:pPr>
            <a:r>
              <a:rPr lang="en-US" sz="960" i="1" dirty="0">
                <a:solidFill>
                  <a:srgbClr val="5B6B8C"/>
                </a:solidFill>
                <a:latin typeface="Calibri" pitchFamily="34" charset="0"/>
                <a:ea typeface="Calibri" pitchFamily="34" charset="-122"/>
                <a:cs typeface="Calibri" pitchFamily="34" charset="-120"/>
              </a:rPr>
              <a:t>Cross-filtering turns static charts into a connected exploration tool for non-technical stakeholders.</a:t>
            </a:r>
            <a:endParaRPr lang="en-US" sz="960" dirty="0"/>
          </a:p>
        </p:txBody>
      </p:sp>
      <p:sp>
        <p:nvSpPr>
          <p:cNvPr id="21" name="Shape 19"/>
          <p:cNvSpPr/>
          <p:nvPr/>
        </p:nvSpPr>
        <p:spPr>
          <a:xfrm>
            <a:off x="5623560" y="1371600"/>
            <a:ext cx="5989320" cy="4892040"/>
          </a:xfrm>
          <a:prstGeom prst="roundRect">
            <a:avLst>
              <a:gd name="adj" fmla="val 1495"/>
            </a:avLst>
          </a:prstGeom>
          <a:solidFill>
            <a:srgbClr val="F4F6FB"/>
          </a:solidFill>
          <a:ln/>
          <a:effectLst>
            <a:outerShdw sx="100000" sy="100000" kx="0" ky="0" algn="bl" rotWithShape="0" blurRad="76200" dist="25400" dir="5400000">
              <a:srgbClr val="8C97B8">
                <a:alpha val="25000"/>
              </a:srgbClr>
            </a:outerShdw>
          </a:effectLst>
        </p:spPr>
      </p:sp>
      <p:sp>
        <p:nvSpPr>
          <p:cNvPr id="22" name="Text 20"/>
          <p:cNvSpPr/>
          <p:nvPr/>
        </p:nvSpPr>
        <p:spPr>
          <a:xfrm>
            <a:off x="5989320" y="1508760"/>
            <a:ext cx="5486400" cy="457200"/>
          </a:xfrm>
          <a:prstGeom prst="rect">
            <a:avLst/>
          </a:prstGeom>
          <a:noFill/>
          <a:ln/>
        </p:spPr>
        <p:txBody>
          <a:bodyPr wrap="square" rtlCol="0" anchor="ctr"/>
          <a:lstStyle/>
          <a:p>
            <a:pPr indent="0" marL="0">
              <a:buNone/>
            </a:pPr>
            <a:r>
              <a:rPr lang="en-US" sz="1300" b="1" spc="200" kern="0" dirty="0">
                <a:solidFill>
                  <a:srgbClr val="1E2761"/>
                </a:solidFill>
                <a:latin typeface="Calibri" pitchFamily="34" charset="0"/>
                <a:ea typeface="Calibri" pitchFamily="34" charset="-122"/>
                <a:cs typeface="Calibri" pitchFamily="34" charset="-120"/>
              </a:rPr>
              <a:t>PROJECT MODULES  (7-PAGE DASHBOARD SUITE)</a:t>
            </a:r>
            <a:endParaRPr lang="en-US" sz="1300" dirty="0"/>
          </a:p>
        </p:txBody>
      </p:sp>
      <p:sp>
        <p:nvSpPr>
          <p:cNvPr id="23" name="Text 21"/>
          <p:cNvSpPr/>
          <p:nvPr/>
        </p:nvSpPr>
        <p:spPr>
          <a:xfrm>
            <a:off x="5989320" y="2011680"/>
            <a:ext cx="5349240" cy="219456"/>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1. Executive Dashboard</a:t>
            </a:r>
            <a:endParaRPr lang="en-US" sz="1200" dirty="0"/>
          </a:p>
        </p:txBody>
      </p:sp>
      <p:sp>
        <p:nvSpPr>
          <p:cNvPr id="24" name="Text 22"/>
          <p:cNvSpPr/>
          <p:nvPr/>
        </p:nvSpPr>
        <p:spPr>
          <a:xfrm>
            <a:off x="5989320" y="2221992"/>
            <a:ext cx="5349240" cy="329184"/>
          </a:xfrm>
          <a:prstGeom prst="rect">
            <a:avLst/>
          </a:prstGeom>
          <a:noFill/>
          <a:ln/>
        </p:spPr>
        <p:txBody>
          <a:bodyPr wrap="square" rtlCol="0" anchor="ctr"/>
          <a:lstStyle/>
          <a:p>
            <a:pPr indent="0" marL="0">
              <a:lnSpc>
                <a:spcPct val="105000"/>
              </a:lnSpc>
              <a:buNone/>
            </a:pPr>
            <a:r>
              <a:rPr lang="en-US" sz="920" dirty="0">
                <a:solidFill>
                  <a:srgbClr val="5B6B8C"/>
                </a:solidFill>
                <a:latin typeface="Calibri" pitchFamily="34" charset="0"/>
                <a:ea typeface="Calibri" pitchFamily="34" charset="-122"/>
                <a:cs typeface="Calibri" pitchFamily="34" charset="-120"/>
              </a:rPr>
              <a:t>Total Sales (2.30M), Total Profit (286.41K), Total Orders, and Profit Margin (12.47%). Card visuals surface headline KPIs instantly; margin is a normalized efficiency metric.</a:t>
            </a:r>
            <a:endParaRPr lang="en-US" sz="920" dirty="0"/>
          </a:p>
        </p:txBody>
      </p:sp>
      <p:sp>
        <p:nvSpPr>
          <p:cNvPr id="25" name="Text 23"/>
          <p:cNvSpPr/>
          <p:nvPr/>
        </p:nvSpPr>
        <p:spPr>
          <a:xfrm>
            <a:off x="5989320" y="2574036"/>
            <a:ext cx="5349240" cy="219456"/>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2. Supply Chain Insights</a:t>
            </a:r>
            <a:endParaRPr lang="en-US" sz="1200" dirty="0"/>
          </a:p>
        </p:txBody>
      </p:sp>
      <p:sp>
        <p:nvSpPr>
          <p:cNvPr id="26" name="Text 24"/>
          <p:cNvSpPr/>
          <p:nvPr/>
        </p:nvSpPr>
        <p:spPr>
          <a:xfrm>
            <a:off x="5989320" y="2784348"/>
            <a:ext cx="5349240" cy="329184"/>
          </a:xfrm>
          <a:prstGeom prst="rect">
            <a:avLst/>
          </a:prstGeom>
          <a:noFill/>
          <a:ln/>
        </p:spPr>
        <p:txBody>
          <a:bodyPr wrap="square" rtlCol="0" anchor="ctr"/>
          <a:lstStyle/>
          <a:p>
            <a:pPr indent="0" marL="0">
              <a:lnSpc>
                <a:spcPct val="105000"/>
              </a:lnSpc>
              <a:buNone/>
            </a:pPr>
            <a:r>
              <a:rPr lang="en-US" sz="920" dirty="0">
                <a:solidFill>
                  <a:srgbClr val="5B6B8C"/>
                </a:solidFill>
                <a:latin typeface="Calibri" pitchFamily="34" charset="0"/>
                <a:ea typeface="Calibri" pitchFamily="34" charset="-122"/>
                <a:cs typeface="Calibri" pitchFamily="34" charset="-120"/>
              </a:rPr>
              <a:t>Return Rate (5.91%) and Ship-Mode donut. Exposes the classic logistics cost-vs-service trade-off across carriers.</a:t>
            </a:r>
            <a:endParaRPr lang="en-US" sz="920" dirty="0"/>
          </a:p>
        </p:txBody>
      </p:sp>
      <p:sp>
        <p:nvSpPr>
          <p:cNvPr id="27" name="Text 25"/>
          <p:cNvSpPr/>
          <p:nvPr/>
        </p:nvSpPr>
        <p:spPr>
          <a:xfrm>
            <a:off x="5989320" y="3136392"/>
            <a:ext cx="5349240" cy="219456"/>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3. Product &amp; Pricing Analysis</a:t>
            </a:r>
            <a:endParaRPr lang="en-US" sz="1200" dirty="0"/>
          </a:p>
        </p:txBody>
      </p:sp>
      <p:sp>
        <p:nvSpPr>
          <p:cNvPr id="28" name="Text 26"/>
          <p:cNvSpPr/>
          <p:nvPr/>
        </p:nvSpPr>
        <p:spPr>
          <a:xfrm>
            <a:off x="5989320" y="3346704"/>
            <a:ext cx="5349240" cy="329184"/>
          </a:xfrm>
          <a:prstGeom prst="rect">
            <a:avLst/>
          </a:prstGeom>
          <a:noFill/>
          <a:ln/>
        </p:spPr>
        <p:txBody>
          <a:bodyPr wrap="square" rtlCol="0" anchor="ctr"/>
          <a:lstStyle/>
          <a:p>
            <a:pPr indent="0" marL="0">
              <a:lnSpc>
                <a:spcPct val="105000"/>
              </a:lnSpc>
              <a:buNone/>
            </a:pPr>
            <a:r>
              <a:rPr lang="en-US" sz="920" dirty="0">
                <a:solidFill>
                  <a:srgbClr val="5B6B8C"/>
                </a:solidFill>
                <a:latin typeface="Calibri" pitchFamily="34" charset="0"/>
                <a:ea typeface="Calibri" pitchFamily="34" charset="-122"/>
                <a:cs typeface="Calibri" pitchFamily="34" charset="-120"/>
              </a:rPr>
              <a:t>Ranked waterfall of Profit by Sub-Category flags Tables/Furniture as loss-makers, guiding pricing correction.</a:t>
            </a:r>
            <a:endParaRPr lang="en-US" sz="920" dirty="0"/>
          </a:p>
        </p:txBody>
      </p:sp>
      <p:sp>
        <p:nvSpPr>
          <p:cNvPr id="29" name="Text 27"/>
          <p:cNvSpPr/>
          <p:nvPr/>
        </p:nvSpPr>
        <p:spPr>
          <a:xfrm>
            <a:off x="5989320" y="3698748"/>
            <a:ext cx="5349240" cy="219456"/>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4. Customer &amp; Regional Insights</a:t>
            </a:r>
            <a:endParaRPr lang="en-US" sz="1200" dirty="0"/>
          </a:p>
        </p:txBody>
      </p:sp>
      <p:sp>
        <p:nvSpPr>
          <p:cNvPr id="30" name="Text 28"/>
          <p:cNvSpPr/>
          <p:nvPr/>
        </p:nvSpPr>
        <p:spPr>
          <a:xfrm>
            <a:off x="5989320" y="3909060"/>
            <a:ext cx="5349240" cy="329184"/>
          </a:xfrm>
          <a:prstGeom prst="rect">
            <a:avLst/>
          </a:prstGeom>
          <a:noFill/>
          <a:ln/>
        </p:spPr>
        <p:txBody>
          <a:bodyPr wrap="square" rtlCol="0" anchor="ctr"/>
          <a:lstStyle/>
          <a:p>
            <a:pPr indent="0" marL="0">
              <a:lnSpc>
                <a:spcPct val="105000"/>
              </a:lnSpc>
              <a:buNone/>
            </a:pPr>
            <a:r>
              <a:rPr lang="en-US" sz="920" dirty="0">
                <a:solidFill>
                  <a:srgbClr val="5B6B8C"/>
                </a:solidFill>
                <a:latin typeface="Calibri" pitchFamily="34" charset="0"/>
                <a:ea typeface="Calibri" pitchFamily="34" charset="-122"/>
                <a:cs typeface="Calibri" pitchFamily="34" charset="-120"/>
              </a:rPr>
              <a:t>Segment mix, Average Order Value, and Sales by State apply Pareto geography to purchasing power analysis.</a:t>
            </a:r>
            <a:endParaRPr lang="en-US" sz="920" dirty="0"/>
          </a:p>
        </p:txBody>
      </p:sp>
      <p:sp>
        <p:nvSpPr>
          <p:cNvPr id="31" name="Text 29"/>
          <p:cNvSpPr/>
          <p:nvPr/>
        </p:nvSpPr>
        <p:spPr>
          <a:xfrm>
            <a:off x="5989320" y="4261104"/>
            <a:ext cx="5349240" cy="219456"/>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5. Business Performance Monitoring</a:t>
            </a:r>
            <a:endParaRPr lang="en-US" sz="1200" dirty="0"/>
          </a:p>
        </p:txBody>
      </p:sp>
      <p:sp>
        <p:nvSpPr>
          <p:cNvPr id="32" name="Text 30"/>
          <p:cNvSpPr/>
          <p:nvPr/>
        </p:nvSpPr>
        <p:spPr>
          <a:xfrm>
            <a:off x="5989320" y="4471416"/>
            <a:ext cx="5349240" cy="329184"/>
          </a:xfrm>
          <a:prstGeom prst="rect">
            <a:avLst/>
          </a:prstGeom>
          <a:noFill/>
          <a:ln/>
        </p:spPr>
        <p:txBody>
          <a:bodyPr wrap="square" rtlCol="0" anchor="ctr"/>
          <a:lstStyle/>
          <a:p>
            <a:pPr indent="0" marL="0">
              <a:lnSpc>
                <a:spcPct val="105000"/>
              </a:lnSpc>
              <a:buNone/>
            </a:pPr>
            <a:r>
              <a:rPr lang="en-US" sz="920" dirty="0">
                <a:solidFill>
                  <a:srgbClr val="5B6B8C"/>
                </a:solidFill>
                <a:latin typeface="Calibri" pitchFamily="34" charset="0"/>
                <a:ea typeface="Calibri" pitchFamily="34" charset="-122"/>
                <a:cs typeface="Calibri" pitchFamily="34" charset="-120"/>
              </a:rPr>
              <a:t>Loss-by-Product ranking and Sum of Profit by Returned quantify exactly where margin is being destroyed.</a:t>
            </a:r>
            <a:endParaRPr lang="en-US" sz="920" dirty="0"/>
          </a:p>
        </p:txBody>
      </p:sp>
      <p:sp>
        <p:nvSpPr>
          <p:cNvPr id="33" name="Text 31"/>
          <p:cNvSpPr/>
          <p:nvPr/>
        </p:nvSpPr>
        <p:spPr>
          <a:xfrm>
            <a:off x="5989320" y="4823460"/>
            <a:ext cx="5349240" cy="219456"/>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6. Order &amp; Unit Economics</a:t>
            </a:r>
            <a:endParaRPr lang="en-US" sz="1200" dirty="0"/>
          </a:p>
        </p:txBody>
      </p:sp>
      <p:sp>
        <p:nvSpPr>
          <p:cNvPr id="34" name="Text 32"/>
          <p:cNvSpPr/>
          <p:nvPr/>
        </p:nvSpPr>
        <p:spPr>
          <a:xfrm>
            <a:off x="5989320" y="5033772"/>
            <a:ext cx="5349240" cy="329184"/>
          </a:xfrm>
          <a:prstGeom prst="rect">
            <a:avLst/>
          </a:prstGeom>
          <a:noFill/>
          <a:ln/>
        </p:spPr>
        <p:txBody>
          <a:bodyPr wrap="square" rtlCol="0" anchor="ctr"/>
          <a:lstStyle/>
          <a:p>
            <a:pPr indent="0" marL="0">
              <a:lnSpc>
                <a:spcPct val="105000"/>
              </a:lnSpc>
              <a:buNone/>
            </a:pPr>
            <a:r>
              <a:rPr lang="en-US" sz="920" dirty="0">
                <a:solidFill>
                  <a:srgbClr val="5B6B8C"/>
                </a:solidFill>
                <a:latin typeface="Calibri" pitchFamily="34" charset="0"/>
                <a:ea typeface="Calibri" pitchFamily="34" charset="-122"/>
                <a:cs typeface="Calibri" pitchFamily="34" charset="-120"/>
              </a:rPr>
              <a:t>Profit and Sales per Unit normalize revenue by item sold — revealing per-unit strength hidden inside category totals.</a:t>
            </a:r>
            <a:endParaRPr lang="en-US" sz="920" dirty="0"/>
          </a:p>
        </p:txBody>
      </p:sp>
      <p:sp>
        <p:nvSpPr>
          <p:cNvPr id="35" name="Text 33"/>
          <p:cNvSpPr/>
          <p:nvPr/>
        </p:nvSpPr>
        <p:spPr>
          <a:xfrm>
            <a:off x="5989320" y="5385816"/>
            <a:ext cx="5349240" cy="219456"/>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7. Discount &amp; Profitability Diagnostics</a:t>
            </a:r>
            <a:endParaRPr lang="en-US" sz="1200" dirty="0"/>
          </a:p>
        </p:txBody>
      </p:sp>
      <p:sp>
        <p:nvSpPr>
          <p:cNvPr id="36" name="Text 34"/>
          <p:cNvSpPr/>
          <p:nvPr/>
        </p:nvSpPr>
        <p:spPr>
          <a:xfrm>
            <a:off x="5989320" y="5596128"/>
            <a:ext cx="5349240" cy="329184"/>
          </a:xfrm>
          <a:prstGeom prst="rect">
            <a:avLst/>
          </a:prstGeom>
          <a:noFill/>
          <a:ln/>
        </p:spPr>
        <p:txBody>
          <a:bodyPr wrap="square" rtlCol="0" anchor="ctr"/>
          <a:lstStyle/>
          <a:p>
            <a:pPr indent="0" marL="0">
              <a:lnSpc>
                <a:spcPct val="105000"/>
              </a:lnSpc>
              <a:buNone/>
            </a:pPr>
            <a:r>
              <a:rPr lang="en-US" sz="920" dirty="0">
                <a:solidFill>
                  <a:srgbClr val="5B6B8C"/>
                </a:solidFill>
                <a:latin typeface="Calibri" pitchFamily="34" charset="0"/>
                <a:ea typeface="Calibri" pitchFamily="34" charset="-122"/>
                <a:cs typeface="Calibri" pitchFamily="34" charset="-120"/>
              </a:rPr>
              <a:t>Scatter of Discount vs. Profit plus Profitable/Loss-Making flags convert the suite into an order-level health check.</a:t>
            </a:r>
            <a:endParaRPr lang="en-US" sz="920" dirty="0"/>
          </a:p>
        </p:txBody>
      </p:sp>
      <p:sp>
        <p:nvSpPr>
          <p:cNvPr id="37" name="Text 35"/>
          <p:cNvSpPr/>
          <p:nvPr/>
        </p:nvSpPr>
        <p:spPr>
          <a:xfrm>
            <a:off x="457200" y="6473952"/>
            <a:ext cx="7315200" cy="274320"/>
          </a:xfrm>
          <a:prstGeom prst="rect">
            <a:avLst/>
          </a:prstGeom>
          <a:noFill/>
          <a:ln/>
        </p:spPr>
        <p:txBody>
          <a:bodyPr wrap="square" rtlCol="0" anchor="ctr"/>
          <a:lstStyle/>
          <a:p>
            <a:pPr indent="0" marL="0">
              <a:buNone/>
            </a:pPr>
            <a:r>
              <a:rPr lang="en-US" sz="900" i="1" dirty="0">
                <a:solidFill>
                  <a:srgbClr val="5B6B8C"/>
                </a:solidFill>
                <a:latin typeface="Calibri" pitchFamily="34" charset="0"/>
                <a:ea typeface="Calibri" pitchFamily="34" charset="-122"/>
                <a:cs typeface="Calibri" pitchFamily="34" charset="-120"/>
              </a:rPr>
              <a:t>Supply Chain Visibility &amp; Optimization  •  Pendyala Venkata Bharath</a:t>
            </a:r>
            <a:endParaRPr lang="en-US" sz="900" dirty="0"/>
          </a:p>
        </p:txBody>
      </p:sp>
      <p:sp>
        <p:nvSpPr>
          <p:cNvPr id="38" name="Text 36"/>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E2761"/>
          </a:solidFill>
          <a:ln/>
        </p:spPr>
      </p:sp>
      <p:sp>
        <p:nvSpPr>
          <p:cNvPr id="3" name="Text 1"/>
          <p:cNvSpPr/>
          <p:nvPr/>
        </p:nvSpPr>
        <p:spPr>
          <a:xfrm>
            <a:off x="548640" y="201168"/>
            <a:ext cx="1005840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Project Execution Milestones</a:t>
            </a:r>
            <a:endParaRPr lang="en-US" sz="3000" dirty="0"/>
          </a:p>
        </p:txBody>
      </p:sp>
      <p:sp>
        <p:nvSpPr>
          <p:cNvPr id="4" name="Shape 2"/>
          <p:cNvSpPr/>
          <p:nvPr/>
        </p:nvSpPr>
        <p:spPr>
          <a:xfrm>
            <a:off x="548640" y="1325880"/>
            <a:ext cx="5349240" cy="2423160"/>
          </a:xfrm>
          <a:prstGeom prst="roundRect">
            <a:avLst>
              <a:gd name="adj" fmla="val 3019"/>
            </a:avLst>
          </a:prstGeom>
          <a:solidFill>
            <a:srgbClr val="F4F6FB"/>
          </a:solidFill>
          <a:ln/>
          <a:effectLst>
            <a:outerShdw sx="100000" sy="100000" kx="0" ky="0" algn="bl" rotWithShape="0" blurRad="76200" dist="25400" dir="5400000">
              <a:srgbClr val="8C97B8">
                <a:alpha val="22000"/>
              </a:srgbClr>
            </a:outerShdw>
          </a:effectLst>
        </p:spPr>
      </p:sp>
      <p:sp>
        <p:nvSpPr>
          <p:cNvPr id="5" name="Text 3"/>
          <p:cNvSpPr/>
          <p:nvPr/>
        </p:nvSpPr>
        <p:spPr>
          <a:xfrm>
            <a:off x="777240" y="1490472"/>
            <a:ext cx="1005840" cy="685800"/>
          </a:xfrm>
          <a:prstGeom prst="rect">
            <a:avLst/>
          </a:prstGeom>
          <a:noFill/>
          <a:ln/>
        </p:spPr>
        <p:txBody>
          <a:bodyPr wrap="square" rtlCol="0" anchor="ctr"/>
          <a:lstStyle/>
          <a:p>
            <a:pPr indent="0" marL="0">
              <a:buNone/>
            </a:pPr>
            <a:r>
              <a:rPr lang="en-US" sz="3400" b="1" dirty="0">
                <a:solidFill>
                  <a:srgbClr val="CADCFC"/>
                </a:solidFill>
                <a:latin typeface="Cambria" pitchFamily="34" charset="0"/>
                <a:ea typeface="Cambria" pitchFamily="34" charset="-122"/>
                <a:cs typeface="Cambria" pitchFamily="34" charset="-120"/>
              </a:rPr>
              <a:t>01</a:t>
            </a:r>
            <a:endParaRPr lang="en-US" sz="3400" dirty="0"/>
          </a:p>
        </p:txBody>
      </p:sp>
      <p:sp>
        <p:nvSpPr>
          <p:cNvPr id="6" name="Text 4"/>
          <p:cNvSpPr/>
          <p:nvPr/>
        </p:nvSpPr>
        <p:spPr>
          <a:xfrm>
            <a:off x="1737360" y="1527048"/>
            <a:ext cx="3931920" cy="566928"/>
          </a:xfrm>
          <a:prstGeom prst="rect">
            <a:avLst/>
          </a:prstGeom>
          <a:noFill/>
          <a:ln/>
        </p:spPr>
        <p:txBody>
          <a:bodyPr wrap="square" rtlCol="0" anchor="t"/>
          <a:lstStyle/>
          <a:p>
            <a:pPr indent="0" marL="0">
              <a:lnSpc>
                <a:spcPct val="105000"/>
              </a:lnSpc>
              <a:buNone/>
            </a:pPr>
            <a:r>
              <a:rPr lang="en-US" sz="1450" b="1" dirty="0">
                <a:solidFill>
                  <a:srgbClr val="1E2761"/>
                </a:solidFill>
                <a:latin typeface="Calibri" pitchFamily="34" charset="0"/>
                <a:ea typeface="Calibri" pitchFamily="34" charset="-122"/>
                <a:cs typeface="Calibri" pitchFamily="34" charset="-120"/>
              </a:rPr>
              <a:t>Milestone 1 – Data Acquisition &amp; Cleaning</a:t>
            </a:r>
            <a:endParaRPr lang="en-US" sz="1450" dirty="0"/>
          </a:p>
        </p:txBody>
      </p:sp>
      <p:sp>
        <p:nvSpPr>
          <p:cNvPr id="7" name="Text 5"/>
          <p:cNvSpPr/>
          <p:nvPr/>
        </p:nvSpPr>
        <p:spPr>
          <a:xfrm>
            <a:off x="804672" y="2194560"/>
            <a:ext cx="4837176" cy="1417320"/>
          </a:xfrm>
          <a:prstGeom prst="rect">
            <a:avLst/>
          </a:prstGeom>
          <a:noFill/>
          <a:ln/>
        </p:spPr>
        <p:txBody>
          <a:bodyPr wrap="square" rtlCol="0" anchor="t"/>
          <a:lstStyle/>
          <a:p>
            <a:pPr indent="0" marL="0">
              <a:lnSpc>
                <a:spcPct val="112000"/>
              </a:lnSpc>
              <a:buNone/>
            </a:pPr>
            <a:r>
              <a:rPr lang="en-US" sz="960" dirty="0">
                <a:solidFill>
                  <a:srgbClr val="1B1F2E"/>
                </a:solidFill>
                <a:latin typeface="Calibri" pitchFamily="34" charset="0"/>
                <a:ea typeface="Calibri" pitchFamily="34" charset="-122"/>
                <a:cs typeface="Calibri" pitchFamily="34" charset="-120"/>
              </a:rPr>
              <a:t>Sourced the Retail Supply Chain Sales Dataset from Kaggle and studied it field by field across five field groups (order, customer, product, performance, logistics). Removed duplicate order and shipment records, handled missing shipping/delivery dates, standardized data types and casing, and renamed fields for clarity. Theory: correctly parsed order/ship dates and de-duplication are prerequisites for every downstream KPI — a return-rate figure built on duplicated rows would be wrong from the very first milestone.</a:t>
            </a:r>
            <a:endParaRPr lang="en-US" sz="960" dirty="0"/>
          </a:p>
        </p:txBody>
      </p:sp>
      <p:sp>
        <p:nvSpPr>
          <p:cNvPr id="8" name="Shape 6"/>
          <p:cNvSpPr/>
          <p:nvPr/>
        </p:nvSpPr>
        <p:spPr>
          <a:xfrm>
            <a:off x="6217920" y="1325880"/>
            <a:ext cx="5349240" cy="2423160"/>
          </a:xfrm>
          <a:prstGeom prst="roundRect">
            <a:avLst>
              <a:gd name="adj" fmla="val 3019"/>
            </a:avLst>
          </a:prstGeom>
          <a:solidFill>
            <a:srgbClr val="F4F6FB"/>
          </a:solidFill>
          <a:ln/>
          <a:effectLst>
            <a:outerShdw sx="100000" sy="100000" kx="0" ky="0" algn="bl" rotWithShape="0" blurRad="76200" dist="25400" dir="5400000">
              <a:srgbClr val="8C97B8">
                <a:alpha val="22000"/>
              </a:srgbClr>
            </a:outerShdw>
          </a:effectLst>
        </p:spPr>
      </p:sp>
      <p:sp>
        <p:nvSpPr>
          <p:cNvPr id="9" name="Text 7"/>
          <p:cNvSpPr/>
          <p:nvPr/>
        </p:nvSpPr>
        <p:spPr>
          <a:xfrm>
            <a:off x="6446520" y="1490472"/>
            <a:ext cx="1005840" cy="685800"/>
          </a:xfrm>
          <a:prstGeom prst="rect">
            <a:avLst/>
          </a:prstGeom>
          <a:noFill/>
          <a:ln/>
        </p:spPr>
        <p:txBody>
          <a:bodyPr wrap="square" rtlCol="0" anchor="ctr"/>
          <a:lstStyle/>
          <a:p>
            <a:pPr indent="0" marL="0">
              <a:buNone/>
            </a:pPr>
            <a:r>
              <a:rPr lang="en-US" sz="3400" b="1" dirty="0">
                <a:solidFill>
                  <a:srgbClr val="CADCFC"/>
                </a:solidFill>
                <a:latin typeface="Cambria" pitchFamily="34" charset="0"/>
                <a:ea typeface="Cambria" pitchFamily="34" charset="-122"/>
                <a:cs typeface="Cambria" pitchFamily="34" charset="-120"/>
              </a:rPr>
              <a:t>02</a:t>
            </a:r>
            <a:endParaRPr lang="en-US" sz="3400" dirty="0"/>
          </a:p>
        </p:txBody>
      </p:sp>
      <p:sp>
        <p:nvSpPr>
          <p:cNvPr id="10" name="Text 8"/>
          <p:cNvSpPr/>
          <p:nvPr/>
        </p:nvSpPr>
        <p:spPr>
          <a:xfrm>
            <a:off x="7406640" y="1527048"/>
            <a:ext cx="3931920" cy="566928"/>
          </a:xfrm>
          <a:prstGeom prst="rect">
            <a:avLst/>
          </a:prstGeom>
          <a:noFill/>
          <a:ln/>
        </p:spPr>
        <p:txBody>
          <a:bodyPr wrap="square" rtlCol="0" anchor="t"/>
          <a:lstStyle/>
          <a:p>
            <a:pPr indent="0" marL="0">
              <a:lnSpc>
                <a:spcPct val="105000"/>
              </a:lnSpc>
              <a:buNone/>
            </a:pPr>
            <a:r>
              <a:rPr lang="en-US" sz="1450" b="1" dirty="0">
                <a:solidFill>
                  <a:srgbClr val="1E2761"/>
                </a:solidFill>
                <a:latin typeface="Calibri" pitchFamily="34" charset="0"/>
                <a:ea typeface="Calibri" pitchFamily="34" charset="-122"/>
                <a:cs typeface="Calibri" pitchFamily="34" charset="-120"/>
              </a:rPr>
              <a:t>Milestone 2 – Data Modeling</a:t>
            </a:r>
            <a:endParaRPr lang="en-US" sz="1450" dirty="0"/>
          </a:p>
        </p:txBody>
      </p:sp>
      <p:sp>
        <p:nvSpPr>
          <p:cNvPr id="11" name="Text 9"/>
          <p:cNvSpPr/>
          <p:nvPr/>
        </p:nvSpPr>
        <p:spPr>
          <a:xfrm>
            <a:off x="6473952" y="2194560"/>
            <a:ext cx="4837176" cy="1417320"/>
          </a:xfrm>
          <a:prstGeom prst="rect">
            <a:avLst/>
          </a:prstGeom>
          <a:noFill/>
          <a:ln/>
        </p:spPr>
        <p:txBody>
          <a:bodyPr wrap="square" rtlCol="0" anchor="t"/>
          <a:lstStyle/>
          <a:p>
            <a:pPr indent="0" marL="0">
              <a:lnSpc>
                <a:spcPct val="112000"/>
              </a:lnSpc>
              <a:buNone/>
            </a:pPr>
            <a:r>
              <a:rPr lang="en-US" sz="960" dirty="0">
                <a:solidFill>
                  <a:srgbClr val="1B1F2E"/>
                </a:solidFill>
                <a:latin typeface="Calibri" pitchFamily="34" charset="0"/>
                <a:ea typeface="Calibri" pitchFamily="34" charset="-122"/>
                <a:cs typeface="Calibri" pitchFamily="34" charset="-120"/>
              </a:rPr>
              <a:t>Built a star-style model with the order dataset as the central fact table and a supporting Calendar Table for time-intelligence. Defined a reusable nine-measure DAX library (Total Sales, Total Profit, Profit Margin, Return Rate, and more) and delivered the first two-page dashboard: 2.30M in sales, 5,009 orders, 12.47% margin. Theory: keeping dates in their own table decouples time-intelligence from the fact table, so YoY/MoM measures can be added later without restructuring anything.</a:t>
            </a:r>
            <a:endParaRPr lang="en-US" sz="960" dirty="0"/>
          </a:p>
        </p:txBody>
      </p:sp>
      <p:sp>
        <p:nvSpPr>
          <p:cNvPr id="12" name="Shape 10"/>
          <p:cNvSpPr/>
          <p:nvPr/>
        </p:nvSpPr>
        <p:spPr>
          <a:xfrm>
            <a:off x="548640" y="3931920"/>
            <a:ext cx="5349240" cy="2423160"/>
          </a:xfrm>
          <a:prstGeom prst="roundRect">
            <a:avLst>
              <a:gd name="adj" fmla="val 3019"/>
            </a:avLst>
          </a:prstGeom>
          <a:solidFill>
            <a:srgbClr val="F4F6FB"/>
          </a:solidFill>
          <a:ln/>
          <a:effectLst>
            <a:outerShdw sx="100000" sy="100000" kx="0" ky="0" algn="bl" rotWithShape="0" blurRad="76200" dist="25400" dir="5400000">
              <a:srgbClr val="8C97B8">
                <a:alpha val="22000"/>
              </a:srgbClr>
            </a:outerShdw>
          </a:effectLst>
        </p:spPr>
      </p:sp>
      <p:sp>
        <p:nvSpPr>
          <p:cNvPr id="13" name="Text 11"/>
          <p:cNvSpPr/>
          <p:nvPr/>
        </p:nvSpPr>
        <p:spPr>
          <a:xfrm>
            <a:off x="777240" y="4096512"/>
            <a:ext cx="1005840" cy="685800"/>
          </a:xfrm>
          <a:prstGeom prst="rect">
            <a:avLst/>
          </a:prstGeom>
          <a:noFill/>
          <a:ln/>
        </p:spPr>
        <p:txBody>
          <a:bodyPr wrap="square" rtlCol="0" anchor="ctr"/>
          <a:lstStyle/>
          <a:p>
            <a:pPr indent="0" marL="0">
              <a:buNone/>
            </a:pPr>
            <a:r>
              <a:rPr lang="en-US" sz="3400" b="1" dirty="0">
                <a:solidFill>
                  <a:srgbClr val="CADCFC"/>
                </a:solidFill>
                <a:latin typeface="Cambria" pitchFamily="34" charset="0"/>
                <a:ea typeface="Cambria" pitchFamily="34" charset="-122"/>
                <a:cs typeface="Cambria" pitchFamily="34" charset="-120"/>
              </a:rPr>
              <a:t>03</a:t>
            </a:r>
            <a:endParaRPr lang="en-US" sz="3400" dirty="0"/>
          </a:p>
        </p:txBody>
      </p:sp>
      <p:sp>
        <p:nvSpPr>
          <p:cNvPr id="14" name="Text 12"/>
          <p:cNvSpPr/>
          <p:nvPr/>
        </p:nvSpPr>
        <p:spPr>
          <a:xfrm>
            <a:off x="1737360" y="4133088"/>
            <a:ext cx="3931920" cy="566928"/>
          </a:xfrm>
          <a:prstGeom prst="rect">
            <a:avLst/>
          </a:prstGeom>
          <a:noFill/>
          <a:ln/>
        </p:spPr>
        <p:txBody>
          <a:bodyPr wrap="square" rtlCol="0" anchor="t"/>
          <a:lstStyle/>
          <a:p>
            <a:pPr indent="0" marL="0">
              <a:lnSpc>
                <a:spcPct val="105000"/>
              </a:lnSpc>
              <a:buNone/>
            </a:pPr>
            <a:r>
              <a:rPr lang="en-US" sz="1450" b="1" dirty="0">
                <a:solidFill>
                  <a:srgbClr val="1E2761"/>
                </a:solidFill>
                <a:latin typeface="Calibri" pitchFamily="34" charset="0"/>
                <a:ea typeface="Calibri" pitchFamily="34" charset="-122"/>
                <a:cs typeface="Calibri" pitchFamily="34" charset="-120"/>
              </a:rPr>
              <a:t>Milestone 3 – Development</a:t>
            </a:r>
            <a:endParaRPr lang="en-US" sz="1450" dirty="0"/>
          </a:p>
        </p:txBody>
      </p:sp>
      <p:sp>
        <p:nvSpPr>
          <p:cNvPr id="15" name="Text 13"/>
          <p:cNvSpPr/>
          <p:nvPr/>
        </p:nvSpPr>
        <p:spPr>
          <a:xfrm>
            <a:off x="804672" y="4800600"/>
            <a:ext cx="4837176" cy="1417320"/>
          </a:xfrm>
          <a:prstGeom prst="rect">
            <a:avLst/>
          </a:prstGeom>
          <a:noFill/>
          <a:ln/>
        </p:spPr>
        <p:txBody>
          <a:bodyPr wrap="square" rtlCol="0" anchor="t"/>
          <a:lstStyle/>
          <a:p>
            <a:pPr indent="0" marL="0">
              <a:lnSpc>
                <a:spcPct val="112000"/>
              </a:lnSpc>
              <a:buNone/>
            </a:pPr>
            <a:r>
              <a:rPr lang="en-US" sz="960" dirty="0">
                <a:solidFill>
                  <a:srgbClr val="1B1F2E"/>
                </a:solidFill>
                <a:latin typeface="Calibri" pitchFamily="34" charset="0"/>
                <a:ea typeface="Calibri" pitchFamily="34" charset="-122"/>
                <a:cs typeface="Calibri" pitchFamily="34" charset="-120"/>
              </a:rPr>
              <a:t>Expanded the report to a five-page analytical suite, adding Product &amp; Pricing Analysis, Customer &amp; Regional Insights, and Business Performance Monitoring — all reusing the existing data model and measure library so formatting, colours, and cross-filtering stayed identical across every page. Theory: centralizing calculations as measures means a fix made once propagates correctly to every visual that depends on it.</a:t>
            </a:r>
            <a:endParaRPr lang="en-US" sz="960" dirty="0"/>
          </a:p>
        </p:txBody>
      </p:sp>
      <p:sp>
        <p:nvSpPr>
          <p:cNvPr id="16" name="Shape 14"/>
          <p:cNvSpPr/>
          <p:nvPr/>
        </p:nvSpPr>
        <p:spPr>
          <a:xfrm>
            <a:off x="6217920" y="3931920"/>
            <a:ext cx="5349240" cy="2423160"/>
          </a:xfrm>
          <a:prstGeom prst="roundRect">
            <a:avLst>
              <a:gd name="adj" fmla="val 3019"/>
            </a:avLst>
          </a:prstGeom>
          <a:solidFill>
            <a:srgbClr val="F4F6FB"/>
          </a:solidFill>
          <a:ln/>
          <a:effectLst>
            <a:outerShdw sx="100000" sy="100000" kx="0" ky="0" algn="bl" rotWithShape="0" blurRad="76200" dist="25400" dir="5400000">
              <a:srgbClr val="8C97B8">
                <a:alpha val="22000"/>
              </a:srgbClr>
            </a:outerShdw>
          </a:effectLst>
        </p:spPr>
      </p:sp>
      <p:sp>
        <p:nvSpPr>
          <p:cNvPr id="17" name="Text 15"/>
          <p:cNvSpPr/>
          <p:nvPr/>
        </p:nvSpPr>
        <p:spPr>
          <a:xfrm>
            <a:off x="6446520" y="4096512"/>
            <a:ext cx="1005840" cy="685800"/>
          </a:xfrm>
          <a:prstGeom prst="rect">
            <a:avLst/>
          </a:prstGeom>
          <a:noFill/>
          <a:ln/>
        </p:spPr>
        <p:txBody>
          <a:bodyPr wrap="square" rtlCol="0" anchor="ctr"/>
          <a:lstStyle/>
          <a:p>
            <a:pPr indent="0" marL="0">
              <a:buNone/>
            </a:pPr>
            <a:r>
              <a:rPr lang="en-US" sz="3400" b="1" dirty="0">
                <a:solidFill>
                  <a:srgbClr val="CADCFC"/>
                </a:solidFill>
                <a:latin typeface="Cambria" pitchFamily="34" charset="0"/>
                <a:ea typeface="Cambria" pitchFamily="34" charset="-122"/>
                <a:cs typeface="Cambria" pitchFamily="34" charset="-120"/>
              </a:rPr>
              <a:t>04</a:t>
            </a:r>
            <a:endParaRPr lang="en-US" sz="3400" dirty="0"/>
          </a:p>
        </p:txBody>
      </p:sp>
      <p:sp>
        <p:nvSpPr>
          <p:cNvPr id="18" name="Text 16"/>
          <p:cNvSpPr/>
          <p:nvPr/>
        </p:nvSpPr>
        <p:spPr>
          <a:xfrm>
            <a:off x="7406640" y="4133088"/>
            <a:ext cx="3931920" cy="566928"/>
          </a:xfrm>
          <a:prstGeom prst="rect">
            <a:avLst/>
          </a:prstGeom>
          <a:noFill/>
          <a:ln/>
        </p:spPr>
        <p:txBody>
          <a:bodyPr wrap="square" rtlCol="0" anchor="t"/>
          <a:lstStyle/>
          <a:p>
            <a:pPr indent="0" marL="0">
              <a:lnSpc>
                <a:spcPct val="105000"/>
              </a:lnSpc>
              <a:buNone/>
            </a:pPr>
            <a:r>
              <a:rPr lang="en-US" sz="1450" b="1" dirty="0">
                <a:solidFill>
                  <a:srgbClr val="1E2761"/>
                </a:solidFill>
                <a:latin typeface="Calibri" pitchFamily="34" charset="0"/>
                <a:ea typeface="Calibri" pitchFamily="34" charset="-122"/>
                <a:cs typeface="Calibri" pitchFamily="34" charset="-120"/>
              </a:rPr>
              <a:t>Milestone 4 – Review &amp; Optimization</a:t>
            </a:r>
            <a:endParaRPr lang="en-US" sz="1450" dirty="0"/>
          </a:p>
        </p:txBody>
      </p:sp>
      <p:sp>
        <p:nvSpPr>
          <p:cNvPr id="19" name="Text 17"/>
          <p:cNvSpPr/>
          <p:nvPr/>
        </p:nvSpPr>
        <p:spPr>
          <a:xfrm>
            <a:off x="6473952" y="4800600"/>
            <a:ext cx="4837176" cy="1417320"/>
          </a:xfrm>
          <a:prstGeom prst="rect">
            <a:avLst/>
          </a:prstGeom>
          <a:noFill/>
          <a:ln/>
        </p:spPr>
        <p:txBody>
          <a:bodyPr wrap="square" rtlCol="0" anchor="t"/>
          <a:lstStyle/>
          <a:p>
            <a:pPr indent="0" marL="0">
              <a:lnSpc>
                <a:spcPct val="112000"/>
              </a:lnSpc>
              <a:buNone/>
            </a:pPr>
            <a:r>
              <a:rPr lang="en-US" sz="960" dirty="0">
                <a:solidFill>
                  <a:srgbClr val="1B1F2E"/>
                </a:solidFill>
                <a:latin typeface="Calibri" pitchFamily="34" charset="0"/>
                <a:ea typeface="Calibri" pitchFamily="34" charset="-122"/>
                <a:cs typeface="Calibri" pitchFamily="34" charset="-120"/>
              </a:rPr>
              <a:t>Added nine new DAX measures and two pages — Order &amp; Unit Economics and Discount &amp; Profitability Diagnostics — introducing Profitable/Loss-Making order flags and Discount/Profitability bands. Validated every slicer and drill-through end-to-end and finalized the complete seven-page suite for stakeholder handover. Theory: order-level flags convert a totals report into a health-check tool that surfaces problems instead of only describing the business.</a:t>
            </a:r>
            <a:endParaRPr lang="en-US" sz="960" dirty="0"/>
          </a:p>
        </p:txBody>
      </p:sp>
      <p:sp>
        <p:nvSpPr>
          <p:cNvPr id="20" name="Text 18"/>
          <p:cNvSpPr/>
          <p:nvPr/>
        </p:nvSpPr>
        <p:spPr>
          <a:xfrm>
            <a:off x="457200" y="6473952"/>
            <a:ext cx="7315200" cy="274320"/>
          </a:xfrm>
          <a:prstGeom prst="rect">
            <a:avLst/>
          </a:prstGeom>
          <a:noFill/>
          <a:ln/>
        </p:spPr>
        <p:txBody>
          <a:bodyPr wrap="square" rtlCol="0" anchor="ctr"/>
          <a:lstStyle/>
          <a:p>
            <a:pPr indent="0" marL="0">
              <a:buNone/>
            </a:pPr>
            <a:r>
              <a:rPr lang="en-US" sz="900" i="1" dirty="0">
                <a:solidFill>
                  <a:srgbClr val="5B6B8C"/>
                </a:solidFill>
                <a:latin typeface="Calibri" pitchFamily="34" charset="0"/>
                <a:ea typeface="Calibri" pitchFamily="34" charset="-122"/>
                <a:cs typeface="Calibri" pitchFamily="34" charset="-120"/>
              </a:rPr>
              <a:t>Supply Chain Visibility &amp; Optimization  •  Pendyala Venkata Bharath</a:t>
            </a:r>
            <a:endParaRPr lang="en-US" sz="900" dirty="0"/>
          </a:p>
        </p:txBody>
      </p:sp>
      <p:sp>
        <p:nvSpPr>
          <p:cNvPr id="21" name="Text 19"/>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E2761"/>
          </a:solidFill>
          <a:ln/>
        </p:spPr>
      </p:sp>
      <p:sp>
        <p:nvSpPr>
          <p:cNvPr id="3" name="Text 1"/>
          <p:cNvSpPr/>
          <p:nvPr/>
        </p:nvSpPr>
        <p:spPr>
          <a:xfrm>
            <a:off x="548640" y="201168"/>
            <a:ext cx="1005840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Challenges &amp; Resolutions</a:t>
            </a:r>
            <a:endParaRPr lang="en-US" sz="3000" dirty="0"/>
          </a:p>
        </p:txBody>
      </p:sp>
      <p:sp>
        <p:nvSpPr>
          <p:cNvPr id="4" name="Shape 2"/>
          <p:cNvSpPr/>
          <p:nvPr/>
        </p:nvSpPr>
        <p:spPr>
          <a:xfrm>
            <a:off x="548640" y="1371600"/>
            <a:ext cx="5440680" cy="4892040"/>
          </a:xfrm>
          <a:prstGeom prst="roundRect">
            <a:avLst>
              <a:gd name="adj" fmla="val 1495"/>
            </a:avLst>
          </a:prstGeom>
          <a:solidFill>
            <a:srgbClr val="FBEEE9"/>
          </a:solidFill>
          <a:ln/>
        </p:spPr>
      </p:sp>
      <p:sp>
        <p:nvSpPr>
          <p:cNvPr id="5" name="Text 3"/>
          <p:cNvSpPr/>
          <p:nvPr/>
        </p:nvSpPr>
        <p:spPr>
          <a:xfrm>
            <a:off x="914400" y="1463040"/>
            <a:ext cx="4754880" cy="457200"/>
          </a:xfrm>
          <a:prstGeom prst="rect">
            <a:avLst/>
          </a:prstGeom>
          <a:noFill/>
          <a:ln/>
        </p:spPr>
        <p:txBody>
          <a:bodyPr wrap="square" rtlCol="0" anchor="ctr"/>
          <a:lstStyle/>
          <a:p>
            <a:pPr indent="0" marL="0">
              <a:buNone/>
            </a:pPr>
            <a:r>
              <a:rPr lang="en-US" sz="1300" b="1" spc="200" kern="0" dirty="0">
                <a:solidFill>
                  <a:srgbClr val="C2542D"/>
                </a:solidFill>
                <a:latin typeface="Calibri" pitchFamily="34" charset="0"/>
                <a:ea typeface="Calibri" pitchFamily="34" charset="-122"/>
                <a:cs typeface="Calibri" pitchFamily="34" charset="-120"/>
              </a:rPr>
              <a:t>CHALLENGES</a:t>
            </a:r>
            <a:endParaRPr lang="en-US" sz="1300" dirty="0"/>
          </a:p>
        </p:txBody>
      </p:sp>
      <p:sp>
        <p:nvSpPr>
          <p:cNvPr id="6" name="Shape 4"/>
          <p:cNvSpPr/>
          <p:nvPr/>
        </p:nvSpPr>
        <p:spPr>
          <a:xfrm>
            <a:off x="914400" y="1901952"/>
            <a:ext cx="274320" cy="274320"/>
          </a:xfrm>
          <a:prstGeom prst="ellipse">
            <a:avLst/>
          </a:prstGeom>
          <a:solidFill>
            <a:srgbClr val="C2542D"/>
          </a:solidFill>
          <a:ln/>
        </p:spPr>
      </p:sp>
      <p:sp>
        <p:nvSpPr>
          <p:cNvPr id="7" name="Text 5"/>
          <p:cNvSpPr/>
          <p:nvPr/>
        </p:nvSpPr>
        <p:spPr>
          <a:xfrm>
            <a:off x="914400" y="1901952"/>
            <a:ext cx="274320" cy="27432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8" name="Text 6"/>
          <p:cNvSpPr/>
          <p:nvPr/>
        </p:nvSpPr>
        <p:spPr>
          <a:xfrm>
            <a:off x="1353312" y="1819656"/>
            <a:ext cx="4480560" cy="777240"/>
          </a:xfrm>
          <a:prstGeom prst="rect">
            <a:avLst/>
          </a:prstGeom>
          <a:noFill/>
          <a:ln/>
        </p:spPr>
        <p:txBody>
          <a:bodyPr wrap="square" rtlCol="0" anchor="t"/>
          <a:lstStyle/>
          <a:p>
            <a:pPr indent="0" marL="0">
              <a:lnSpc>
                <a:spcPct val="112000"/>
              </a:lnSpc>
              <a:buNone/>
            </a:pPr>
            <a:r>
              <a:rPr lang="en-US" sz="1050" dirty="0">
                <a:solidFill>
                  <a:srgbClr val="1B1F2E"/>
                </a:solidFill>
                <a:latin typeface="Calibri" pitchFamily="34" charset="0"/>
                <a:ea typeface="Calibri" pitchFamily="34" charset="-122"/>
                <a:cs typeface="Calibri" pitchFamily="34" charset="-120"/>
              </a:rPr>
              <a:t>The raw Discount column is continuous, so the team had to agree on a clear cut-off before orders could be grouped into No-Discount / High-Discount bands.</a:t>
            </a:r>
            <a:endParaRPr lang="en-US" sz="1050" dirty="0"/>
          </a:p>
        </p:txBody>
      </p:sp>
      <p:sp>
        <p:nvSpPr>
          <p:cNvPr id="9" name="Shape 7"/>
          <p:cNvSpPr/>
          <p:nvPr/>
        </p:nvSpPr>
        <p:spPr>
          <a:xfrm>
            <a:off x="914400" y="2743200"/>
            <a:ext cx="274320" cy="274320"/>
          </a:xfrm>
          <a:prstGeom prst="ellipse">
            <a:avLst/>
          </a:prstGeom>
          <a:solidFill>
            <a:srgbClr val="C2542D"/>
          </a:solidFill>
          <a:ln/>
        </p:spPr>
      </p:sp>
      <p:sp>
        <p:nvSpPr>
          <p:cNvPr id="10" name="Text 8"/>
          <p:cNvSpPr/>
          <p:nvPr/>
        </p:nvSpPr>
        <p:spPr>
          <a:xfrm>
            <a:off x="914400" y="2743200"/>
            <a:ext cx="274320" cy="27432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1" name="Text 9"/>
          <p:cNvSpPr/>
          <p:nvPr/>
        </p:nvSpPr>
        <p:spPr>
          <a:xfrm>
            <a:off x="1353312" y="2660904"/>
            <a:ext cx="4480560" cy="777240"/>
          </a:xfrm>
          <a:prstGeom prst="rect">
            <a:avLst/>
          </a:prstGeom>
          <a:noFill/>
          <a:ln/>
        </p:spPr>
        <p:txBody>
          <a:bodyPr wrap="square" rtlCol="0" anchor="t"/>
          <a:lstStyle/>
          <a:p>
            <a:pPr indent="0" marL="0">
              <a:lnSpc>
                <a:spcPct val="112000"/>
              </a:lnSpc>
              <a:buNone/>
            </a:pPr>
            <a:r>
              <a:rPr lang="en-US" sz="1050" dirty="0">
                <a:solidFill>
                  <a:srgbClr val="1B1F2E"/>
                </a:solidFill>
                <a:latin typeface="Calibri" pitchFamily="34" charset="0"/>
                <a:ea typeface="Calibri" pitchFamily="34" charset="-122"/>
                <a:cs typeface="Calibri" pitchFamily="34" charset="-120"/>
              </a:rPr>
              <a:t>Profit per Unit and Sales per Unit risked being misread as per-order figures rather than per-unit benchmarks across the new Order &amp; Unit Economics page.</a:t>
            </a:r>
            <a:endParaRPr lang="en-US" sz="1050" dirty="0"/>
          </a:p>
        </p:txBody>
      </p:sp>
      <p:sp>
        <p:nvSpPr>
          <p:cNvPr id="12" name="Shape 10"/>
          <p:cNvSpPr/>
          <p:nvPr/>
        </p:nvSpPr>
        <p:spPr>
          <a:xfrm>
            <a:off x="914400" y="3584448"/>
            <a:ext cx="274320" cy="274320"/>
          </a:xfrm>
          <a:prstGeom prst="ellipse">
            <a:avLst/>
          </a:prstGeom>
          <a:solidFill>
            <a:srgbClr val="C2542D"/>
          </a:solidFill>
          <a:ln/>
        </p:spPr>
      </p:sp>
      <p:sp>
        <p:nvSpPr>
          <p:cNvPr id="13" name="Text 11"/>
          <p:cNvSpPr/>
          <p:nvPr/>
        </p:nvSpPr>
        <p:spPr>
          <a:xfrm>
            <a:off x="914400" y="3584448"/>
            <a:ext cx="274320" cy="27432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14" name="Text 12"/>
          <p:cNvSpPr/>
          <p:nvPr/>
        </p:nvSpPr>
        <p:spPr>
          <a:xfrm>
            <a:off x="1353312" y="3502152"/>
            <a:ext cx="4480560" cy="777240"/>
          </a:xfrm>
          <a:prstGeom prst="rect">
            <a:avLst/>
          </a:prstGeom>
          <a:noFill/>
          <a:ln/>
        </p:spPr>
        <p:txBody>
          <a:bodyPr wrap="square" rtlCol="0" anchor="t"/>
          <a:lstStyle/>
          <a:p>
            <a:pPr indent="0" marL="0">
              <a:lnSpc>
                <a:spcPct val="112000"/>
              </a:lnSpc>
              <a:buNone/>
            </a:pPr>
            <a:r>
              <a:rPr lang="en-US" sz="1050" dirty="0">
                <a:solidFill>
                  <a:srgbClr val="1B1F2E"/>
                </a:solidFill>
                <a:latin typeface="Calibri" pitchFamily="34" charset="0"/>
                <a:ea typeface="Calibri" pitchFamily="34" charset="-122"/>
                <a:cs typeface="Calibri" pitchFamily="34" charset="-120"/>
              </a:rPr>
              <a:t>Profitability Band totals (High/Medium/Low) had to reconcile exactly with the Total Profit already reported in Milestone 3 — any DAX slip would silently misstate the numbers.</a:t>
            </a:r>
            <a:endParaRPr lang="en-US" sz="1050" dirty="0"/>
          </a:p>
        </p:txBody>
      </p:sp>
      <p:sp>
        <p:nvSpPr>
          <p:cNvPr id="15" name="Shape 13"/>
          <p:cNvSpPr/>
          <p:nvPr/>
        </p:nvSpPr>
        <p:spPr>
          <a:xfrm>
            <a:off x="914400" y="4425696"/>
            <a:ext cx="274320" cy="274320"/>
          </a:xfrm>
          <a:prstGeom prst="ellipse">
            <a:avLst/>
          </a:prstGeom>
          <a:solidFill>
            <a:srgbClr val="C2542D"/>
          </a:solidFill>
          <a:ln/>
        </p:spPr>
      </p:sp>
      <p:sp>
        <p:nvSpPr>
          <p:cNvPr id="16" name="Text 14"/>
          <p:cNvSpPr/>
          <p:nvPr/>
        </p:nvSpPr>
        <p:spPr>
          <a:xfrm>
            <a:off x="914400" y="4425696"/>
            <a:ext cx="274320" cy="27432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17" name="Text 15"/>
          <p:cNvSpPr/>
          <p:nvPr/>
        </p:nvSpPr>
        <p:spPr>
          <a:xfrm>
            <a:off x="1353312" y="4343400"/>
            <a:ext cx="4480560" cy="777240"/>
          </a:xfrm>
          <a:prstGeom prst="rect">
            <a:avLst/>
          </a:prstGeom>
          <a:noFill/>
          <a:ln/>
        </p:spPr>
        <p:txBody>
          <a:bodyPr wrap="square" rtlCol="0" anchor="t"/>
          <a:lstStyle/>
          <a:p>
            <a:pPr indent="0" marL="0">
              <a:lnSpc>
                <a:spcPct val="112000"/>
              </a:lnSpc>
              <a:buNone/>
            </a:pPr>
            <a:r>
              <a:rPr lang="en-US" sz="1050" dirty="0">
                <a:solidFill>
                  <a:srgbClr val="1B1F2E"/>
                </a:solidFill>
                <a:latin typeface="Calibri" pitchFamily="34" charset="0"/>
                <a:ea typeface="Calibri" pitchFamily="34" charset="-122"/>
                <a:cs typeface="Calibri" pitchFamily="34" charset="-120"/>
              </a:rPr>
              <a:t>Region, Segment, and Ship Mode values in the raw CSV occasionally differed only in casing or spacing, risking split, near-duplicate groups on charts.</a:t>
            </a:r>
            <a:endParaRPr lang="en-US" sz="1050" dirty="0"/>
          </a:p>
        </p:txBody>
      </p:sp>
      <p:sp>
        <p:nvSpPr>
          <p:cNvPr id="18" name="Shape 16"/>
          <p:cNvSpPr/>
          <p:nvPr/>
        </p:nvSpPr>
        <p:spPr>
          <a:xfrm>
            <a:off x="914400" y="5266944"/>
            <a:ext cx="274320" cy="274320"/>
          </a:xfrm>
          <a:prstGeom prst="ellipse">
            <a:avLst/>
          </a:prstGeom>
          <a:solidFill>
            <a:srgbClr val="C2542D"/>
          </a:solidFill>
          <a:ln/>
        </p:spPr>
      </p:sp>
      <p:sp>
        <p:nvSpPr>
          <p:cNvPr id="19" name="Text 17"/>
          <p:cNvSpPr/>
          <p:nvPr/>
        </p:nvSpPr>
        <p:spPr>
          <a:xfrm>
            <a:off x="914400" y="5266944"/>
            <a:ext cx="274320" cy="27432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5</a:t>
            </a:r>
            <a:endParaRPr lang="en-US" sz="1150" dirty="0"/>
          </a:p>
        </p:txBody>
      </p:sp>
      <p:sp>
        <p:nvSpPr>
          <p:cNvPr id="20" name="Text 18"/>
          <p:cNvSpPr/>
          <p:nvPr/>
        </p:nvSpPr>
        <p:spPr>
          <a:xfrm>
            <a:off x="1353312" y="5184648"/>
            <a:ext cx="4480560" cy="777240"/>
          </a:xfrm>
          <a:prstGeom prst="rect">
            <a:avLst/>
          </a:prstGeom>
          <a:noFill/>
          <a:ln/>
        </p:spPr>
        <p:txBody>
          <a:bodyPr wrap="square" rtlCol="0" anchor="t"/>
          <a:lstStyle/>
          <a:p>
            <a:pPr indent="0" marL="0">
              <a:lnSpc>
                <a:spcPct val="112000"/>
              </a:lnSpc>
              <a:buNone/>
            </a:pPr>
            <a:r>
              <a:rPr lang="en-US" sz="1050" dirty="0">
                <a:solidFill>
                  <a:srgbClr val="1B1F2E"/>
                </a:solidFill>
                <a:latin typeface="Calibri" pitchFamily="34" charset="0"/>
                <a:ea typeface="Calibri" pitchFamily="34" charset="-122"/>
                <a:cs typeface="Calibri" pitchFamily="34" charset="-120"/>
              </a:rPr>
              <a:t>Keeping two brand-new pages on-brand with Pages 1–5 while coordinating a six-person team within a compressed six-week schedule.</a:t>
            </a:r>
            <a:endParaRPr lang="en-US" sz="1050" dirty="0"/>
          </a:p>
        </p:txBody>
      </p:sp>
      <p:sp>
        <p:nvSpPr>
          <p:cNvPr id="21" name="Shape 19"/>
          <p:cNvSpPr/>
          <p:nvPr/>
        </p:nvSpPr>
        <p:spPr>
          <a:xfrm>
            <a:off x="6172200" y="1371600"/>
            <a:ext cx="5440680" cy="4892040"/>
          </a:xfrm>
          <a:prstGeom prst="roundRect">
            <a:avLst>
              <a:gd name="adj" fmla="val 1495"/>
            </a:avLst>
          </a:prstGeom>
          <a:solidFill>
            <a:srgbClr val="E8ECF9"/>
          </a:solidFill>
          <a:ln/>
        </p:spPr>
      </p:sp>
      <p:sp>
        <p:nvSpPr>
          <p:cNvPr id="22" name="Text 20"/>
          <p:cNvSpPr/>
          <p:nvPr/>
        </p:nvSpPr>
        <p:spPr>
          <a:xfrm>
            <a:off x="6537960" y="1463040"/>
            <a:ext cx="4754880" cy="457200"/>
          </a:xfrm>
          <a:prstGeom prst="rect">
            <a:avLst/>
          </a:prstGeom>
          <a:noFill/>
          <a:ln/>
        </p:spPr>
        <p:txBody>
          <a:bodyPr wrap="square" rtlCol="0" anchor="ctr"/>
          <a:lstStyle/>
          <a:p>
            <a:pPr indent="0" marL="0">
              <a:buNone/>
            </a:pPr>
            <a:r>
              <a:rPr lang="en-US" sz="1300" b="1" spc="200" kern="0" dirty="0">
                <a:solidFill>
                  <a:srgbClr val="1E2761"/>
                </a:solidFill>
                <a:latin typeface="Calibri" pitchFamily="34" charset="0"/>
                <a:ea typeface="Calibri" pitchFamily="34" charset="-122"/>
                <a:cs typeface="Calibri" pitchFamily="34" charset="-120"/>
              </a:rPr>
              <a:t>RESOLUTIONS</a:t>
            </a:r>
            <a:endParaRPr lang="en-US" sz="1300" dirty="0"/>
          </a:p>
        </p:txBody>
      </p:sp>
      <p:sp>
        <p:nvSpPr>
          <p:cNvPr id="23" name="Shape 21"/>
          <p:cNvSpPr/>
          <p:nvPr/>
        </p:nvSpPr>
        <p:spPr>
          <a:xfrm>
            <a:off x="6537960" y="1901952"/>
            <a:ext cx="274320" cy="274320"/>
          </a:xfrm>
          <a:prstGeom prst="ellipse">
            <a:avLst/>
          </a:prstGeom>
          <a:solidFill>
            <a:srgbClr val="1E2761"/>
          </a:solidFill>
          <a:ln/>
        </p:spPr>
      </p:sp>
      <p:sp>
        <p:nvSpPr>
          <p:cNvPr id="24" name="Text 22"/>
          <p:cNvSpPr/>
          <p:nvPr/>
        </p:nvSpPr>
        <p:spPr>
          <a:xfrm>
            <a:off x="6537960" y="1901952"/>
            <a:ext cx="274320" cy="27432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25" name="Text 23"/>
          <p:cNvSpPr/>
          <p:nvPr/>
        </p:nvSpPr>
        <p:spPr>
          <a:xfrm>
            <a:off x="6976872" y="1819656"/>
            <a:ext cx="4480560" cy="777240"/>
          </a:xfrm>
          <a:prstGeom prst="rect">
            <a:avLst/>
          </a:prstGeom>
          <a:noFill/>
          <a:ln/>
        </p:spPr>
        <p:txBody>
          <a:bodyPr wrap="square" rtlCol="0" anchor="t"/>
          <a:lstStyle/>
          <a:p>
            <a:pPr indent="0" marL="0">
              <a:lnSpc>
                <a:spcPct val="112000"/>
              </a:lnSpc>
              <a:buNone/>
            </a:pPr>
            <a:r>
              <a:rPr lang="en-US" sz="1050" dirty="0">
                <a:solidFill>
                  <a:srgbClr val="1B1F2E"/>
                </a:solidFill>
                <a:latin typeface="Calibri" pitchFamily="34" charset="0"/>
                <a:ea typeface="Calibri" pitchFamily="34" charset="-122"/>
                <a:cs typeface="Calibri" pitchFamily="34" charset="-120"/>
              </a:rPr>
              <a:t>Benchmarked the cut-off against the average discount already reported in Milestone 3, giving a defensible, data-grounded threshold for the Discount Band.</a:t>
            </a:r>
            <a:endParaRPr lang="en-US" sz="1050" dirty="0"/>
          </a:p>
        </p:txBody>
      </p:sp>
      <p:sp>
        <p:nvSpPr>
          <p:cNvPr id="26" name="Shape 24"/>
          <p:cNvSpPr/>
          <p:nvPr/>
        </p:nvSpPr>
        <p:spPr>
          <a:xfrm>
            <a:off x="6537960" y="2743200"/>
            <a:ext cx="274320" cy="274320"/>
          </a:xfrm>
          <a:prstGeom prst="ellipse">
            <a:avLst/>
          </a:prstGeom>
          <a:solidFill>
            <a:srgbClr val="1E2761"/>
          </a:solidFill>
          <a:ln/>
        </p:spPr>
      </p:sp>
      <p:sp>
        <p:nvSpPr>
          <p:cNvPr id="27" name="Text 25"/>
          <p:cNvSpPr/>
          <p:nvPr/>
        </p:nvSpPr>
        <p:spPr>
          <a:xfrm>
            <a:off x="6537960" y="2743200"/>
            <a:ext cx="274320" cy="27432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28" name="Text 26"/>
          <p:cNvSpPr/>
          <p:nvPr/>
        </p:nvSpPr>
        <p:spPr>
          <a:xfrm>
            <a:off x="6976872" y="2660904"/>
            <a:ext cx="4480560" cy="777240"/>
          </a:xfrm>
          <a:prstGeom prst="rect">
            <a:avLst/>
          </a:prstGeom>
          <a:noFill/>
          <a:ln/>
        </p:spPr>
        <p:txBody>
          <a:bodyPr wrap="square" rtlCol="0" anchor="t"/>
          <a:lstStyle/>
          <a:p>
            <a:pPr indent="0" marL="0">
              <a:lnSpc>
                <a:spcPct val="112000"/>
              </a:lnSpc>
              <a:buNone/>
            </a:pPr>
            <a:r>
              <a:rPr lang="en-US" sz="1050" dirty="0">
                <a:solidFill>
                  <a:srgbClr val="1B1F2E"/>
                </a:solidFill>
                <a:latin typeface="Calibri" pitchFamily="34" charset="0"/>
                <a:ea typeface="Calibri" pitchFamily="34" charset="-122"/>
                <a:cs typeface="Calibri" pitchFamily="34" charset="-120"/>
              </a:rPr>
              <a:t>Used clear card titles and matching labels across every page so unit-level and order-level metrics could never be confused by a reader.</a:t>
            </a:r>
            <a:endParaRPr lang="en-US" sz="1050" dirty="0"/>
          </a:p>
        </p:txBody>
      </p:sp>
      <p:sp>
        <p:nvSpPr>
          <p:cNvPr id="29" name="Shape 27"/>
          <p:cNvSpPr/>
          <p:nvPr/>
        </p:nvSpPr>
        <p:spPr>
          <a:xfrm>
            <a:off x="6537960" y="3584448"/>
            <a:ext cx="274320" cy="274320"/>
          </a:xfrm>
          <a:prstGeom prst="ellipse">
            <a:avLst/>
          </a:prstGeom>
          <a:solidFill>
            <a:srgbClr val="1E2761"/>
          </a:solidFill>
          <a:ln/>
        </p:spPr>
      </p:sp>
      <p:sp>
        <p:nvSpPr>
          <p:cNvPr id="30" name="Text 28"/>
          <p:cNvSpPr/>
          <p:nvPr/>
        </p:nvSpPr>
        <p:spPr>
          <a:xfrm>
            <a:off x="6537960" y="3584448"/>
            <a:ext cx="274320" cy="27432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31" name="Text 29"/>
          <p:cNvSpPr/>
          <p:nvPr/>
        </p:nvSpPr>
        <p:spPr>
          <a:xfrm>
            <a:off x="6976872" y="3502152"/>
            <a:ext cx="4480560" cy="777240"/>
          </a:xfrm>
          <a:prstGeom prst="rect">
            <a:avLst/>
          </a:prstGeom>
          <a:noFill/>
          <a:ln/>
        </p:spPr>
        <p:txBody>
          <a:bodyPr wrap="square" rtlCol="0" anchor="t"/>
          <a:lstStyle/>
          <a:p>
            <a:pPr indent="0" marL="0">
              <a:lnSpc>
                <a:spcPct val="112000"/>
              </a:lnSpc>
              <a:buNone/>
            </a:pPr>
            <a:r>
              <a:rPr lang="en-US" sz="1050" dirty="0">
                <a:solidFill>
                  <a:srgbClr val="1B1F2E"/>
                </a:solidFill>
                <a:latin typeface="Calibri" pitchFamily="34" charset="0"/>
                <a:ea typeface="Calibri" pitchFamily="34" charset="-122"/>
                <a:cs typeface="Calibri" pitchFamily="34" charset="-120"/>
              </a:rPr>
              <a:t>Carefully checked the DAX logic so High/Medium/Low Profit Band totals summed back exactly to the Total Profit figure already validated in Milestone 3.</a:t>
            </a:r>
            <a:endParaRPr lang="en-US" sz="1050" dirty="0"/>
          </a:p>
        </p:txBody>
      </p:sp>
      <p:sp>
        <p:nvSpPr>
          <p:cNvPr id="32" name="Shape 30"/>
          <p:cNvSpPr/>
          <p:nvPr/>
        </p:nvSpPr>
        <p:spPr>
          <a:xfrm>
            <a:off x="6537960" y="4425696"/>
            <a:ext cx="274320" cy="274320"/>
          </a:xfrm>
          <a:prstGeom prst="ellipse">
            <a:avLst/>
          </a:prstGeom>
          <a:solidFill>
            <a:srgbClr val="1E2761"/>
          </a:solidFill>
          <a:ln/>
        </p:spPr>
      </p:sp>
      <p:sp>
        <p:nvSpPr>
          <p:cNvPr id="33" name="Text 31"/>
          <p:cNvSpPr/>
          <p:nvPr/>
        </p:nvSpPr>
        <p:spPr>
          <a:xfrm>
            <a:off x="6537960" y="4425696"/>
            <a:ext cx="274320" cy="27432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34" name="Text 32"/>
          <p:cNvSpPr/>
          <p:nvPr/>
        </p:nvSpPr>
        <p:spPr>
          <a:xfrm>
            <a:off x="6976872" y="4343400"/>
            <a:ext cx="4480560" cy="777240"/>
          </a:xfrm>
          <a:prstGeom prst="rect">
            <a:avLst/>
          </a:prstGeom>
          <a:noFill/>
          <a:ln/>
        </p:spPr>
        <p:txBody>
          <a:bodyPr wrap="square" rtlCol="0" anchor="t"/>
          <a:lstStyle/>
          <a:p>
            <a:pPr indent="0" marL="0">
              <a:lnSpc>
                <a:spcPct val="112000"/>
              </a:lnSpc>
              <a:buNone/>
            </a:pPr>
            <a:r>
              <a:rPr lang="en-US" sz="1050" dirty="0">
                <a:solidFill>
                  <a:srgbClr val="1B1F2E"/>
                </a:solidFill>
                <a:latin typeface="Calibri" pitchFamily="34" charset="0"/>
                <a:ea typeface="Calibri" pitchFamily="34" charset="-122"/>
                <a:cs typeface="Calibri" pitchFamily="34" charset="-120"/>
              </a:rPr>
              <a:t>Standardized text formatting for every categorical column during preprocessing, before the data was loaded into the model, so identical categories are never split on a chart.</a:t>
            </a:r>
            <a:endParaRPr lang="en-US" sz="1050" dirty="0"/>
          </a:p>
        </p:txBody>
      </p:sp>
      <p:sp>
        <p:nvSpPr>
          <p:cNvPr id="35" name="Shape 33"/>
          <p:cNvSpPr/>
          <p:nvPr/>
        </p:nvSpPr>
        <p:spPr>
          <a:xfrm>
            <a:off x="6537960" y="5266944"/>
            <a:ext cx="274320" cy="274320"/>
          </a:xfrm>
          <a:prstGeom prst="ellipse">
            <a:avLst/>
          </a:prstGeom>
          <a:solidFill>
            <a:srgbClr val="1E2761"/>
          </a:solidFill>
          <a:ln/>
        </p:spPr>
      </p:sp>
      <p:sp>
        <p:nvSpPr>
          <p:cNvPr id="36" name="Text 34"/>
          <p:cNvSpPr/>
          <p:nvPr/>
        </p:nvSpPr>
        <p:spPr>
          <a:xfrm>
            <a:off x="6537960" y="5266944"/>
            <a:ext cx="274320" cy="27432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5</a:t>
            </a:r>
            <a:endParaRPr lang="en-US" sz="1150" dirty="0"/>
          </a:p>
        </p:txBody>
      </p:sp>
      <p:sp>
        <p:nvSpPr>
          <p:cNvPr id="37" name="Text 35"/>
          <p:cNvSpPr/>
          <p:nvPr/>
        </p:nvSpPr>
        <p:spPr>
          <a:xfrm>
            <a:off x="6976872" y="5184648"/>
            <a:ext cx="4480560" cy="777240"/>
          </a:xfrm>
          <a:prstGeom prst="rect">
            <a:avLst/>
          </a:prstGeom>
          <a:noFill/>
          <a:ln/>
        </p:spPr>
        <p:txBody>
          <a:bodyPr wrap="square" rtlCol="0" anchor="t"/>
          <a:lstStyle/>
          <a:p>
            <a:pPr indent="0" marL="0">
              <a:lnSpc>
                <a:spcPct val="112000"/>
              </a:lnSpc>
              <a:buNone/>
            </a:pPr>
            <a:r>
              <a:rPr lang="en-US" sz="1050" dirty="0">
                <a:solidFill>
                  <a:srgbClr val="1B1F2E"/>
                </a:solidFill>
                <a:latin typeface="Calibri" pitchFamily="34" charset="0"/>
                <a:ea typeface="Calibri" pitchFamily="34" charset="-122"/>
                <a:cs typeface="Calibri" pitchFamily="34" charset="-120"/>
              </a:rPr>
              <a:t>Reused the existing measure library and visual formatting for every new page, and split work along milestone phase boundaries with GitHub/GitLab version control for clean handoffs.</a:t>
            </a:r>
            <a:endParaRPr lang="en-US" sz="1050" dirty="0"/>
          </a:p>
        </p:txBody>
      </p:sp>
      <p:sp>
        <p:nvSpPr>
          <p:cNvPr id="38" name="Text 36"/>
          <p:cNvSpPr/>
          <p:nvPr/>
        </p:nvSpPr>
        <p:spPr>
          <a:xfrm>
            <a:off x="457200" y="6473952"/>
            <a:ext cx="7315200" cy="274320"/>
          </a:xfrm>
          <a:prstGeom prst="rect">
            <a:avLst/>
          </a:prstGeom>
          <a:noFill/>
          <a:ln/>
        </p:spPr>
        <p:txBody>
          <a:bodyPr wrap="square" rtlCol="0" anchor="ctr"/>
          <a:lstStyle/>
          <a:p>
            <a:pPr indent="0" marL="0">
              <a:buNone/>
            </a:pPr>
            <a:r>
              <a:rPr lang="en-US" sz="900" i="1" dirty="0">
                <a:solidFill>
                  <a:srgbClr val="5B6B8C"/>
                </a:solidFill>
                <a:latin typeface="Calibri" pitchFamily="34" charset="0"/>
                <a:ea typeface="Calibri" pitchFamily="34" charset="-122"/>
                <a:cs typeface="Calibri" pitchFamily="34" charset="-120"/>
              </a:rPr>
              <a:t>Supply Chain Visibility &amp; Optimization  •  Pendyala Venkata Bharath</a:t>
            </a:r>
            <a:endParaRPr lang="en-US" sz="900" dirty="0"/>
          </a:p>
        </p:txBody>
      </p:sp>
      <p:sp>
        <p:nvSpPr>
          <p:cNvPr id="39" name="Text 37"/>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E2761"/>
          </a:solidFill>
          <a:ln/>
        </p:spPr>
      </p:sp>
      <p:sp>
        <p:nvSpPr>
          <p:cNvPr id="3" name="Text 1"/>
          <p:cNvSpPr/>
          <p:nvPr/>
        </p:nvSpPr>
        <p:spPr>
          <a:xfrm>
            <a:off x="548640" y="201168"/>
            <a:ext cx="10515600" cy="64008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Future Enhancements &amp; Key Insights</a:t>
            </a:r>
            <a:endParaRPr lang="en-US" sz="2800" dirty="0"/>
          </a:p>
        </p:txBody>
      </p:sp>
      <p:sp>
        <p:nvSpPr>
          <p:cNvPr id="4" name="Text 2"/>
          <p:cNvSpPr/>
          <p:nvPr/>
        </p:nvSpPr>
        <p:spPr>
          <a:xfrm>
            <a:off x="548640" y="1371600"/>
            <a:ext cx="5120640" cy="457200"/>
          </a:xfrm>
          <a:prstGeom prst="rect">
            <a:avLst/>
          </a:prstGeom>
          <a:noFill/>
          <a:ln/>
        </p:spPr>
        <p:txBody>
          <a:bodyPr wrap="square" rtlCol="0" anchor="ctr"/>
          <a:lstStyle/>
          <a:p>
            <a:pPr indent="0" marL="0">
              <a:buNone/>
            </a:pPr>
            <a:r>
              <a:rPr lang="en-US" sz="1300" b="1" spc="200" kern="0" dirty="0">
                <a:solidFill>
                  <a:srgbClr val="C2542D"/>
                </a:solidFill>
                <a:latin typeface="Calibri" pitchFamily="34" charset="0"/>
                <a:ea typeface="Calibri" pitchFamily="34" charset="-122"/>
                <a:cs typeface="Calibri" pitchFamily="34" charset="-120"/>
              </a:rPr>
              <a:t>FUTURE ENHANCEMENTS</a:t>
            </a:r>
            <a:endParaRPr lang="en-US" sz="1300" dirty="0"/>
          </a:p>
        </p:txBody>
      </p:sp>
      <p:sp>
        <p:nvSpPr>
          <p:cNvPr id="5" name="Shape 3"/>
          <p:cNvSpPr/>
          <p:nvPr/>
        </p:nvSpPr>
        <p:spPr>
          <a:xfrm rot="5400000">
            <a:off x="566928" y="1856232"/>
            <a:ext cx="118872" cy="118872"/>
          </a:xfrm>
          <a:prstGeom prst="triangle">
            <a:avLst/>
          </a:prstGeom>
          <a:solidFill>
            <a:srgbClr val="C2542D"/>
          </a:solidFill>
          <a:ln/>
        </p:spPr>
      </p:sp>
      <p:sp>
        <p:nvSpPr>
          <p:cNvPr id="6" name="Text 4"/>
          <p:cNvSpPr/>
          <p:nvPr/>
        </p:nvSpPr>
        <p:spPr>
          <a:xfrm>
            <a:off x="841248" y="1737360"/>
            <a:ext cx="4892040" cy="658368"/>
          </a:xfrm>
          <a:prstGeom prst="rect">
            <a:avLst/>
          </a:prstGeom>
          <a:noFill/>
          <a:ln/>
        </p:spPr>
        <p:txBody>
          <a:bodyPr wrap="square" rtlCol="0" anchor="t"/>
          <a:lstStyle/>
          <a:p>
            <a:pPr indent="0" marL="0">
              <a:lnSpc>
                <a:spcPct val="115000"/>
              </a:lnSpc>
              <a:buNone/>
            </a:pPr>
            <a:r>
              <a:rPr lang="en-US" sz="1180" dirty="0">
                <a:solidFill>
                  <a:srgbClr val="1B1F2E"/>
                </a:solidFill>
                <a:latin typeface="Calibri" pitchFamily="34" charset="0"/>
                <a:ea typeface="Calibri" pitchFamily="34" charset="-122"/>
                <a:cs typeface="Calibri" pitchFamily="34" charset="-120"/>
              </a:rPr>
              <a:t>Introduce a scheduled data refresh so the dashboard stays current automatically, rather than relying on a static CSV snapshot.</a:t>
            </a:r>
            <a:endParaRPr lang="en-US" sz="1180" dirty="0"/>
          </a:p>
        </p:txBody>
      </p:sp>
      <p:sp>
        <p:nvSpPr>
          <p:cNvPr id="7" name="Shape 5"/>
          <p:cNvSpPr/>
          <p:nvPr/>
        </p:nvSpPr>
        <p:spPr>
          <a:xfrm rot="5400000">
            <a:off x="566928" y="2651760"/>
            <a:ext cx="118872" cy="118872"/>
          </a:xfrm>
          <a:prstGeom prst="triangle">
            <a:avLst/>
          </a:prstGeom>
          <a:solidFill>
            <a:srgbClr val="C2542D"/>
          </a:solidFill>
          <a:ln/>
        </p:spPr>
      </p:sp>
      <p:sp>
        <p:nvSpPr>
          <p:cNvPr id="8" name="Text 6"/>
          <p:cNvSpPr/>
          <p:nvPr/>
        </p:nvSpPr>
        <p:spPr>
          <a:xfrm>
            <a:off x="841248" y="2532888"/>
            <a:ext cx="4892040" cy="658368"/>
          </a:xfrm>
          <a:prstGeom prst="rect">
            <a:avLst/>
          </a:prstGeom>
          <a:noFill/>
          <a:ln/>
        </p:spPr>
        <p:txBody>
          <a:bodyPr wrap="square" rtlCol="0" anchor="t"/>
          <a:lstStyle/>
          <a:p>
            <a:pPr indent="0" marL="0">
              <a:lnSpc>
                <a:spcPct val="115000"/>
              </a:lnSpc>
              <a:buNone/>
            </a:pPr>
            <a:r>
              <a:rPr lang="en-US" sz="1180" dirty="0">
                <a:solidFill>
                  <a:srgbClr val="1B1F2E"/>
                </a:solidFill>
                <a:latin typeface="Calibri" pitchFamily="34" charset="0"/>
                <a:ea typeface="Calibri" pitchFamily="34" charset="-122"/>
                <a:cs typeface="Calibri" pitchFamily="34" charset="-120"/>
              </a:rPr>
              <a:t>Explore row-level security so regional managers see a filtered view of the same report without needing separate files.</a:t>
            </a:r>
            <a:endParaRPr lang="en-US" sz="1180" dirty="0"/>
          </a:p>
        </p:txBody>
      </p:sp>
      <p:sp>
        <p:nvSpPr>
          <p:cNvPr id="9" name="Shape 7"/>
          <p:cNvSpPr/>
          <p:nvPr/>
        </p:nvSpPr>
        <p:spPr>
          <a:xfrm rot="5400000">
            <a:off x="566928" y="3447288"/>
            <a:ext cx="118872" cy="118872"/>
          </a:xfrm>
          <a:prstGeom prst="triangle">
            <a:avLst/>
          </a:prstGeom>
          <a:solidFill>
            <a:srgbClr val="C2542D"/>
          </a:solidFill>
          <a:ln/>
        </p:spPr>
      </p:sp>
      <p:sp>
        <p:nvSpPr>
          <p:cNvPr id="10" name="Text 8"/>
          <p:cNvSpPr/>
          <p:nvPr/>
        </p:nvSpPr>
        <p:spPr>
          <a:xfrm>
            <a:off x="841248" y="3328416"/>
            <a:ext cx="4892040" cy="658368"/>
          </a:xfrm>
          <a:prstGeom prst="rect">
            <a:avLst/>
          </a:prstGeom>
          <a:noFill/>
          <a:ln/>
        </p:spPr>
        <p:txBody>
          <a:bodyPr wrap="square" rtlCol="0" anchor="t"/>
          <a:lstStyle/>
          <a:p>
            <a:pPr indent="0" marL="0">
              <a:lnSpc>
                <a:spcPct val="115000"/>
              </a:lnSpc>
              <a:buNone/>
            </a:pPr>
            <a:r>
              <a:rPr lang="en-US" sz="1180" dirty="0">
                <a:solidFill>
                  <a:srgbClr val="1B1F2E"/>
                </a:solidFill>
                <a:latin typeface="Calibri" pitchFamily="34" charset="0"/>
                <a:ea typeface="Calibri" pitchFamily="34" charset="-122"/>
                <a:cs typeface="Calibri" pitchFamily="34" charset="-120"/>
              </a:rPr>
              <a:t>Build a discount-depth what-if parameter to simulate the profit impact of a proposed policy change before applying it.</a:t>
            </a:r>
            <a:endParaRPr lang="en-US" sz="1180" dirty="0"/>
          </a:p>
        </p:txBody>
      </p:sp>
      <p:sp>
        <p:nvSpPr>
          <p:cNvPr id="11" name="Shape 9"/>
          <p:cNvSpPr/>
          <p:nvPr/>
        </p:nvSpPr>
        <p:spPr>
          <a:xfrm rot="5400000">
            <a:off x="566928" y="4242816"/>
            <a:ext cx="118872" cy="118872"/>
          </a:xfrm>
          <a:prstGeom prst="triangle">
            <a:avLst/>
          </a:prstGeom>
          <a:solidFill>
            <a:srgbClr val="C2542D"/>
          </a:solidFill>
          <a:ln/>
        </p:spPr>
      </p:sp>
      <p:sp>
        <p:nvSpPr>
          <p:cNvPr id="12" name="Text 10"/>
          <p:cNvSpPr/>
          <p:nvPr/>
        </p:nvSpPr>
        <p:spPr>
          <a:xfrm>
            <a:off x="841248" y="4123944"/>
            <a:ext cx="4892040" cy="658368"/>
          </a:xfrm>
          <a:prstGeom prst="rect">
            <a:avLst/>
          </a:prstGeom>
          <a:noFill/>
          <a:ln/>
        </p:spPr>
        <p:txBody>
          <a:bodyPr wrap="square" rtlCol="0" anchor="t"/>
          <a:lstStyle/>
          <a:p>
            <a:pPr indent="0" marL="0">
              <a:lnSpc>
                <a:spcPct val="115000"/>
              </a:lnSpc>
              <a:buNone/>
            </a:pPr>
            <a:r>
              <a:rPr lang="en-US" sz="1180" dirty="0">
                <a:solidFill>
                  <a:srgbClr val="1B1F2E"/>
                </a:solidFill>
                <a:latin typeface="Calibri" pitchFamily="34" charset="0"/>
                <a:ea typeface="Calibri" pitchFamily="34" charset="-122"/>
                <a:cs typeface="Calibri" pitchFamily="34" charset="-120"/>
              </a:rPr>
              <a:t>Add drill-through paths from region to state and category to sub-category directly on the Executive Dashboard.</a:t>
            </a:r>
            <a:endParaRPr lang="en-US" sz="1180" dirty="0"/>
          </a:p>
        </p:txBody>
      </p:sp>
      <p:sp>
        <p:nvSpPr>
          <p:cNvPr id="13" name="Shape 11"/>
          <p:cNvSpPr/>
          <p:nvPr/>
        </p:nvSpPr>
        <p:spPr>
          <a:xfrm rot="5400000">
            <a:off x="566928" y="5038344"/>
            <a:ext cx="118872" cy="118872"/>
          </a:xfrm>
          <a:prstGeom prst="triangle">
            <a:avLst/>
          </a:prstGeom>
          <a:solidFill>
            <a:srgbClr val="C2542D"/>
          </a:solidFill>
          <a:ln/>
        </p:spPr>
      </p:sp>
      <p:sp>
        <p:nvSpPr>
          <p:cNvPr id="14" name="Text 12"/>
          <p:cNvSpPr/>
          <p:nvPr/>
        </p:nvSpPr>
        <p:spPr>
          <a:xfrm>
            <a:off x="841248" y="4919472"/>
            <a:ext cx="4892040" cy="658368"/>
          </a:xfrm>
          <a:prstGeom prst="rect">
            <a:avLst/>
          </a:prstGeom>
          <a:noFill/>
          <a:ln/>
        </p:spPr>
        <p:txBody>
          <a:bodyPr wrap="square" rtlCol="0" anchor="t"/>
          <a:lstStyle/>
          <a:p>
            <a:pPr indent="0" marL="0">
              <a:lnSpc>
                <a:spcPct val="115000"/>
              </a:lnSpc>
              <a:buNone/>
            </a:pPr>
            <a:r>
              <a:rPr lang="en-US" sz="1180" dirty="0">
                <a:solidFill>
                  <a:srgbClr val="1B1F2E"/>
                </a:solidFill>
                <a:latin typeface="Calibri" pitchFamily="34" charset="0"/>
                <a:ea typeface="Calibri" pitchFamily="34" charset="-122"/>
                <a:cs typeface="Calibri" pitchFamily="34" charset="-120"/>
              </a:rPr>
              <a:t>Segment loss-making orders into discount-driven vs. structurally-thin-margin groups, since each needs a different fix.</a:t>
            </a:r>
            <a:endParaRPr lang="en-US" sz="1180" dirty="0"/>
          </a:p>
        </p:txBody>
      </p:sp>
      <p:sp>
        <p:nvSpPr>
          <p:cNvPr id="15" name="Shape 13"/>
          <p:cNvSpPr/>
          <p:nvPr/>
        </p:nvSpPr>
        <p:spPr>
          <a:xfrm>
            <a:off x="5806440" y="1371600"/>
            <a:ext cx="5806440" cy="4892040"/>
          </a:xfrm>
          <a:prstGeom prst="roundRect">
            <a:avLst>
              <a:gd name="adj" fmla="val 1495"/>
            </a:avLst>
          </a:prstGeom>
          <a:solidFill>
            <a:srgbClr val="1E2761"/>
          </a:solidFill>
          <a:ln/>
        </p:spPr>
      </p:sp>
      <p:sp>
        <p:nvSpPr>
          <p:cNvPr id="16" name="Text 14"/>
          <p:cNvSpPr/>
          <p:nvPr/>
        </p:nvSpPr>
        <p:spPr>
          <a:xfrm>
            <a:off x="6172200" y="1536192"/>
            <a:ext cx="5120640" cy="320040"/>
          </a:xfrm>
          <a:prstGeom prst="rect">
            <a:avLst/>
          </a:prstGeom>
          <a:noFill/>
          <a:ln/>
        </p:spPr>
        <p:txBody>
          <a:bodyPr wrap="square" rtlCol="0" anchor="ctr"/>
          <a:lstStyle/>
          <a:p>
            <a:pPr indent="0" marL="0">
              <a:buNone/>
            </a:pPr>
            <a:r>
              <a:rPr lang="en-US" sz="1300" b="1" spc="200" kern="0" dirty="0">
                <a:solidFill>
                  <a:srgbClr val="CADCFC"/>
                </a:solidFill>
                <a:latin typeface="Calibri" pitchFamily="34" charset="0"/>
                <a:ea typeface="Calibri" pitchFamily="34" charset="-122"/>
                <a:cs typeface="Calibri" pitchFamily="34" charset="-120"/>
              </a:rPr>
              <a:t>KEY INSIGHTS</a:t>
            </a:r>
            <a:endParaRPr lang="en-US" sz="1300" dirty="0"/>
          </a:p>
        </p:txBody>
      </p:sp>
      <p:sp>
        <p:nvSpPr>
          <p:cNvPr id="17" name="Shape 15"/>
          <p:cNvSpPr/>
          <p:nvPr/>
        </p:nvSpPr>
        <p:spPr>
          <a:xfrm>
            <a:off x="6126480" y="1901952"/>
            <a:ext cx="2606040" cy="960120"/>
          </a:xfrm>
          <a:prstGeom prst="roundRect">
            <a:avLst>
              <a:gd name="adj" fmla="val 5714"/>
            </a:avLst>
          </a:prstGeom>
          <a:solidFill>
            <a:srgbClr val="232C6B"/>
          </a:solidFill>
          <a:ln/>
        </p:spPr>
      </p:sp>
      <p:sp>
        <p:nvSpPr>
          <p:cNvPr id="18" name="Text 16"/>
          <p:cNvSpPr/>
          <p:nvPr/>
        </p:nvSpPr>
        <p:spPr>
          <a:xfrm>
            <a:off x="6254496" y="1975104"/>
            <a:ext cx="2350008" cy="292608"/>
          </a:xfrm>
          <a:prstGeom prst="rect">
            <a:avLst/>
          </a:prstGeom>
          <a:noFill/>
          <a:ln/>
        </p:spPr>
        <p:txBody>
          <a:bodyPr wrap="square" rtlCol="0" anchor="ctr"/>
          <a:lstStyle/>
          <a:p>
            <a:pPr indent="0" marL="0">
              <a:buNone/>
            </a:pPr>
            <a:r>
              <a:rPr lang="en-US" sz="1550" b="1" dirty="0">
                <a:solidFill>
                  <a:srgbClr val="CADCFC"/>
                </a:solidFill>
                <a:latin typeface="Cambria" pitchFamily="34" charset="0"/>
                <a:ea typeface="Cambria" pitchFamily="34" charset="-122"/>
                <a:cs typeface="Cambria" pitchFamily="34" charset="-120"/>
              </a:rPr>
              <a:t>2.30M</a:t>
            </a:r>
            <a:endParaRPr lang="en-US" sz="1550" dirty="0"/>
          </a:p>
        </p:txBody>
      </p:sp>
      <p:sp>
        <p:nvSpPr>
          <p:cNvPr id="19" name="Text 17"/>
          <p:cNvSpPr/>
          <p:nvPr/>
        </p:nvSpPr>
        <p:spPr>
          <a:xfrm>
            <a:off x="6254496" y="2267712"/>
            <a:ext cx="2350008" cy="539496"/>
          </a:xfrm>
          <a:prstGeom prst="rect">
            <a:avLst/>
          </a:prstGeom>
          <a:noFill/>
          <a:ln/>
        </p:spPr>
        <p:txBody>
          <a:bodyPr wrap="square" rtlCol="0" anchor="t"/>
          <a:lstStyle/>
          <a:p>
            <a:pPr indent="0" marL="0">
              <a:lnSpc>
                <a:spcPct val="108000"/>
              </a:lnSpc>
              <a:buNone/>
            </a:pPr>
            <a:r>
              <a:rPr lang="en-US" sz="830" dirty="0">
                <a:solidFill>
                  <a:srgbClr val="FFFFFF"/>
                </a:solidFill>
                <a:latin typeface="Calibri" pitchFamily="34" charset="0"/>
                <a:ea typeface="Calibri" pitchFamily="34" charset="-122"/>
                <a:cs typeface="Calibri" pitchFamily="34" charset="-120"/>
              </a:rPr>
              <a:t>Total Sales across 5,009 orders (12.47% margin) — the baseline every efficiency ratio is judged against.</a:t>
            </a:r>
            <a:endParaRPr lang="en-US" sz="830" dirty="0"/>
          </a:p>
        </p:txBody>
      </p:sp>
      <p:sp>
        <p:nvSpPr>
          <p:cNvPr id="20" name="Shape 18"/>
          <p:cNvSpPr/>
          <p:nvPr/>
        </p:nvSpPr>
        <p:spPr>
          <a:xfrm>
            <a:off x="8915400" y="1901952"/>
            <a:ext cx="2606040" cy="960120"/>
          </a:xfrm>
          <a:prstGeom prst="roundRect">
            <a:avLst>
              <a:gd name="adj" fmla="val 5714"/>
            </a:avLst>
          </a:prstGeom>
          <a:solidFill>
            <a:srgbClr val="232C6B"/>
          </a:solidFill>
          <a:ln/>
        </p:spPr>
      </p:sp>
      <p:sp>
        <p:nvSpPr>
          <p:cNvPr id="21" name="Text 19"/>
          <p:cNvSpPr/>
          <p:nvPr/>
        </p:nvSpPr>
        <p:spPr>
          <a:xfrm>
            <a:off x="9043416" y="1975104"/>
            <a:ext cx="2350008" cy="292608"/>
          </a:xfrm>
          <a:prstGeom prst="rect">
            <a:avLst/>
          </a:prstGeom>
          <a:noFill/>
          <a:ln/>
        </p:spPr>
        <p:txBody>
          <a:bodyPr wrap="square" rtlCol="0" anchor="ctr"/>
          <a:lstStyle/>
          <a:p>
            <a:pPr indent="0" marL="0">
              <a:buNone/>
            </a:pPr>
            <a:r>
              <a:rPr lang="en-US" sz="1550" b="1" dirty="0">
                <a:solidFill>
                  <a:srgbClr val="CADCFC"/>
                </a:solidFill>
                <a:latin typeface="Cambria" pitchFamily="34" charset="0"/>
                <a:ea typeface="Cambria" pitchFamily="34" charset="-122"/>
                <a:cs typeface="Cambria" pitchFamily="34" charset="-120"/>
              </a:rPr>
              <a:t>108K</a:t>
            </a:r>
            <a:endParaRPr lang="en-US" sz="1550" dirty="0"/>
          </a:p>
        </p:txBody>
      </p:sp>
      <p:sp>
        <p:nvSpPr>
          <p:cNvPr id="22" name="Text 20"/>
          <p:cNvSpPr/>
          <p:nvPr/>
        </p:nvSpPr>
        <p:spPr>
          <a:xfrm>
            <a:off x="9043416" y="2267712"/>
            <a:ext cx="2350008" cy="539496"/>
          </a:xfrm>
          <a:prstGeom prst="rect">
            <a:avLst/>
          </a:prstGeom>
          <a:noFill/>
          <a:ln/>
        </p:spPr>
        <p:txBody>
          <a:bodyPr wrap="square" rtlCol="0" anchor="t"/>
          <a:lstStyle/>
          <a:p>
            <a:pPr indent="0" marL="0">
              <a:lnSpc>
                <a:spcPct val="108000"/>
              </a:lnSpc>
              <a:buNone/>
            </a:pPr>
            <a:r>
              <a:rPr lang="en-US" sz="830" dirty="0">
                <a:solidFill>
                  <a:srgbClr val="FFFFFF"/>
                </a:solidFill>
                <a:latin typeface="Calibri" pitchFamily="34" charset="0"/>
                <a:ea typeface="Calibri" pitchFamily="34" charset="-122"/>
                <a:cs typeface="Calibri" pitchFamily="34" charset="-120"/>
              </a:rPr>
              <a:t>West-region profit leads East (92K), South (47K), Central (40K) — a benchmark for replicating practices.</a:t>
            </a:r>
            <a:endParaRPr lang="en-US" sz="830" dirty="0"/>
          </a:p>
        </p:txBody>
      </p:sp>
      <p:sp>
        <p:nvSpPr>
          <p:cNvPr id="23" name="Shape 21"/>
          <p:cNvSpPr/>
          <p:nvPr/>
        </p:nvSpPr>
        <p:spPr>
          <a:xfrm>
            <a:off x="6126480" y="2953512"/>
            <a:ext cx="2606040" cy="960120"/>
          </a:xfrm>
          <a:prstGeom prst="roundRect">
            <a:avLst>
              <a:gd name="adj" fmla="val 5714"/>
            </a:avLst>
          </a:prstGeom>
          <a:solidFill>
            <a:srgbClr val="232C6B"/>
          </a:solidFill>
          <a:ln/>
        </p:spPr>
      </p:sp>
      <p:sp>
        <p:nvSpPr>
          <p:cNvPr id="24" name="Text 22"/>
          <p:cNvSpPr/>
          <p:nvPr/>
        </p:nvSpPr>
        <p:spPr>
          <a:xfrm>
            <a:off x="6254496" y="3026664"/>
            <a:ext cx="2350008" cy="292608"/>
          </a:xfrm>
          <a:prstGeom prst="rect">
            <a:avLst/>
          </a:prstGeom>
          <a:noFill/>
          <a:ln/>
        </p:spPr>
        <p:txBody>
          <a:bodyPr wrap="square" rtlCol="0" anchor="ctr"/>
          <a:lstStyle/>
          <a:p>
            <a:pPr indent="0" marL="0">
              <a:buNone/>
            </a:pPr>
            <a:r>
              <a:rPr lang="en-US" sz="1550" b="1" dirty="0">
                <a:solidFill>
                  <a:srgbClr val="CADCFC"/>
                </a:solidFill>
                <a:latin typeface="Cambria" pitchFamily="34" charset="0"/>
                <a:ea typeface="Cambria" pitchFamily="34" charset="-122"/>
                <a:cs typeface="Cambria" pitchFamily="34" charset="-120"/>
              </a:rPr>
              <a:t>79.26%</a:t>
            </a:r>
            <a:endParaRPr lang="en-US" sz="1550" dirty="0"/>
          </a:p>
        </p:txBody>
      </p:sp>
      <p:sp>
        <p:nvSpPr>
          <p:cNvPr id="25" name="Text 23"/>
          <p:cNvSpPr/>
          <p:nvPr/>
        </p:nvSpPr>
        <p:spPr>
          <a:xfrm>
            <a:off x="6254496" y="3319272"/>
            <a:ext cx="2350008" cy="539496"/>
          </a:xfrm>
          <a:prstGeom prst="rect">
            <a:avLst/>
          </a:prstGeom>
          <a:noFill/>
          <a:ln/>
        </p:spPr>
        <p:txBody>
          <a:bodyPr wrap="square" rtlCol="0" anchor="t"/>
          <a:lstStyle/>
          <a:p>
            <a:pPr indent="0" marL="0">
              <a:lnSpc>
                <a:spcPct val="108000"/>
              </a:lnSpc>
              <a:buNone/>
            </a:pPr>
            <a:r>
              <a:rPr lang="en-US" sz="830" dirty="0">
                <a:solidFill>
                  <a:srgbClr val="FFFFFF"/>
                </a:solidFill>
                <a:latin typeface="Calibri" pitchFamily="34" charset="0"/>
                <a:ea typeface="Calibri" pitchFamily="34" charset="-122"/>
                <a:cs typeface="Calibri" pitchFamily="34" charset="-120"/>
              </a:rPr>
              <a:t>Profitable Order Rate — but 20.40% of orders currently lose money, a concrete margin-recovery target.</a:t>
            </a:r>
            <a:endParaRPr lang="en-US" sz="830" dirty="0"/>
          </a:p>
        </p:txBody>
      </p:sp>
      <p:sp>
        <p:nvSpPr>
          <p:cNvPr id="26" name="Shape 24"/>
          <p:cNvSpPr/>
          <p:nvPr/>
        </p:nvSpPr>
        <p:spPr>
          <a:xfrm>
            <a:off x="8915400" y="2953512"/>
            <a:ext cx="2606040" cy="960120"/>
          </a:xfrm>
          <a:prstGeom prst="roundRect">
            <a:avLst>
              <a:gd name="adj" fmla="val 5714"/>
            </a:avLst>
          </a:prstGeom>
          <a:solidFill>
            <a:srgbClr val="232C6B"/>
          </a:solidFill>
          <a:ln/>
        </p:spPr>
      </p:sp>
      <p:sp>
        <p:nvSpPr>
          <p:cNvPr id="27" name="Text 25"/>
          <p:cNvSpPr/>
          <p:nvPr/>
        </p:nvSpPr>
        <p:spPr>
          <a:xfrm>
            <a:off x="9043416" y="3026664"/>
            <a:ext cx="2350008" cy="292608"/>
          </a:xfrm>
          <a:prstGeom prst="rect">
            <a:avLst/>
          </a:prstGeom>
          <a:noFill/>
          <a:ln/>
        </p:spPr>
        <p:txBody>
          <a:bodyPr wrap="square" rtlCol="0" anchor="ctr"/>
          <a:lstStyle/>
          <a:p>
            <a:pPr indent="0" marL="0">
              <a:buNone/>
            </a:pPr>
            <a:r>
              <a:rPr lang="en-US" sz="1550" b="1" dirty="0">
                <a:solidFill>
                  <a:srgbClr val="CADCFC"/>
                </a:solidFill>
                <a:latin typeface="Cambria" pitchFamily="34" charset="0"/>
                <a:ea typeface="Cambria" pitchFamily="34" charset="-122"/>
                <a:cs typeface="Cambria" pitchFamily="34" charset="-120"/>
              </a:rPr>
              <a:t>21</a:t>
            </a:r>
            <a:endParaRPr lang="en-US" sz="1550" dirty="0"/>
          </a:p>
        </p:txBody>
      </p:sp>
      <p:sp>
        <p:nvSpPr>
          <p:cNvPr id="28" name="Text 26"/>
          <p:cNvSpPr/>
          <p:nvPr/>
        </p:nvSpPr>
        <p:spPr>
          <a:xfrm>
            <a:off x="9043416" y="3319272"/>
            <a:ext cx="2350008" cy="539496"/>
          </a:xfrm>
          <a:prstGeom prst="rect">
            <a:avLst/>
          </a:prstGeom>
          <a:noFill/>
          <a:ln/>
        </p:spPr>
        <p:txBody>
          <a:bodyPr wrap="square" rtlCol="0" anchor="t"/>
          <a:lstStyle/>
          <a:p>
            <a:pPr indent="0" marL="0">
              <a:lnSpc>
                <a:spcPct val="108000"/>
              </a:lnSpc>
              <a:buNone/>
            </a:pPr>
            <a:r>
              <a:rPr lang="en-US" sz="830" dirty="0">
                <a:solidFill>
                  <a:srgbClr val="FFFFFF"/>
                </a:solidFill>
                <a:latin typeface="Calibri" pitchFamily="34" charset="0"/>
                <a:ea typeface="Calibri" pitchFamily="34" charset="-122"/>
                <a:cs typeface="Calibri" pitchFamily="34" charset="-120"/>
              </a:rPr>
              <a:t>Profit per unit for Technology — ~4x Office Supplies, ~10x Furniture, confirming strength beyond volume.</a:t>
            </a:r>
            <a:endParaRPr lang="en-US" sz="830" dirty="0"/>
          </a:p>
        </p:txBody>
      </p:sp>
      <p:sp>
        <p:nvSpPr>
          <p:cNvPr id="29" name="Shape 27"/>
          <p:cNvSpPr/>
          <p:nvPr/>
        </p:nvSpPr>
        <p:spPr>
          <a:xfrm>
            <a:off x="6126480" y="4005072"/>
            <a:ext cx="2606040" cy="960120"/>
          </a:xfrm>
          <a:prstGeom prst="roundRect">
            <a:avLst>
              <a:gd name="adj" fmla="val 5714"/>
            </a:avLst>
          </a:prstGeom>
          <a:solidFill>
            <a:srgbClr val="232C6B"/>
          </a:solidFill>
          <a:ln/>
        </p:spPr>
      </p:sp>
      <p:sp>
        <p:nvSpPr>
          <p:cNvPr id="30" name="Text 28"/>
          <p:cNvSpPr/>
          <p:nvPr/>
        </p:nvSpPr>
        <p:spPr>
          <a:xfrm>
            <a:off x="6254496" y="4078224"/>
            <a:ext cx="2350008" cy="292608"/>
          </a:xfrm>
          <a:prstGeom prst="rect">
            <a:avLst/>
          </a:prstGeom>
          <a:noFill/>
          <a:ln/>
        </p:spPr>
        <p:txBody>
          <a:bodyPr wrap="square" rtlCol="0" anchor="ctr"/>
          <a:lstStyle/>
          <a:p>
            <a:pPr indent="0" marL="0">
              <a:buNone/>
            </a:pPr>
            <a:r>
              <a:rPr lang="en-US" sz="1550" b="1" dirty="0">
                <a:solidFill>
                  <a:srgbClr val="CADCFC"/>
                </a:solidFill>
                <a:latin typeface="Cambria" pitchFamily="34" charset="0"/>
                <a:ea typeface="Cambria" pitchFamily="34" charset="-122"/>
                <a:cs typeface="Cambria" pitchFamily="34" charset="-120"/>
              </a:rPr>
              <a:t>237.68</a:t>
            </a:r>
            <a:endParaRPr lang="en-US" sz="1550" dirty="0"/>
          </a:p>
        </p:txBody>
      </p:sp>
      <p:sp>
        <p:nvSpPr>
          <p:cNvPr id="31" name="Text 29"/>
          <p:cNvSpPr/>
          <p:nvPr/>
        </p:nvSpPr>
        <p:spPr>
          <a:xfrm>
            <a:off x="6254496" y="4370832"/>
            <a:ext cx="2350008" cy="539496"/>
          </a:xfrm>
          <a:prstGeom prst="rect">
            <a:avLst/>
          </a:prstGeom>
          <a:noFill/>
          <a:ln/>
        </p:spPr>
        <p:txBody>
          <a:bodyPr wrap="square" rtlCol="0" anchor="t"/>
          <a:lstStyle/>
          <a:p>
            <a:pPr indent="0" marL="0">
              <a:lnSpc>
                <a:spcPct val="108000"/>
              </a:lnSpc>
              <a:buNone/>
            </a:pPr>
            <a:r>
              <a:rPr lang="en-US" sz="830" dirty="0">
                <a:solidFill>
                  <a:srgbClr val="FFFFFF"/>
                </a:solidFill>
                <a:latin typeface="Calibri" pitchFamily="34" charset="0"/>
                <a:ea typeface="Calibri" pitchFamily="34" charset="-122"/>
                <a:cs typeface="Calibri" pitchFamily="34" charset="-120"/>
              </a:rPr>
              <a:t>Profit per unit from Copiers, an order of magnitude above every other sub-category on the dashboard.</a:t>
            </a:r>
            <a:endParaRPr lang="en-US" sz="830" dirty="0"/>
          </a:p>
        </p:txBody>
      </p:sp>
      <p:sp>
        <p:nvSpPr>
          <p:cNvPr id="32" name="Shape 30"/>
          <p:cNvSpPr/>
          <p:nvPr/>
        </p:nvSpPr>
        <p:spPr>
          <a:xfrm>
            <a:off x="8915400" y="4005072"/>
            <a:ext cx="2606040" cy="960120"/>
          </a:xfrm>
          <a:prstGeom prst="roundRect">
            <a:avLst>
              <a:gd name="adj" fmla="val 5714"/>
            </a:avLst>
          </a:prstGeom>
          <a:solidFill>
            <a:srgbClr val="232C6B"/>
          </a:solidFill>
          <a:ln/>
        </p:spPr>
      </p:sp>
      <p:sp>
        <p:nvSpPr>
          <p:cNvPr id="33" name="Text 31"/>
          <p:cNvSpPr/>
          <p:nvPr/>
        </p:nvSpPr>
        <p:spPr>
          <a:xfrm>
            <a:off x="9043416" y="4078224"/>
            <a:ext cx="2350008" cy="292608"/>
          </a:xfrm>
          <a:prstGeom prst="rect">
            <a:avLst/>
          </a:prstGeom>
          <a:noFill/>
          <a:ln/>
        </p:spPr>
        <p:txBody>
          <a:bodyPr wrap="square" rtlCol="0" anchor="ctr"/>
          <a:lstStyle/>
          <a:p>
            <a:pPr indent="0" marL="0">
              <a:buNone/>
            </a:pPr>
            <a:r>
              <a:rPr lang="en-US" sz="1550" b="1" dirty="0">
                <a:solidFill>
                  <a:srgbClr val="CADCFC"/>
                </a:solidFill>
                <a:latin typeface="Cambria" pitchFamily="34" charset="0"/>
                <a:ea typeface="Cambria" pitchFamily="34" charset="-122"/>
                <a:cs typeface="Cambria" pitchFamily="34" charset="-120"/>
              </a:rPr>
              <a:t>59.77%</a:t>
            </a:r>
            <a:endParaRPr lang="en-US" sz="1550" dirty="0"/>
          </a:p>
        </p:txBody>
      </p:sp>
      <p:sp>
        <p:nvSpPr>
          <p:cNvPr id="34" name="Text 32"/>
          <p:cNvSpPr/>
          <p:nvPr/>
        </p:nvSpPr>
        <p:spPr>
          <a:xfrm>
            <a:off x="9043416" y="4370832"/>
            <a:ext cx="2350008" cy="539496"/>
          </a:xfrm>
          <a:prstGeom prst="rect">
            <a:avLst/>
          </a:prstGeom>
          <a:noFill/>
          <a:ln/>
        </p:spPr>
        <p:txBody>
          <a:bodyPr wrap="square" rtlCol="0" anchor="t"/>
          <a:lstStyle/>
          <a:p>
            <a:pPr indent="0" marL="0">
              <a:lnSpc>
                <a:spcPct val="108000"/>
              </a:lnSpc>
              <a:buNone/>
            </a:pPr>
            <a:r>
              <a:rPr lang="en-US" sz="830" dirty="0">
                <a:solidFill>
                  <a:srgbClr val="FFFFFF"/>
                </a:solidFill>
                <a:latin typeface="Calibri" pitchFamily="34" charset="0"/>
                <a:ea typeface="Calibri" pitchFamily="34" charset="-122"/>
                <a:cs typeface="Calibri" pitchFamily="34" charset="-120"/>
              </a:rPr>
              <a:t>Of orders ship via Standard Class at 42 days average — the single biggest lever on delivery speed.</a:t>
            </a:r>
            <a:endParaRPr lang="en-US" sz="830" dirty="0"/>
          </a:p>
        </p:txBody>
      </p:sp>
      <p:sp>
        <p:nvSpPr>
          <p:cNvPr id="35" name="Shape 33"/>
          <p:cNvSpPr/>
          <p:nvPr/>
        </p:nvSpPr>
        <p:spPr>
          <a:xfrm>
            <a:off x="6126480" y="5056632"/>
            <a:ext cx="2606040" cy="960120"/>
          </a:xfrm>
          <a:prstGeom prst="roundRect">
            <a:avLst>
              <a:gd name="adj" fmla="val 5714"/>
            </a:avLst>
          </a:prstGeom>
          <a:solidFill>
            <a:srgbClr val="232C6B"/>
          </a:solidFill>
          <a:ln/>
        </p:spPr>
      </p:sp>
      <p:sp>
        <p:nvSpPr>
          <p:cNvPr id="36" name="Text 34"/>
          <p:cNvSpPr/>
          <p:nvPr/>
        </p:nvSpPr>
        <p:spPr>
          <a:xfrm>
            <a:off x="6254496" y="5129784"/>
            <a:ext cx="2350008" cy="292608"/>
          </a:xfrm>
          <a:prstGeom prst="rect">
            <a:avLst/>
          </a:prstGeom>
          <a:noFill/>
          <a:ln/>
        </p:spPr>
        <p:txBody>
          <a:bodyPr wrap="square" rtlCol="0" anchor="ctr"/>
          <a:lstStyle/>
          <a:p>
            <a:pPr indent="0" marL="0">
              <a:buNone/>
            </a:pPr>
            <a:r>
              <a:rPr lang="en-US" sz="1550" b="1" dirty="0">
                <a:solidFill>
                  <a:srgbClr val="CADCFC"/>
                </a:solidFill>
                <a:latin typeface="Cambria" pitchFamily="34" charset="0"/>
                <a:ea typeface="Cambria" pitchFamily="34" charset="-122"/>
                <a:cs typeface="Cambria" pitchFamily="34" charset="-120"/>
              </a:rPr>
              <a:t>5.91%</a:t>
            </a:r>
            <a:endParaRPr lang="en-US" sz="1550" dirty="0"/>
          </a:p>
        </p:txBody>
      </p:sp>
      <p:sp>
        <p:nvSpPr>
          <p:cNvPr id="37" name="Text 35"/>
          <p:cNvSpPr/>
          <p:nvPr/>
        </p:nvSpPr>
        <p:spPr>
          <a:xfrm>
            <a:off x="6254496" y="5422392"/>
            <a:ext cx="2350008" cy="539496"/>
          </a:xfrm>
          <a:prstGeom prst="rect">
            <a:avLst/>
          </a:prstGeom>
          <a:noFill/>
          <a:ln/>
        </p:spPr>
        <p:txBody>
          <a:bodyPr wrap="square" rtlCol="0" anchor="t"/>
          <a:lstStyle/>
          <a:p>
            <a:pPr indent="0" marL="0">
              <a:lnSpc>
                <a:spcPct val="108000"/>
              </a:lnSpc>
              <a:buNone/>
            </a:pPr>
            <a:r>
              <a:rPr lang="en-US" sz="830" dirty="0">
                <a:solidFill>
                  <a:srgbClr val="FFFFFF"/>
                </a:solidFill>
                <a:latin typeface="Calibri" pitchFamily="34" charset="0"/>
                <a:ea typeface="Calibri" pitchFamily="34" charset="-122"/>
                <a:cs typeface="Calibri" pitchFamily="34" charset="-120"/>
              </a:rPr>
              <a:t>Return Rate; returned orders carry just 0.02M profit vs. 0.26M for kept orders — margin is concentrated in kept sales.</a:t>
            </a:r>
            <a:endParaRPr lang="en-US" sz="830" dirty="0"/>
          </a:p>
        </p:txBody>
      </p:sp>
      <p:sp>
        <p:nvSpPr>
          <p:cNvPr id="38" name="Shape 36"/>
          <p:cNvSpPr/>
          <p:nvPr/>
        </p:nvSpPr>
        <p:spPr>
          <a:xfrm>
            <a:off x="8915400" y="5056632"/>
            <a:ext cx="2606040" cy="960120"/>
          </a:xfrm>
          <a:prstGeom prst="roundRect">
            <a:avLst>
              <a:gd name="adj" fmla="val 5714"/>
            </a:avLst>
          </a:prstGeom>
          <a:solidFill>
            <a:srgbClr val="232C6B"/>
          </a:solidFill>
          <a:ln/>
        </p:spPr>
      </p:sp>
      <p:sp>
        <p:nvSpPr>
          <p:cNvPr id="39" name="Text 37"/>
          <p:cNvSpPr/>
          <p:nvPr/>
        </p:nvSpPr>
        <p:spPr>
          <a:xfrm>
            <a:off x="9043416" y="5129784"/>
            <a:ext cx="2350008" cy="292608"/>
          </a:xfrm>
          <a:prstGeom prst="rect">
            <a:avLst/>
          </a:prstGeom>
          <a:noFill/>
          <a:ln/>
        </p:spPr>
        <p:txBody>
          <a:bodyPr wrap="square" rtlCol="0" anchor="ctr"/>
          <a:lstStyle/>
          <a:p>
            <a:pPr indent="0" marL="0">
              <a:buNone/>
            </a:pPr>
            <a:r>
              <a:rPr lang="en-US" sz="1550" b="1" dirty="0">
                <a:solidFill>
                  <a:srgbClr val="CADCFC"/>
                </a:solidFill>
                <a:latin typeface="Cambria" pitchFamily="34" charset="0"/>
                <a:ea typeface="Cambria" pitchFamily="34" charset="-122"/>
                <a:cs typeface="Cambria" pitchFamily="34" charset="-120"/>
              </a:rPr>
              <a:t>Furniture</a:t>
            </a:r>
            <a:endParaRPr lang="en-US" sz="1550" dirty="0"/>
          </a:p>
        </p:txBody>
      </p:sp>
      <p:sp>
        <p:nvSpPr>
          <p:cNvPr id="40" name="Text 38"/>
          <p:cNvSpPr/>
          <p:nvPr/>
        </p:nvSpPr>
        <p:spPr>
          <a:xfrm>
            <a:off x="9043416" y="5422392"/>
            <a:ext cx="2350008" cy="539496"/>
          </a:xfrm>
          <a:prstGeom prst="rect">
            <a:avLst/>
          </a:prstGeom>
          <a:noFill/>
          <a:ln/>
        </p:spPr>
        <p:txBody>
          <a:bodyPr wrap="square" rtlCol="0" anchor="t"/>
          <a:lstStyle/>
          <a:p>
            <a:pPr indent="0" marL="0">
              <a:lnSpc>
                <a:spcPct val="108000"/>
              </a:lnSpc>
              <a:buNone/>
            </a:pPr>
            <a:r>
              <a:rPr lang="en-US" sz="830" dirty="0">
                <a:solidFill>
                  <a:srgbClr val="FFFFFF"/>
                </a:solidFill>
                <a:latin typeface="Calibri" pitchFamily="34" charset="0"/>
                <a:ea typeface="Calibri" pitchFamily="34" charset="-122"/>
                <a:cs typeface="Calibri" pitchFamily="34" charset="-120"/>
              </a:rPr>
              <a:t>Combines the deepest average discount with the weakest category profit — the clearest discount-policy target.</a:t>
            </a:r>
            <a:endParaRPr lang="en-US" sz="830" dirty="0"/>
          </a:p>
        </p:txBody>
      </p:sp>
      <p:sp>
        <p:nvSpPr>
          <p:cNvPr id="41" name="Text 39"/>
          <p:cNvSpPr/>
          <p:nvPr/>
        </p:nvSpPr>
        <p:spPr>
          <a:xfrm>
            <a:off x="457200" y="6473952"/>
            <a:ext cx="7315200" cy="274320"/>
          </a:xfrm>
          <a:prstGeom prst="rect">
            <a:avLst/>
          </a:prstGeom>
          <a:noFill/>
          <a:ln/>
        </p:spPr>
        <p:txBody>
          <a:bodyPr wrap="square" rtlCol="0" anchor="ctr"/>
          <a:lstStyle/>
          <a:p>
            <a:pPr indent="0" marL="0">
              <a:buNone/>
            </a:pPr>
            <a:r>
              <a:rPr lang="en-US" sz="900" i="1" dirty="0">
                <a:solidFill>
                  <a:srgbClr val="5B6B8C"/>
                </a:solidFill>
                <a:latin typeface="Calibri" pitchFamily="34" charset="0"/>
                <a:ea typeface="Calibri" pitchFamily="34" charset="-122"/>
                <a:cs typeface="Calibri" pitchFamily="34" charset="-120"/>
              </a:rPr>
              <a:t>Supply Chain Visibility &amp; Optimization  •  Pendyala Venkata Bharath</a:t>
            </a:r>
            <a:endParaRPr lang="en-US" sz="900" dirty="0"/>
          </a:p>
        </p:txBody>
      </p:sp>
      <p:sp>
        <p:nvSpPr>
          <p:cNvPr id="42" name="Text 40"/>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E2761"/>
          </a:solidFill>
          <a:ln/>
        </p:spPr>
      </p:sp>
      <p:sp>
        <p:nvSpPr>
          <p:cNvPr id="3" name="Text 1"/>
          <p:cNvSpPr/>
          <p:nvPr/>
        </p:nvSpPr>
        <p:spPr>
          <a:xfrm>
            <a:off x="548640" y="201168"/>
            <a:ext cx="914400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Conclusion</a:t>
            </a:r>
            <a:endParaRPr lang="en-US" sz="3000" dirty="0"/>
          </a:p>
        </p:txBody>
      </p:sp>
      <p:sp>
        <p:nvSpPr>
          <p:cNvPr id="4" name="Shape 2"/>
          <p:cNvSpPr/>
          <p:nvPr/>
        </p:nvSpPr>
        <p:spPr>
          <a:xfrm>
            <a:off x="548640" y="1325880"/>
            <a:ext cx="11109960" cy="1051560"/>
          </a:xfrm>
          <a:prstGeom prst="roundRect">
            <a:avLst>
              <a:gd name="adj" fmla="val 6957"/>
            </a:avLst>
          </a:prstGeom>
          <a:solidFill>
            <a:srgbClr val="F4F6FB"/>
          </a:solidFill>
          <a:ln/>
        </p:spPr>
      </p:sp>
      <p:sp>
        <p:nvSpPr>
          <p:cNvPr id="5" name="Text 3"/>
          <p:cNvSpPr/>
          <p:nvPr/>
        </p:nvSpPr>
        <p:spPr>
          <a:xfrm>
            <a:off x="868680" y="1463040"/>
            <a:ext cx="10469880" cy="822960"/>
          </a:xfrm>
          <a:prstGeom prst="rect">
            <a:avLst/>
          </a:prstGeom>
          <a:noFill/>
          <a:ln/>
        </p:spPr>
        <p:txBody>
          <a:bodyPr wrap="square" rtlCol="0" anchor="ctr"/>
          <a:lstStyle/>
          <a:p>
            <a:pPr indent="0" marL="0">
              <a:lnSpc>
                <a:spcPct val="118000"/>
              </a:lnSpc>
              <a:buNone/>
            </a:pPr>
            <a:r>
              <a:rPr lang="en-US" sz="1350" b="1" dirty="0">
                <a:solidFill>
                  <a:srgbClr val="1E2761"/>
                </a:solidFill>
                <a:latin typeface="Calibri" pitchFamily="34" charset="0"/>
                <a:ea typeface="Calibri" pitchFamily="34" charset="-122"/>
                <a:cs typeface="Calibri" pitchFamily="34" charset="-120"/>
              </a:rPr>
              <a:t>Supply Chain Visibility &amp; Optimization </a:t>
            </a:r>
            <a:pPr indent="0" marL="0">
              <a:lnSpc>
                <a:spcPct val="118000"/>
              </a:lnSpc>
              <a:buNone/>
            </a:pPr>
            <a:r>
              <a:rPr lang="en-US" sz="1350" dirty="0">
                <a:solidFill>
                  <a:srgbClr val="1B1F2E"/>
                </a:solidFill>
                <a:latin typeface="Calibri" pitchFamily="34" charset="0"/>
                <a:ea typeface="Calibri" pitchFamily="34" charset="-122"/>
                <a:cs typeface="Calibri" pitchFamily="34" charset="-120"/>
              </a:rPr>
              <a:t>— across four connected milestones I transformed a raw, scattered Kaggle CSV export into a governed, seven-page interactive Power BI dashboard suite, giving supply chain and sales stakeholders one trustworthy source of truth for decision-making.</a:t>
            </a:r>
            <a:endParaRPr lang="en-US" sz="1350" dirty="0"/>
          </a:p>
        </p:txBody>
      </p:sp>
      <p:sp>
        <p:nvSpPr>
          <p:cNvPr id="6" name="Text 4"/>
          <p:cNvSpPr/>
          <p:nvPr/>
        </p:nvSpPr>
        <p:spPr>
          <a:xfrm>
            <a:off x="548640" y="2606040"/>
            <a:ext cx="5120640" cy="457200"/>
          </a:xfrm>
          <a:prstGeom prst="rect">
            <a:avLst/>
          </a:prstGeom>
          <a:noFill/>
          <a:ln/>
        </p:spPr>
        <p:txBody>
          <a:bodyPr wrap="square" rtlCol="0" anchor="ctr"/>
          <a:lstStyle/>
          <a:p>
            <a:pPr indent="0" marL="0">
              <a:buNone/>
            </a:pPr>
            <a:r>
              <a:rPr lang="en-US" sz="1300" b="1" spc="200" kern="0" dirty="0">
                <a:solidFill>
                  <a:srgbClr val="C2542D"/>
                </a:solidFill>
                <a:latin typeface="Calibri" pitchFamily="34" charset="0"/>
                <a:ea typeface="Calibri" pitchFamily="34" charset="-122"/>
                <a:cs typeface="Calibri" pitchFamily="34" charset="-120"/>
              </a:rPr>
              <a:t>TECHNICAL SKILLS</a:t>
            </a:r>
            <a:endParaRPr lang="en-US" sz="1300" dirty="0"/>
          </a:p>
        </p:txBody>
      </p:sp>
      <p:sp>
        <p:nvSpPr>
          <p:cNvPr id="7" name="Shape 5"/>
          <p:cNvSpPr/>
          <p:nvPr/>
        </p:nvSpPr>
        <p:spPr>
          <a:xfrm>
            <a:off x="566928" y="3044952"/>
            <a:ext cx="118872" cy="118872"/>
          </a:xfrm>
          <a:prstGeom prst="ellipse">
            <a:avLst/>
          </a:prstGeom>
          <a:solidFill>
            <a:srgbClr val="C2542D"/>
          </a:solidFill>
          <a:ln/>
        </p:spPr>
      </p:sp>
      <p:sp>
        <p:nvSpPr>
          <p:cNvPr id="8" name="Text 6"/>
          <p:cNvSpPr/>
          <p:nvPr/>
        </p:nvSpPr>
        <p:spPr>
          <a:xfrm>
            <a:off x="896112" y="2935224"/>
            <a:ext cx="5029200" cy="329184"/>
          </a:xfrm>
          <a:prstGeom prst="rect">
            <a:avLst/>
          </a:prstGeom>
          <a:noFill/>
          <a:ln/>
        </p:spPr>
        <p:txBody>
          <a:bodyPr wrap="square" rtlCol="0" anchor="t"/>
          <a:lstStyle/>
          <a:p>
            <a:pPr indent="0" marL="0">
              <a:lnSpc>
                <a:spcPct val="108000"/>
              </a:lnSpc>
              <a:buNone/>
            </a:pPr>
            <a:r>
              <a:rPr lang="en-US" sz="1080" dirty="0">
                <a:solidFill>
                  <a:srgbClr val="1B1F2E"/>
                </a:solidFill>
                <a:latin typeface="Calibri" pitchFamily="34" charset="0"/>
                <a:ea typeface="Calibri" pitchFamily="34" charset="-122"/>
                <a:cs typeface="Calibri" pitchFamily="34" charset="-120"/>
              </a:rPr>
              <a:t>Power BI Desktop, Power Query &amp; Star-Schema Data Modeling</a:t>
            </a:r>
            <a:endParaRPr lang="en-US" sz="1080" dirty="0"/>
          </a:p>
        </p:txBody>
      </p:sp>
      <p:sp>
        <p:nvSpPr>
          <p:cNvPr id="9" name="Shape 7"/>
          <p:cNvSpPr/>
          <p:nvPr/>
        </p:nvSpPr>
        <p:spPr>
          <a:xfrm>
            <a:off x="566928" y="3429000"/>
            <a:ext cx="118872" cy="118872"/>
          </a:xfrm>
          <a:prstGeom prst="ellipse">
            <a:avLst/>
          </a:prstGeom>
          <a:solidFill>
            <a:srgbClr val="C2542D"/>
          </a:solidFill>
          <a:ln/>
        </p:spPr>
      </p:sp>
      <p:sp>
        <p:nvSpPr>
          <p:cNvPr id="10" name="Text 8"/>
          <p:cNvSpPr/>
          <p:nvPr/>
        </p:nvSpPr>
        <p:spPr>
          <a:xfrm>
            <a:off x="896112" y="3319272"/>
            <a:ext cx="5029200" cy="329184"/>
          </a:xfrm>
          <a:prstGeom prst="rect">
            <a:avLst/>
          </a:prstGeom>
          <a:noFill/>
          <a:ln/>
        </p:spPr>
        <p:txBody>
          <a:bodyPr wrap="square" rtlCol="0" anchor="t"/>
          <a:lstStyle/>
          <a:p>
            <a:pPr indent="0" marL="0">
              <a:lnSpc>
                <a:spcPct val="108000"/>
              </a:lnSpc>
              <a:buNone/>
            </a:pPr>
            <a:r>
              <a:rPr lang="en-US" sz="1080" dirty="0">
                <a:solidFill>
                  <a:srgbClr val="1B1F2E"/>
                </a:solidFill>
                <a:latin typeface="Calibri" pitchFamily="34" charset="0"/>
                <a:ea typeface="Calibri" pitchFamily="34" charset="-122"/>
                <a:cs typeface="Calibri" pitchFamily="34" charset="-120"/>
              </a:rPr>
              <a:t>DAX Measure Design — sums, ratios &amp; FILTER/COUNTROWS order-level logic</a:t>
            </a:r>
            <a:endParaRPr lang="en-US" sz="1080" dirty="0"/>
          </a:p>
        </p:txBody>
      </p:sp>
      <p:sp>
        <p:nvSpPr>
          <p:cNvPr id="11" name="Shape 9"/>
          <p:cNvSpPr/>
          <p:nvPr/>
        </p:nvSpPr>
        <p:spPr>
          <a:xfrm>
            <a:off x="566928" y="3813048"/>
            <a:ext cx="118872" cy="118872"/>
          </a:xfrm>
          <a:prstGeom prst="ellipse">
            <a:avLst/>
          </a:prstGeom>
          <a:solidFill>
            <a:srgbClr val="C2542D"/>
          </a:solidFill>
          <a:ln/>
        </p:spPr>
      </p:sp>
      <p:sp>
        <p:nvSpPr>
          <p:cNvPr id="12" name="Text 10"/>
          <p:cNvSpPr/>
          <p:nvPr/>
        </p:nvSpPr>
        <p:spPr>
          <a:xfrm>
            <a:off x="896112" y="3703320"/>
            <a:ext cx="5029200" cy="329184"/>
          </a:xfrm>
          <a:prstGeom prst="rect">
            <a:avLst/>
          </a:prstGeom>
          <a:noFill/>
          <a:ln/>
        </p:spPr>
        <p:txBody>
          <a:bodyPr wrap="square" rtlCol="0" anchor="t"/>
          <a:lstStyle/>
          <a:p>
            <a:pPr indent="0" marL="0">
              <a:lnSpc>
                <a:spcPct val="108000"/>
              </a:lnSpc>
              <a:buNone/>
            </a:pPr>
            <a:r>
              <a:rPr lang="en-US" sz="1080" dirty="0">
                <a:solidFill>
                  <a:srgbClr val="1B1F2E"/>
                </a:solidFill>
                <a:latin typeface="Calibri" pitchFamily="34" charset="0"/>
                <a:ea typeface="Calibri" pitchFamily="34" charset="-122"/>
                <a:cs typeface="Calibri" pitchFamily="34" charset="-120"/>
              </a:rPr>
              <a:t>Data Cleaning &amp; Cross-Filtered / Drill-Through Dashboard Design</a:t>
            </a:r>
            <a:endParaRPr lang="en-US" sz="1080" dirty="0"/>
          </a:p>
        </p:txBody>
      </p:sp>
      <p:sp>
        <p:nvSpPr>
          <p:cNvPr id="13" name="Shape 11"/>
          <p:cNvSpPr/>
          <p:nvPr/>
        </p:nvSpPr>
        <p:spPr>
          <a:xfrm>
            <a:off x="566928" y="4197096"/>
            <a:ext cx="118872" cy="118872"/>
          </a:xfrm>
          <a:prstGeom prst="ellipse">
            <a:avLst/>
          </a:prstGeom>
          <a:solidFill>
            <a:srgbClr val="C2542D"/>
          </a:solidFill>
          <a:ln/>
        </p:spPr>
      </p:sp>
      <p:sp>
        <p:nvSpPr>
          <p:cNvPr id="14" name="Text 12"/>
          <p:cNvSpPr/>
          <p:nvPr/>
        </p:nvSpPr>
        <p:spPr>
          <a:xfrm>
            <a:off x="896112" y="4087368"/>
            <a:ext cx="5029200" cy="329184"/>
          </a:xfrm>
          <a:prstGeom prst="rect">
            <a:avLst/>
          </a:prstGeom>
          <a:noFill/>
          <a:ln/>
        </p:spPr>
        <p:txBody>
          <a:bodyPr wrap="square" rtlCol="0" anchor="t"/>
          <a:lstStyle/>
          <a:p>
            <a:pPr indent="0" marL="0">
              <a:lnSpc>
                <a:spcPct val="108000"/>
              </a:lnSpc>
              <a:buNone/>
            </a:pPr>
            <a:r>
              <a:rPr lang="en-US" sz="1080" dirty="0">
                <a:solidFill>
                  <a:srgbClr val="1B1F2E"/>
                </a:solidFill>
                <a:latin typeface="Calibri" pitchFamily="34" charset="0"/>
                <a:ea typeface="Calibri" pitchFamily="34" charset="-122"/>
                <a:cs typeface="Calibri" pitchFamily="34" charset="-120"/>
              </a:rPr>
              <a:t>Visual-Type Selection Matched to the Business Question</a:t>
            </a:r>
            <a:endParaRPr lang="en-US" sz="1080" dirty="0"/>
          </a:p>
        </p:txBody>
      </p:sp>
      <p:sp>
        <p:nvSpPr>
          <p:cNvPr id="15" name="Shape 13"/>
          <p:cNvSpPr/>
          <p:nvPr/>
        </p:nvSpPr>
        <p:spPr>
          <a:xfrm>
            <a:off x="566928" y="4581144"/>
            <a:ext cx="118872" cy="118872"/>
          </a:xfrm>
          <a:prstGeom prst="ellipse">
            <a:avLst/>
          </a:prstGeom>
          <a:solidFill>
            <a:srgbClr val="C2542D"/>
          </a:solidFill>
          <a:ln/>
        </p:spPr>
      </p:sp>
      <p:sp>
        <p:nvSpPr>
          <p:cNvPr id="16" name="Text 14"/>
          <p:cNvSpPr/>
          <p:nvPr/>
        </p:nvSpPr>
        <p:spPr>
          <a:xfrm>
            <a:off x="896112" y="4471416"/>
            <a:ext cx="5029200" cy="329184"/>
          </a:xfrm>
          <a:prstGeom prst="rect">
            <a:avLst/>
          </a:prstGeom>
          <a:noFill/>
          <a:ln/>
        </p:spPr>
        <p:txBody>
          <a:bodyPr wrap="square" rtlCol="0" anchor="t"/>
          <a:lstStyle/>
          <a:p>
            <a:pPr indent="0" marL="0">
              <a:lnSpc>
                <a:spcPct val="108000"/>
              </a:lnSpc>
              <a:buNone/>
            </a:pPr>
            <a:r>
              <a:rPr lang="en-US" sz="1080" dirty="0">
                <a:solidFill>
                  <a:srgbClr val="1B1F2E"/>
                </a:solidFill>
                <a:latin typeface="Calibri" pitchFamily="34" charset="0"/>
                <a:ea typeface="Calibri" pitchFamily="34" charset="-122"/>
                <a:cs typeface="Calibri" pitchFamily="34" charset="-120"/>
              </a:rPr>
              <a:t>Version Control &amp; Team Workflow via GitHub, GitLab, Microsoft Teams</a:t>
            </a:r>
            <a:endParaRPr lang="en-US" sz="1080" dirty="0"/>
          </a:p>
        </p:txBody>
      </p:sp>
      <p:sp>
        <p:nvSpPr>
          <p:cNvPr id="17" name="Text 15"/>
          <p:cNvSpPr/>
          <p:nvPr/>
        </p:nvSpPr>
        <p:spPr>
          <a:xfrm>
            <a:off x="6309360" y="2651760"/>
            <a:ext cx="5120640" cy="457200"/>
          </a:xfrm>
          <a:prstGeom prst="rect">
            <a:avLst/>
          </a:prstGeom>
          <a:noFill/>
          <a:ln/>
        </p:spPr>
        <p:txBody>
          <a:bodyPr wrap="square" rtlCol="0" anchor="ctr"/>
          <a:lstStyle/>
          <a:p>
            <a:pPr indent="0" marL="0">
              <a:buNone/>
            </a:pPr>
            <a:r>
              <a:rPr lang="en-US" sz="1300" b="1" spc="200" kern="0" dirty="0">
                <a:solidFill>
                  <a:srgbClr val="1E2761"/>
                </a:solidFill>
                <a:latin typeface="Calibri" pitchFamily="34" charset="0"/>
                <a:ea typeface="Calibri" pitchFamily="34" charset="-122"/>
                <a:cs typeface="Calibri" pitchFamily="34" charset="-120"/>
              </a:rPr>
              <a:t>SOFT SKILLS</a:t>
            </a:r>
            <a:endParaRPr lang="en-US" sz="1300" dirty="0"/>
          </a:p>
        </p:txBody>
      </p:sp>
      <p:sp>
        <p:nvSpPr>
          <p:cNvPr id="18" name="Shape 16"/>
          <p:cNvSpPr/>
          <p:nvPr/>
        </p:nvSpPr>
        <p:spPr>
          <a:xfrm>
            <a:off x="6309360" y="3200400"/>
            <a:ext cx="2514600" cy="777240"/>
          </a:xfrm>
          <a:prstGeom prst="roundRect">
            <a:avLst>
              <a:gd name="adj" fmla="val 11765"/>
            </a:avLst>
          </a:prstGeom>
          <a:solidFill>
            <a:srgbClr val="1E2761"/>
          </a:solidFill>
          <a:ln/>
        </p:spPr>
      </p:sp>
      <p:sp>
        <p:nvSpPr>
          <p:cNvPr id="19" name="Text 17"/>
          <p:cNvSpPr/>
          <p:nvPr/>
        </p:nvSpPr>
        <p:spPr>
          <a:xfrm>
            <a:off x="6309360" y="3200400"/>
            <a:ext cx="2514600" cy="7772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Problem Solving</a:t>
            </a:r>
            <a:endParaRPr lang="en-US" sz="1400" dirty="0"/>
          </a:p>
        </p:txBody>
      </p:sp>
      <p:sp>
        <p:nvSpPr>
          <p:cNvPr id="20" name="Shape 18"/>
          <p:cNvSpPr/>
          <p:nvPr/>
        </p:nvSpPr>
        <p:spPr>
          <a:xfrm>
            <a:off x="9098280" y="3200400"/>
            <a:ext cx="2514600" cy="777240"/>
          </a:xfrm>
          <a:prstGeom prst="roundRect">
            <a:avLst>
              <a:gd name="adj" fmla="val 11765"/>
            </a:avLst>
          </a:prstGeom>
          <a:solidFill>
            <a:srgbClr val="1E2761"/>
          </a:solidFill>
          <a:ln/>
        </p:spPr>
      </p:sp>
      <p:sp>
        <p:nvSpPr>
          <p:cNvPr id="21" name="Text 19"/>
          <p:cNvSpPr/>
          <p:nvPr/>
        </p:nvSpPr>
        <p:spPr>
          <a:xfrm>
            <a:off x="9098280" y="3200400"/>
            <a:ext cx="2514600" cy="7772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Communication</a:t>
            </a:r>
            <a:endParaRPr lang="en-US" sz="1400" dirty="0"/>
          </a:p>
        </p:txBody>
      </p:sp>
      <p:sp>
        <p:nvSpPr>
          <p:cNvPr id="22" name="Shape 20"/>
          <p:cNvSpPr/>
          <p:nvPr/>
        </p:nvSpPr>
        <p:spPr>
          <a:xfrm>
            <a:off x="6309360" y="4251960"/>
            <a:ext cx="2514600" cy="777240"/>
          </a:xfrm>
          <a:prstGeom prst="roundRect">
            <a:avLst>
              <a:gd name="adj" fmla="val 11765"/>
            </a:avLst>
          </a:prstGeom>
          <a:solidFill>
            <a:srgbClr val="1E2761"/>
          </a:solidFill>
          <a:ln/>
        </p:spPr>
      </p:sp>
      <p:sp>
        <p:nvSpPr>
          <p:cNvPr id="23" name="Text 21"/>
          <p:cNvSpPr/>
          <p:nvPr/>
        </p:nvSpPr>
        <p:spPr>
          <a:xfrm>
            <a:off x="6309360" y="4251960"/>
            <a:ext cx="2514600" cy="7772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Teamwork</a:t>
            </a:r>
            <a:endParaRPr lang="en-US" sz="1400" dirty="0"/>
          </a:p>
        </p:txBody>
      </p:sp>
      <p:sp>
        <p:nvSpPr>
          <p:cNvPr id="24" name="Shape 22"/>
          <p:cNvSpPr/>
          <p:nvPr/>
        </p:nvSpPr>
        <p:spPr>
          <a:xfrm>
            <a:off x="9098280" y="4251960"/>
            <a:ext cx="2514600" cy="777240"/>
          </a:xfrm>
          <a:prstGeom prst="roundRect">
            <a:avLst>
              <a:gd name="adj" fmla="val 11765"/>
            </a:avLst>
          </a:prstGeom>
          <a:solidFill>
            <a:srgbClr val="1E2761"/>
          </a:solidFill>
          <a:ln/>
        </p:spPr>
      </p:sp>
      <p:sp>
        <p:nvSpPr>
          <p:cNvPr id="25" name="Text 23"/>
          <p:cNvSpPr/>
          <p:nvPr/>
        </p:nvSpPr>
        <p:spPr>
          <a:xfrm>
            <a:off x="9098280" y="4251960"/>
            <a:ext cx="2514600" cy="7772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Presentation</a:t>
            </a:r>
            <a:endParaRPr lang="en-US" sz="1400" dirty="0"/>
          </a:p>
        </p:txBody>
      </p:sp>
      <p:sp>
        <p:nvSpPr>
          <p:cNvPr id="26" name="Shape 24"/>
          <p:cNvSpPr/>
          <p:nvPr/>
        </p:nvSpPr>
        <p:spPr>
          <a:xfrm>
            <a:off x="548640" y="5074920"/>
            <a:ext cx="11109960" cy="1051560"/>
          </a:xfrm>
          <a:prstGeom prst="roundRect">
            <a:avLst>
              <a:gd name="adj" fmla="val 6957"/>
            </a:avLst>
          </a:prstGeom>
          <a:solidFill>
            <a:srgbClr val="F4EFE7"/>
          </a:solidFill>
          <a:ln/>
        </p:spPr>
      </p:sp>
      <p:sp>
        <p:nvSpPr>
          <p:cNvPr id="27" name="Text 25"/>
          <p:cNvSpPr/>
          <p:nvPr/>
        </p:nvSpPr>
        <p:spPr>
          <a:xfrm>
            <a:off x="822960" y="5175504"/>
            <a:ext cx="3657600" cy="256032"/>
          </a:xfrm>
          <a:prstGeom prst="rect">
            <a:avLst/>
          </a:prstGeom>
          <a:noFill/>
          <a:ln/>
        </p:spPr>
        <p:txBody>
          <a:bodyPr wrap="square" rtlCol="0" anchor="ctr"/>
          <a:lstStyle/>
          <a:p>
            <a:pPr indent="0" marL="0">
              <a:buNone/>
            </a:pPr>
            <a:r>
              <a:rPr lang="en-US" sz="1050" b="1" spc="200" kern="0" dirty="0">
                <a:solidFill>
                  <a:srgbClr val="C2542D"/>
                </a:solidFill>
                <a:latin typeface="Calibri" pitchFamily="34" charset="0"/>
                <a:ea typeface="Calibri" pitchFamily="34" charset="-122"/>
                <a:cs typeface="Calibri" pitchFamily="34" charset="-120"/>
              </a:rPr>
              <a:t>KEY LEARNINGS</a:t>
            </a:r>
            <a:endParaRPr lang="en-US" sz="1050" dirty="0"/>
          </a:p>
        </p:txBody>
      </p:sp>
      <p:sp>
        <p:nvSpPr>
          <p:cNvPr id="28" name="Text 26"/>
          <p:cNvSpPr/>
          <p:nvPr/>
        </p:nvSpPr>
        <p:spPr>
          <a:xfrm>
            <a:off x="822960" y="5440680"/>
            <a:ext cx="10561320" cy="621792"/>
          </a:xfrm>
          <a:prstGeom prst="rect">
            <a:avLst/>
          </a:prstGeom>
          <a:noFill/>
          <a:ln/>
        </p:spPr>
        <p:txBody>
          <a:bodyPr wrap="square" rtlCol="0" anchor="t"/>
          <a:lstStyle/>
          <a:p>
            <a:pPr indent="0" marL="0">
              <a:lnSpc>
                <a:spcPct val="115000"/>
              </a:lnSpc>
              <a:buNone/>
            </a:pPr>
            <a:r>
              <a:rPr lang="en-US" sz="1000" dirty="0">
                <a:solidFill>
                  <a:srgbClr val="1B1F2E"/>
                </a:solidFill>
                <a:latin typeface="Calibri" pitchFamily="34" charset="0"/>
                <a:ea typeface="Calibri" pitchFamily="34" charset="-122"/>
                <a:cs typeface="Calibri" pitchFamily="34" charset="-120"/>
              </a:rPr>
              <a:t>Analytical: a strong regional or category total is never trustworthy until checked at the next level of granularity — the discipline that surfaced West-region variation by state.  •  Domain: understanding what "ship mode" and "discount band" mean in a retail operation made it easy to judge whether a visual answered a real business question.  •  Documentation: writing KPI theory alongside the build — not after — caught measure-definition inconsistencies early.</a:t>
            </a:r>
            <a:endParaRPr lang="en-US" sz="1000" dirty="0"/>
          </a:p>
        </p:txBody>
      </p:sp>
      <p:sp>
        <p:nvSpPr>
          <p:cNvPr id="29" name="Text 27"/>
          <p:cNvSpPr/>
          <p:nvPr/>
        </p:nvSpPr>
        <p:spPr>
          <a:xfrm>
            <a:off x="457200" y="6473952"/>
            <a:ext cx="7315200" cy="274320"/>
          </a:xfrm>
          <a:prstGeom prst="rect">
            <a:avLst/>
          </a:prstGeom>
          <a:noFill/>
          <a:ln/>
        </p:spPr>
        <p:txBody>
          <a:bodyPr wrap="square" rtlCol="0" anchor="ctr"/>
          <a:lstStyle/>
          <a:p>
            <a:pPr indent="0" marL="0">
              <a:buNone/>
            </a:pPr>
            <a:r>
              <a:rPr lang="en-US" sz="900" i="1" dirty="0">
                <a:solidFill>
                  <a:srgbClr val="5B6B8C"/>
                </a:solidFill>
                <a:latin typeface="Calibri" pitchFamily="34" charset="0"/>
                <a:ea typeface="Calibri" pitchFamily="34" charset="-122"/>
                <a:cs typeface="Calibri" pitchFamily="34" charset="-120"/>
              </a:rPr>
              <a:t>Supply Chain Visibility &amp; Optimization  •  Pendyala Venkata Bharath</a:t>
            </a:r>
            <a:endParaRPr lang="en-US" sz="900" dirty="0"/>
          </a:p>
        </p:txBody>
      </p:sp>
      <p:sp>
        <p:nvSpPr>
          <p:cNvPr id="30" name="Text 28"/>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E2761"/>
          </a:solidFill>
          <a:ln/>
        </p:spPr>
      </p:sp>
      <p:sp>
        <p:nvSpPr>
          <p:cNvPr id="3" name="Text 1"/>
          <p:cNvSpPr/>
          <p:nvPr/>
        </p:nvSpPr>
        <p:spPr>
          <a:xfrm>
            <a:off x="548640" y="201168"/>
            <a:ext cx="10058400" cy="64008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Acknowledgements &amp; References</a:t>
            </a:r>
            <a:endParaRPr lang="en-US" sz="2800" dirty="0"/>
          </a:p>
        </p:txBody>
      </p:sp>
      <p:sp>
        <p:nvSpPr>
          <p:cNvPr id="4" name="Shape 2"/>
          <p:cNvSpPr/>
          <p:nvPr/>
        </p:nvSpPr>
        <p:spPr>
          <a:xfrm>
            <a:off x="548640" y="1371600"/>
            <a:ext cx="5440680" cy="4892040"/>
          </a:xfrm>
          <a:prstGeom prst="roundRect">
            <a:avLst>
              <a:gd name="adj" fmla="val 1495"/>
            </a:avLst>
          </a:prstGeom>
          <a:solidFill>
            <a:srgbClr val="F4F6FB"/>
          </a:solidFill>
          <a:ln/>
        </p:spPr>
      </p:sp>
      <p:sp>
        <p:nvSpPr>
          <p:cNvPr id="5" name="Text 3"/>
          <p:cNvSpPr/>
          <p:nvPr/>
        </p:nvSpPr>
        <p:spPr>
          <a:xfrm>
            <a:off x="914400" y="1572768"/>
            <a:ext cx="4754880" cy="457200"/>
          </a:xfrm>
          <a:prstGeom prst="rect">
            <a:avLst/>
          </a:prstGeom>
          <a:noFill/>
          <a:ln/>
        </p:spPr>
        <p:txBody>
          <a:bodyPr wrap="square" rtlCol="0" anchor="ctr"/>
          <a:lstStyle/>
          <a:p>
            <a:pPr indent="0" marL="0">
              <a:buNone/>
            </a:pPr>
            <a:r>
              <a:rPr lang="en-US" sz="1300" b="1" spc="200" kern="0" dirty="0">
                <a:solidFill>
                  <a:srgbClr val="C2542D"/>
                </a:solidFill>
                <a:latin typeface="Calibri" pitchFamily="34" charset="0"/>
                <a:ea typeface="Calibri" pitchFamily="34" charset="-122"/>
                <a:cs typeface="Calibri" pitchFamily="34" charset="-120"/>
              </a:rPr>
              <a:t>ACKNOWLEDGEMENTS</a:t>
            </a:r>
            <a:endParaRPr lang="en-US" sz="1300" dirty="0"/>
          </a:p>
        </p:txBody>
      </p:sp>
      <p:sp>
        <p:nvSpPr>
          <p:cNvPr id="6" name="Text 4"/>
          <p:cNvSpPr/>
          <p:nvPr/>
        </p:nvSpPr>
        <p:spPr>
          <a:xfrm>
            <a:off x="914400" y="2011680"/>
            <a:ext cx="4709160" cy="384048"/>
          </a:xfrm>
          <a:prstGeom prst="rect">
            <a:avLst/>
          </a:prstGeom>
          <a:noFill/>
          <a:ln/>
        </p:spPr>
        <p:txBody>
          <a:bodyPr wrap="square" rtlCol="0" anchor="ctr"/>
          <a:lstStyle/>
          <a:p>
            <a:pPr indent="0" marL="0">
              <a:lnSpc>
                <a:spcPct val="105000"/>
              </a:lnSpc>
              <a:buNone/>
            </a:pPr>
            <a:r>
              <a:rPr lang="en-US" sz="1250" b="1" dirty="0">
                <a:solidFill>
                  <a:srgbClr val="1E2761"/>
                </a:solidFill>
                <a:latin typeface="Calibri" pitchFamily="34" charset="0"/>
                <a:ea typeface="Calibri" pitchFamily="34" charset="-122"/>
                <a:cs typeface="Calibri" pitchFamily="34" charset="-120"/>
              </a:rPr>
              <a:t>Infosys Springboard Team</a:t>
            </a:r>
            <a:endParaRPr lang="en-US" sz="1250" dirty="0"/>
          </a:p>
        </p:txBody>
      </p:sp>
      <p:sp>
        <p:nvSpPr>
          <p:cNvPr id="7" name="Text 5"/>
          <p:cNvSpPr/>
          <p:nvPr/>
        </p:nvSpPr>
        <p:spPr>
          <a:xfrm>
            <a:off x="914400" y="2377440"/>
            <a:ext cx="4709160" cy="566928"/>
          </a:xfrm>
          <a:prstGeom prst="rect">
            <a:avLst/>
          </a:prstGeom>
          <a:noFill/>
          <a:ln/>
        </p:spPr>
        <p:txBody>
          <a:bodyPr wrap="square" rtlCol="0" anchor="ctr"/>
          <a:lstStyle/>
          <a:p>
            <a:pPr indent="0" marL="0">
              <a:lnSpc>
                <a:spcPct val="114000"/>
              </a:lnSpc>
              <a:buNone/>
            </a:pPr>
            <a:r>
              <a:rPr lang="en-US" sz="1080" dirty="0">
                <a:solidFill>
                  <a:srgbClr val="1B1F2E"/>
                </a:solidFill>
                <a:latin typeface="Calibri" pitchFamily="34" charset="0"/>
                <a:ea typeface="Calibri" pitchFamily="34" charset="-122"/>
                <a:cs typeface="Calibri" pitchFamily="34" charset="-120"/>
              </a:rPr>
              <a:t>For organizing a structured, industry-aligned virtual internship programme with a milestone-based framework.</a:t>
            </a:r>
            <a:endParaRPr lang="en-US" sz="1080" dirty="0"/>
          </a:p>
        </p:txBody>
      </p:sp>
      <p:sp>
        <p:nvSpPr>
          <p:cNvPr id="8" name="Text 6"/>
          <p:cNvSpPr/>
          <p:nvPr/>
        </p:nvSpPr>
        <p:spPr>
          <a:xfrm>
            <a:off x="914400" y="3090672"/>
            <a:ext cx="4709160" cy="384048"/>
          </a:xfrm>
          <a:prstGeom prst="rect">
            <a:avLst/>
          </a:prstGeom>
          <a:noFill/>
          <a:ln/>
        </p:spPr>
        <p:txBody>
          <a:bodyPr wrap="square" rtlCol="0" anchor="ctr"/>
          <a:lstStyle/>
          <a:p>
            <a:pPr indent="0" marL="0">
              <a:lnSpc>
                <a:spcPct val="105000"/>
              </a:lnSpc>
              <a:buNone/>
            </a:pPr>
            <a:r>
              <a:rPr lang="en-US" sz="1250" b="1" dirty="0">
                <a:solidFill>
                  <a:srgbClr val="1E2761"/>
                </a:solidFill>
                <a:latin typeface="Calibri" pitchFamily="34" charset="0"/>
                <a:ea typeface="Calibri" pitchFamily="34" charset="-122"/>
                <a:cs typeface="Calibri" pitchFamily="34" charset="-120"/>
              </a:rPr>
              <a:t>Ms. Nityasree, Mentor</a:t>
            </a:r>
            <a:endParaRPr lang="en-US" sz="1250" dirty="0"/>
          </a:p>
        </p:txBody>
      </p:sp>
      <p:sp>
        <p:nvSpPr>
          <p:cNvPr id="9" name="Text 7"/>
          <p:cNvSpPr/>
          <p:nvPr/>
        </p:nvSpPr>
        <p:spPr>
          <a:xfrm>
            <a:off x="914400" y="3456432"/>
            <a:ext cx="4709160" cy="566928"/>
          </a:xfrm>
          <a:prstGeom prst="rect">
            <a:avLst/>
          </a:prstGeom>
          <a:noFill/>
          <a:ln/>
        </p:spPr>
        <p:txBody>
          <a:bodyPr wrap="square" rtlCol="0" anchor="ctr"/>
          <a:lstStyle/>
          <a:p>
            <a:pPr indent="0" marL="0">
              <a:lnSpc>
                <a:spcPct val="114000"/>
              </a:lnSpc>
              <a:buNone/>
            </a:pPr>
            <a:r>
              <a:rPr lang="en-US" sz="1080" dirty="0">
                <a:solidFill>
                  <a:srgbClr val="1B1F2E"/>
                </a:solidFill>
                <a:latin typeface="Calibri" pitchFamily="34" charset="0"/>
                <a:ea typeface="Calibri" pitchFamily="34" charset="-122"/>
                <a:cs typeface="Calibri" pitchFamily="34" charset="-120"/>
              </a:rPr>
              <a:t>For consistent guidance, valuable feedback, and continuous encouragement throughout every milestone review.</a:t>
            </a:r>
            <a:endParaRPr lang="en-US" sz="1080" dirty="0"/>
          </a:p>
        </p:txBody>
      </p:sp>
      <p:sp>
        <p:nvSpPr>
          <p:cNvPr id="10" name="Text 8"/>
          <p:cNvSpPr/>
          <p:nvPr/>
        </p:nvSpPr>
        <p:spPr>
          <a:xfrm>
            <a:off x="914400" y="4169664"/>
            <a:ext cx="4709160" cy="384048"/>
          </a:xfrm>
          <a:prstGeom prst="rect">
            <a:avLst/>
          </a:prstGeom>
          <a:noFill/>
          <a:ln/>
        </p:spPr>
        <p:txBody>
          <a:bodyPr wrap="square" rtlCol="0" anchor="ctr"/>
          <a:lstStyle/>
          <a:p>
            <a:pPr indent="0" marL="0">
              <a:lnSpc>
                <a:spcPct val="105000"/>
              </a:lnSpc>
              <a:buNone/>
            </a:pPr>
            <a:r>
              <a:rPr lang="en-US" sz="1250" b="1" dirty="0">
                <a:solidFill>
                  <a:srgbClr val="1E2761"/>
                </a:solidFill>
                <a:latin typeface="Calibri" pitchFamily="34" charset="0"/>
                <a:ea typeface="Calibri" pitchFamily="34" charset="-122"/>
                <a:cs typeface="Calibri" pitchFamily="34" charset="-120"/>
              </a:rPr>
              <a:t>Team B — Manoj, Narayana, P. Shreesha, Prajwal &amp; Priyanshi</a:t>
            </a:r>
            <a:endParaRPr lang="en-US" sz="1250" dirty="0"/>
          </a:p>
        </p:txBody>
      </p:sp>
      <p:sp>
        <p:nvSpPr>
          <p:cNvPr id="11" name="Text 9"/>
          <p:cNvSpPr/>
          <p:nvPr/>
        </p:nvSpPr>
        <p:spPr>
          <a:xfrm>
            <a:off x="914400" y="4535424"/>
            <a:ext cx="4709160" cy="566928"/>
          </a:xfrm>
          <a:prstGeom prst="rect">
            <a:avLst/>
          </a:prstGeom>
          <a:noFill/>
          <a:ln/>
        </p:spPr>
        <p:txBody>
          <a:bodyPr wrap="square" rtlCol="0" anchor="ctr"/>
          <a:lstStyle/>
          <a:p>
            <a:pPr indent="0" marL="0">
              <a:lnSpc>
                <a:spcPct val="114000"/>
              </a:lnSpc>
              <a:buNone/>
            </a:pPr>
            <a:r>
              <a:rPr lang="en-US" sz="1080" dirty="0">
                <a:solidFill>
                  <a:srgbClr val="1B1F2E"/>
                </a:solidFill>
                <a:latin typeface="Calibri" pitchFamily="34" charset="0"/>
                <a:ea typeface="Calibri" pitchFamily="34" charset="-122"/>
                <a:cs typeface="Calibri" pitchFamily="34" charset="-120"/>
              </a:rPr>
              <a:t>For strong collaboration, accountability, and shared commitment across the six-week build.</a:t>
            </a:r>
            <a:endParaRPr lang="en-US" sz="1080" dirty="0"/>
          </a:p>
        </p:txBody>
      </p:sp>
      <p:sp>
        <p:nvSpPr>
          <p:cNvPr id="12" name="Text 10"/>
          <p:cNvSpPr/>
          <p:nvPr/>
        </p:nvSpPr>
        <p:spPr>
          <a:xfrm>
            <a:off x="914400" y="5248656"/>
            <a:ext cx="4709160" cy="384048"/>
          </a:xfrm>
          <a:prstGeom prst="rect">
            <a:avLst/>
          </a:prstGeom>
          <a:noFill/>
          <a:ln/>
        </p:spPr>
        <p:txBody>
          <a:bodyPr wrap="square" rtlCol="0" anchor="ctr"/>
          <a:lstStyle/>
          <a:p>
            <a:pPr indent="0" marL="0">
              <a:lnSpc>
                <a:spcPct val="105000"/>
              </a:lnSpc>
              <a:buNone/>
            </a:pPr>
            <a:r>
              <a:rPr lang="en-US" sz="1250" b="1" dirty="0">
                <a:solidFill>
                  <a:srgbClr val="1E2761"/>
                </a:solidFill>
                <a:latin typeface="Calibri" pitchFamily="34" charset="0"/>
                <a:ea typeface="Calibri" pitchFamily="34" charset="-122"/>
                <a:cs typeface="Calibri" pitchFamily="34" charset="-120"/>
              </a:rPr>
              <a:t>Kaggle &amp; the Power BI Community</a:t>
            </a:r>
            <a:endParaRPr lang="en-US" sz="1250" dirty="0"/>
          </a:p>
        </p:txBody>
      </p:sp>
      <p:sp>
        <p:nvSpPr>
          <p:cNvPr id="13" name="Text 11"/>
          <p:cNvSpPr/>
          <p:nvPr/>
        </p:nvSpPr>
        <p:spPr>
          <a:xfrm>
            <a:off x="914400" y="5614416"/>
            <a:ext cx="4709160" cy="566928"/>
          </a:xfrm>
          <a:prstGeom prst="rect">
            <a:avLst/>
          </a:prstGeom>
          <a:noFill/>
          <a:ln/>
        </p:spPr>
        <p:txBody>
          <a:bodyPr wrap="square" rtlCol="0" anchor="ctr"/>
          <a:lstStyle/>
          <a:p>
            <a:pPr indent="0" marL="0">
              <a:lnSpc>
                <a:spcPct val="114000"/>
              </a:lnSpc>
              <a:buNone/>
            </a:pPr>
            <a:r>
              <a:rPr lang="en-US" sz="1080" dirty="0">
                <a:solidFill>
                  <a:srgbClr val="1B1F2E"/>
                </a:solidFill>
                <a:latin typeface="Calibri" pitchFamily="34" charset="0"/>
                <a:ea typeface="Calibri" pitchFamily="34" charset="-122"/>
                <a:cs typeface="Calibri" pitchFamily="34" charset="-120"/>
              </a:rPr>
              <a:t>For the public dataset and documentation resources that made hands-on, real-world practice possible.</a:t>
            </a:r>
            <a:endParaRPr lang="en-US" sz="1080" dirty="0"/>
          </a:p>
        </p:txBody>
      </p:sp>
      <p:sp>
        <p:nvSpPr>
          <p:cNvPr id="14" name="Shape 12"/>
          <p:cNvSpPr/>
          <p:nvPr/>
        </p:nvSpPr>
        <p:spPr>
          <a:xfrm>
            <a:off x="6172200" y="1371600"/>
            <a:ext cx="5440680" cy="4892040"/>
          </a:xfrm>
          <a:prstGeom prst="roundRect">
            <a:avLst>
              <a:gd name="adj" fmla="val 1495"/>
            </a:avLst>
          </a:prstGeom>
          <a:solidFill>
            <a:srgbClr val="E8ECF9"/>
          </a:solidFill>
          <a:ln/>
        </p:spPr>
      </p:sp>
      <p:sp>
        <p:nvSpPr>
          <p:cNvPr id="15" name="Text 13"/>
          <p:cNvSpPr/>
          <p:nvPr/>
        </p:nvSpPr>
        <p:spPr>
          <a:xfrm>
            <a:off x="6537960" y="1572768"/>
            <a:ext cx="4754880" cy="457200"/>
          </a:xfrm>
          <a:prstGeom prst="rect">
            <a:avLst/>
          </a:prstGeom>
          <a:noFill/>
          <a:ln/>
        </p:spPr>
        <p:txBody>
          <a:bodyPr wrap="square" rtlCol="0" anchor="ctr"/>
          <a:lstStyle/>
          <a:p>
            <a:pPr indent="0" marL="0">
              <a:buNone/>
            </a:pPr>
            <a:r>
              <a:rPr lang="en-US" sz="1300" b="1" spc="200" kern="0" dirty="0">
                <a:solidFill>
                  <a:srgbClr val="1E2761"/>
                </a:solidFill>
                <a:latin typeface="Calibri" pitchFamily="34" charset="0"/>
                <a:ea typeface="Calibri" pitchFamily="34" charset="-122"/>
                <a:cs typeface="Calibri" pitchFamily="34" charset="-120"/>
              </a:rPr>
              <a:t>REFERENCES</a:t>
            </a:r>
            <a:endParaRPr lang="en-US" sz="1300" dirty="0"/>
          </a:p>
        </p:txBody>
      </p:sp>
      <p:sp>
        <p:nvSpPr>
          <p:cNvPr id="16" name="Text 14"/>
          <p:cNvSpPr/>
          <p:nvPr/>
        </p:nvSpPr>
        <p:spPr>
          <a:xfrm>
            <a:off x="6537960" y="2011680"/>
            <a:ext cx="4709160" cy="384048"/>
          </a:xfrm>
          <a:prstGeom prst="rect">
            <a:avLst/>
          </a:prstGeom>
          <a:noFill/>
          <a:ln/>
        </p:spPr>
        <p:txBody>
          <a:bodyPr wrap="square" rtlCol="0" anchor="ctr"/>
          <a:lstStyle/>
          <a:p>
            <a:pPr indent="0" marL="0">
              <a:lnSpc>
                <a:spcPct val="105000"/>
              </a:lnSpc>
              <a:buNone/>
            </a:pPr>
            <a:r>
              <a:rPr lang="en-US" sz="1250" b="1" dirty="0">
                <a:solidFill>
                  <a:srgbClr val="1E2761"/>
                </a:solidFill>
                <a:latin typeface="Calibri" pitchFamily="34" charset="0"/>
                <a:ea typeface="Calibri" pitchFamily="34" charset="-122"/>
                <a:cs typeface="Calibri" pitchFamily="34" charset="-120"/>
              </a:rPr>
              <a:t>Retail Supply Chain Sales Dataset</a:t>
            </a:r>
            <a:endParaRPr lang="en-US" sz="1250" dirty="0"/>
          </a:p>
        </p:txBody>
      </p:sp>
      <p:sp>
        <p:nvSpPr>
          <p:cNvPr id="17" name="Text 15"/>
          <p:cNvSpPr/>
          <p:nvPr/>
        </p:nvSpPr>
        <p:spPr>
          <a:xfrm>
            <a:off x="6537960" y="2377440"/>
            <a:ext cx="4709160" cy="566928"/>
          </a:xfrm>
          <a:prstGeom prst="rect">
            <a:avLst/>
          </a:prstGeom>
          <a:noFill/>
          <a:ln/>
        </p:spPr>
        <p:txBody>
          <a:bodyPr wrap="square" rtlCol="0" anchor="ctr"/>
          <a:lstStyle/>
          <a:p>
            <a:pPr indent="0" marL="0">
              <a:lnSpc>
                <a:spcPct val="114000"/>
              </a:lnSpc>
              <a:buNone/>
            </a:pPr>
            <a:r>
              <a:rPr lang="en-US" sz="1080" dirty="0">
                <a:solidFill>
                  <a:srgbClr val="1B1F2E"/>
                </a:solidFill>
                <a:latin typeface="Calibri" pitchFamily="34" charset="0"/>
                <a:ea typeface="Calibri" pitchFamily="34" charset="-122"/>
                <a:cs typeface="Calibri" pitchFamily="34" charset="-120"/>
              </a:rPr>
              <a:t>Sourced via Kaggle — the public order, customer, product, and logistics data used throughout the project.</a:t>
            </a:r>
            <a:endParaRPr lang="en-US" sz="1080" dirty="0"/>
          </a:p>
        </p:txBody>
      </p:sp>
      <p:sp>
        <p:nvSpPr>
          <p:cNvPr id="18" name="Text 16"/>
          <p:cNvSpPr/>
          <p:nvPr/>
        </p:nvSpPr>
        <p:spPr>
          <a:xfrm>
            <a:off x="6537960" y="3090672"/>
            <a:ext cx="4709160" cy="384048"/>
          </a:xfrm>
          <a:prstGeom prst="rect">
            <a:avLst/>
          </a:prstGeom>
          <a:noFill/>
          <a:ln/>
        </p:spPr>
        <p:txBody>
          <a:bodyPr wrap="square" rtlCol="0" anchor="ctr"/>
          <a:lstStyle/>
          <a:p>
            <a:pPr indent="0" marL="0">
              <a:lnSpc>
                <a:spcPct val="105000"/>
              </a:lnSpc>
              <a:buNone/>
            </a:pPr>
            <a:r>
              <a:rPr lang="en-US" sz="1250" b="1" dirty="0">
                <a:solidFill>
                  <a:srgbClr val="1E2761"/>
                </a:solidFill>
                <a:latin typeface="Calibri" pitchFamily="34" charset="0"/>
                <a:ea typeface="Calibri" pitchFamily="34" charset="-122"/>
                <a:cs typeface="Calibri" pitchFamily="34" charset="-120"/>
              </a:rPr>
              <a:t>Microsoft Power BI Documentation</a:t>
            </a:r>
            <a:endParaRPr lang="en-US" sz="1250" dirty="0"/>
          </a:p>
        </p:txBody>
      </p:sp>
      <p:sp>
        <p:nvSpPr>
          <p:cNvPr id="19" name="Text 17"/>
          <p:cNvSpPr/>
          <p:nvPr/>
        </p:nvSpPr>
        <p:spPr>
          <a:xfrm>
            <a:off x="6537960" y="3456432"/>
            <a:ext cx="4709160" cy="566928"/>
          </a:xfrm>
          <a:prstGeom prst="rect">
            <a:avLst/>
          </a:prstGeom>
          <a:noFill/>
          <a:ln/>
        </p:spPr>
        <p:txBody>
          <a:bodyPr wrap="square" rtlCol="0" anchor="ctr"/>
          <a:lstStyle/>
          <a:p>
            <a:pPr indent="0" marL="0">
              <a:lnSpc>
                <a:spcPct val="114000"/>
              </a:lnSpc>
              <a:buNone/>
            </a:pPr>
            <a:r>
              <a:rPr lang="en-US" sz="1080" dirty="0">
                <a:solidFill>
                  <a:srgbClr val="1B1F2E"/>
                </a:solidFill>
                <a:latin typeface="Calibri" pitchFamily="34" charset="0"/>
                <a:ea typeface="Calibri" pitchFamily="34" charset="-122"/>
                <a:cs typeface="Calibri" pitchFamily="34" charset="-120"/>
              </a:rPr>
              <a:t>Official documentation and community resources referenced for DAX syntax and dashboard design patterns.</a:t>
            </a:r>
            <a:endParaRPr lang="en-US" sz="1080" dirty="0"/>
          </a:p>
        </p:txBody>
      </p:sp>
      <p:sp>
        <p:nvSpPr>
          <p:cNvPr id="20" name="Text 18"/>
          <p:cNvSpPr/>
          <p:nvPr/>
        </p:nvSpPr>
        <p:spPr>
          <a:xfrm>
            <a:off x="6537960" y="4169664"/>
            <a:ext cx="4709160" cy="384048"/>
          </a:xfrm>
          <a:prstGeom prst="rect">
            <a:avLst/>
          </a:prstGeom>
          <a:noFill/>
          <a:ln/>
        </p:spPr>
        <p:txBody>
          <a:bodyPr wrap="square" rtlCol="0" anchor="ctr"/>
          <a:lstStyle/>
          <a:p>
            <a:pPr indent="0" marL="0">
              <a:lnSpc>
                <a:spcPct val="105000"/>
              </a:lnSpc>
              <a:buNone/>
            </a:pPr>
            <a:r>
              <a:rPr lang="en-US" sz="1250" b="1" dirty="0">
                <a:solidFill>
                  <a:srgbClr val="1E2761"/>
                </a:solidFill>
                <a:latin typeface="Calibri" pitchFamily="34" charset="0"/>
                <a:ea typeface="Calibri" pitchFamily="34" charset="-122"/>
                <a:cs typeface="Calibri" pitchFamily="34" charset="-120"/>
              </a:rPr>
              <a:t>Infosys Springboard Training Materials</a:t>
            </a:r>
            <a:endParaRPr lang="en-US" sz="1250" dirty="0"/>
          </a:p>
        </p:txBody>
      </p:sp>
      <p:sp>
        <p:nvSpPr>
          <p:cNvPr id="21" name="Text 19"/>
          <p:cNvSpPr/>
          <p:nvPr/>
        </p:nvSpPr>
        <p:spPr>
          <a:xfrm>
            <a:off x="6537960" y="4535424"/>
            <a:ext cx="4709160" cy="566928"/>
          </a:xfrm>
          <a:prstGeom prst="rect">
            <a:avLst/>
          </a:prstGeom>
          <a:noFill/>
          <a:ln/>
        </p:spPr>
        <p:txBody>
          <a:bodyPr wrap="square" rtlCol="0" anchor="ctr"/>
          <a:lstStyle/>
          <a:p>
            <a:pPr indent="0" marL="0">
              <a:lnSpc>
                <a:spcPct val="114000"/>
              </a:lnSpc>
              <a:buNone/>
            </a:pPr>
            <a:r>
              <a:rPr lang="en-US" sz="1080" dirty="0">
                <a:solidFill>
                  <a:srgbClr val="1B1F2E"/>
                </a:solidFill>
                <a:latin typeface="Calibri" pitchFamily="34" charset="0"/>
                <a:ea typeface="Calibri" pitchFamily="34" charset="-122"/>
                <a:cs typeface="Calibri" pitchFamily="34" charset="-120"/>
              </a:rPr>
              <a:t>Virtual Internship 7.0 course modules, milestone guidelines, and mentor review notes.</a:t>
            </a:r>
            <a:endParaRPr lang="en-US" sz="1080" dirty="0"/>
          </a:p>
        </p:txBody>
      </p:sp>
      <p:sp>
        <p:nvSpPr>
          <p:cNvPr id="22" name="Text 20"/>
          <p:cNvSpPr/>
          <p:nvPr/>
        </p:nvSpPr>
        <p:spPr>
          <a:xfrm>
            <a:off x="6537960" y="5248656"/>
            <a:ext cx="4709160" cy="384048"/>
          </a:xfrm>
          <a:prstGeom prst="rect">
            <a:avLst/>
          </a:prstGeom>
          <a:noFill/>
          <a:ln/>
        </p:spPr>
        <p:txBody>
          <a:bodyPr wrap="square" rtlCol="0" anchor="ctr"/>
          <a:lstStyle/>
          <a:p>
            <a:pPr indent="0" marL="0">
              <a:lnSpc>
                <a:spcPct val="105000"/>
              </a:lnSpc>
              <a:buNone/>
            </a:pPr>
            <a:r>
              <a:rPr lang="en-US" sz="1250" b="1" dirty="0">
                <a:solidFill>
                  <a:srgbClr val="1E2761"/>
                </a:solidFill>
                <a:latin typeface="Calibri" pitchFamily="34" charset="0"/>
                <a:ea typeface="Calibri" pitchFamily="34" charset="-122"/>
                <a:cs typeface="Calibri" pitchFamily="34" charset="-120"/>
              </a:rPr>
              <a:t>Milestone 1–3 Completion Reports</a:t>
            </a:r>
            <a:endParaRPr lang="en-US" sz="1250" dirty="0"/>
          </a:p>
        </p:txBody>
      </p:sp>
      <p:sp>
        <p:nvSpPr>
          <p:cNvPr id="23" name="Text 21"/>
          <p:cNvSpPr/>
          <p:nvPr/>
        </p:nvSpPr>
        <p:spPr>
          <a:xfrm>
            <a:off x="6537960" y="5614416"/>
            <a:ext cx="4709160" cy="566928"/>
          </a:xfrm>
          <a:prstGeom prst="rect">
            <a:avLst/>
          </a:prstGeom>
          <a:noFill/>
          <a:ln/>
        </p:spPr>
        <p:txBody>
          <a:bodyPr wrap="square" rtlCol="0" anchor="ctr"/>
          <a:lstStyle/>
          <a:p>
            <a:pPr indent="0" marL="0">
              <a:lnSpc>
                <a:spcPct val="114000"/>
              </a:lnSpc>
              <a:buNone/>
            </a:pPr>
            <a:r>
              <a:rPr lang="en-US" sz="1080" dirty="0">
                <a:solidFill>
                  <a:srgbClr val="1B1F2E"/>
                </a:solidFill>
                <a:latin typeface="Calibri" pitchFamily="34" charset="0"/>
                <a:ea typeface="Calibri" pitchFamily="34" charset="-122"/>
                <a:cs typeface="Calibri" pitchFamily="34" charset="-120"/>
              </a:rPr>
              <a:t>Prior internal deliverables that this Milestone-4 submission builds directly upon without rebuilding.</a:t>
            </a:r>
            <a:endParaRPr lang="en-US" sz="1080" dirty="0"/>
          </a:p>
        </p:txBody>
      </p:sp>
      <p:sp>
        <p:nvSpPr>
          <p:cNvPr id="24" name="Text 22"/>
          <p:cNvSpPr/>
          <p:nvPr/>
        </p:nvSpPr>
        <p:spPr>
          <a:xfrm>
            <a:off x="457200" y="6473952"/>
            <a:ext cx="7315200" cy="274320"/>
          </a:xfrm>
          <a:prstGeom prst="rect">
            <a:avLst/>
          </a:prstGeom>
          <a:noFill/>
          <a:ln/>
        </p:spPr>
        <p:txBody>
          <a:bodyPr wrap="square" rtlCol="0" anchor="ctr"/>
          <a:lstStyle/>
          <a:p>
            <a:pPr indent="0" marL="0">
              <a:buNone/>
            </a:pPr>
            <a:r>
              <a:rPr lang="en-US" sz="900" i="1" dirty="0">
                <a:solidFill>
                  <a:srgbClr val="5B6B8C"/>
                </a:solidFill>
                <a:latin typeface="Calibri" pitchFamily="34" charset="0"/>
                <a:ea typeface="Calibri" pitchFamily="34" charset="-122"/>
                <a:cs typeface="Calibri" pitchFamily="34" charset="-120"/>
              </a:rPr>
              <a:t>Supply Chain Visibility &amp; Optimization  •  Pendyala Venkata Bharath</a:t>
            </a:r>
            <a:endParaRPr lang="en-US" sz="900" dirty="0"/>
          </a:p>
        </p:txBody>
      </p:sp>
      <p:sp>
        <p:nvSpPr>
          <p:cNvPr id="25" name="Text 23"/>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097280" y="-1097280"/>
            <a:ext cx="4114800" cy="4114800"/>
          </a:xfrm>
          <a:prstGeom prst="ellipse">
            <a:avLst/>
          </a:prstGeom>
          <a:solidFill>
            <a:srgbClr val="141B4D"/>
          </a:solidFill>
          <a:ln/>
        </p:spPr>
      </p:sp>
      <p:sp>
        <p:nvSpPr>
          <p:cNvPr id="3" name="Shape 1"/>
          <p:cNvSpPr/>
          <p:nvPr/>
        </p:nvSpPr>
        <p:spPr>
          <a:xfrm>
            <a:off x="9692640" y="4206240"/>
            <a:ext cx="4754880" cy="4754880"/>
          </a:xfrm>
          <a:prstGeom prst="ellipse">
            <a:avLst/>
          </a:prstGeom>
          <a:solidFill>
            <a:srgbClr val="141B4D"/>
          </a:solidFill>
          <a:ln/>
        </p:spPr>
      </p:sp>
      <p:sp>
        <p:nvSpPr>
          <p:cNvPr id="4" name="Shape 2"/>
          <p:cNvSpPr/>
          <p:nvPr/>
        </p:nvSpPr>
        <p:spPr>
          <a:xfrm>
            <a:off x="10241280" y="4846320"/>
            <a:ext cx="2926080" cy="2926080"/>
          </a:xfrm>
          <a:prstGeom prst="ellipse">
            <a:avLst/>
          </a:prstGeom>
          <a:solidFill>
            <a:srgbClr val="232C6B"/>
          </a:solidFill>
          <a:ln/>
        </p:spPr>
      </p:sp>
      <p:sp>
        <p:nvSpPr>
          <p:cNvPr id="5" name="Text 3"/>
          <p:cNvSpPr/>
          <p:nvPr/>
        </p:nvSpPr>
        <p:spPr>
          <a:xfrm>
            <a:off x="0" y="2651760"/>
            <a:ext cx="12188952" cy="1097280"/>
          </a:xfrm>
          <a:prstGeom prst="rect">
            <a:avLst/>
          </a:prstGeom>
          <a:noFill/>
          <a:ln/>
        </p:spPr>
        <p:txBody>
          <a:bodyPr wrap="square" rtlCol="0" anchor="ctr"/>
          <a:lstStyle/>
          <a:p>
            <a:pPr algn="ctr" indent="0" marL="0">
              <a:buNone/>
            </a:pPr>
            <a:r>
              <a:rPr lang="en-US" sz="5400" b="1" dirty="0">
                <a:solidFill>
                  <a:srgbClr val="FFFFFF"/>
                </a:solidFill>
                <a:latin typeface="Cambria" pitchFamily="34" charset="0"/>
                <a:ea typeface="Cambria" pitchFamily="34" charset="-122"/>
                <a:cs typeface="Cambria" pitchFamily="34" charset="-120"/>
              </a:rPr>
              <a:t>THANK YOU</a:t>
            </a:r>
            <a:endParaRPr lang="en-US" sz="5400" dirty="0"/>
          </a:p>
        </p:txBody>
      </p:sp>
      <p:sp>
        <p:nvSpPr>
          <p:cNvPr id="6" name="Shape 4"/>
          <p:cNvSpPr/>
          <p:nvPr/>
        </p:nvSpPr>
        <p:spPr>
          <a:xfrm>
            <a:off x="5088636" y="3794760"/>
            <a:ext cx="2011680" cy="0"/>
          </a:xfrm>
          <a:prstGeom prst="line">
            <a:avLst/>
          </a:prstGeom>
          <a:noFill/>
          <a:ln w="31750">
            <a:solidFill>
              <a:srgbClr val="C2542D"/>
            </a:solidFill>
            <a:prstDash val="solid"/>
          </a:ln>
        </p:spPr>
      </p:sp>
      <p:sp>
        <p:nvSpPr>
          <p:cNvPr id="7" name="Text 5"/>
          <p:cNvSpPr/>
          <p:nvPr/>
        </p:nvSpPr>
        <p:spPr>
          <a:xfrm>
            <a:off x="0" y="3977640"/>
            <a:ext cx="12188952" cy="411480"/>
          </a:xfrm>
          <a:prstGeom prst="rect">
            <a:avLst/>
          </a:prstGeom>
          <a:noFill/>
          <a:ln/>
        </p:spPr>
        <p:txBody>
          <a:bodyPr wrap="square" rtlCol="0" anchor="ctr"/>
          <a:lstStyle/>
          <a:p>
            <a:pPr algn="ctr" indent="0" marL="0">
              <a:buNone/>
            </a:pPr>
            <a:r>
              <a:rPr lang="en-US" sz="1500" dirty="0">
                <a:solidFill>
                  <a:srgbClr val="CADCFC"/>
                </a:solidFill>
                <a:latin typeface="Calibri" pitchFamily="34" charset="0"/>
                <a:ea typeface="Calibri" pitchFamily="34" charset="-122"/>
                <a:cs typeface="Calibri" pitchFamily="34" charset="-120"/>
              </a:rPr>
              <a:t>Supply Chain Visibility &amp; Optimization  •  Pendyala Venkata Bharath</a:t>
            </a:r>
            <a:endParaRPr lang="en-US" sz="1500" dirty="0"/>
          </a:p>
        </p:txBody>
      </p:sp>
      <p:sp>
        <p:nvSpPr>
          <p:cNvPr id="8" name="Text 6"/>
          <p:cNvSpPr/>
          <p:nvPr/>
        </p:nvSpPr>
        <p:spPr>
          <a:xfrm>
            <a:off x="0" y="4389120"/>
            <a:ext cx="12188952" cy="365760"/>
          </a:xfrm>
          <a:prstGeom prst="rect">
            <a:avLst/>
          </a:prstGeom>
          <a:noFill/>
          <a:ln/>
        </p:spPr>
        <p:txBody>
          <a:bodyPr wrap="square" rtlCol="0" anchor="ctr"/>
          <a:lstStyle/>
          <a:p>
            <a:pPr algn="ctr" indent="0" marL="0">
              <a:buNone/>
            </a:pPr>
            <a:r>
              <a:rPr lang="en-US" sz="1200" i="1" dirty="0">
                <a:solidFill>
                  <a:srgbClr val="CADCFC"/>
                </a:solidFill>
                <a:latin typeface="Calibri" pitchFamily="34" charset="0"/>
                <a:ea typeface="Calibri" pitchFamily="34" charset="-122"/>
                <a:cs typeface="Calibri" pitchFamily="34" charset="-120"/>
              </a:rPr>
              <a:t>Infosys Springboard Virtual Internship 7.0  |  Mentor: Ms. Nityasree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2026-08-20T02:38:19Z</dcterms:created>
  <dcterms:modified xsi:type="dcterms:W3CDTF">2026-08-20T02:38:19Z</dcterms:modified>
</cp:coreProperties>
</file>