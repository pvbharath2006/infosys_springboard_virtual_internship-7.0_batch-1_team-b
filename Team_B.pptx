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005840"/>
            <a:ext cx="4206240" cy="4206240"/>
          </a:xfrm>
          <a:prstGeom prst="ellipse">
            <a:avLst/>
          </a:prstGeom>
          <a:solidFill>
            <a:srgbClr val="141B4D"/>
          </a:solidFill>
          <a:ln/>
        </p:spPr>
      </p:sp>
      <p:sp>
        <p:nvSpPr>
          <p:cNvPr id="3" name="Shape 1"/>
          <p:cNvSpPr/>
          <p:nvPr/>
        </p:nvSpPr>
        <p:spPr>
          <a:xfrm>
            <a:off x="10058400" y="-274320"/>
            <a:ext cx="2743200" cy="2743200"/>
          </a:xfrm>
          <a:prstGeom prst="ellipse">
            <a:avLst/>
          </a:prstGeom>
          <a:solidFill>
            <a:srgbClr val="232C6B"/>
          </a:solidFill>
          <a:ln/>
        </p:spPr>
      </p:sp>
      <p:sp>
        <p:nvSpPr>
          <p:cNvPr id="4" name="Shape 2"/>
          <p:cNvSpPr/>
          <p:nvPr/>
        </p:nvSpPr>
        <p:spPr>
          <a:xfrm>
            <a:off x="10561320" y="6035040"/>
            <a:ext cx="164592" cy="365760"/>
          </a:xfrm>
          <a:prstGeom prst="rect">
            <a:avLst/>
          </a:prstGeom>
          <a:solidFill>
            <a:srgbClr val="CADCFC"/>
          </a:solidFill>
          <a:ln/>
        </p:spPr>
      </p:sp>
      <p:sp>
        <p:nvSpPr>
          <p:cNvPr id="5" name="Shape 3"/>
          <p:cNvSpPr/>
          <p:nvPr/>
        </p:nvSpPr>
        <p:spPr>
          <a:xfrm>
            <a:off x="10817352" y="5833872"/>
            <a:ext cx="164592" cy="566928"/>
          </a:xfrm>
          <a:prstGeom prst="rect">
            <a:avLst/>
          </a:prstGeom>
          <a:solidFill>
            <a:srgbClr val="CADCFC"/>
          </a:solidFill>
          <a:ln/>
        </p:spPr>
      </p:sp>
      <p:sp>
        <p:nvSpPr>
          <p:cNvPr id="6" name="Shape 4"/>
          <p:cNvSpPr/>
          <p:nvPr/>
        </p:nvSpPr>
        <p:spPr>
          <a:xfrm>
            <a:off x="11073384" y="5943600"/>
            <a:ext cx="164592" cy="457200"/>
          </a:xfrm>
          <a:prstGeom prst="rect">
            <a:avLst/>
          </a:prstGeom>
          <a:solidFill>
            <a:srgbClr val="CADCFC"/>
          </a:solidFill>
          <a:ln/>
        </p:spPr>
      </p:sp>
      <p:sp>
        <p:nvSpPr>
          <p:cNvPr id="7" name="Shape 5"/>
          <p:cNvSpPr/>
          <p:nvPr/>
        </p:nvSpPr>
        <p:spPr>
          <a:xfrm>
            <a:off x="11329416" y="5687568"/>
            <a:ext cx="164592" cy="713232"/>
          </a:xfrm>
          <a:prstGeom prst="rect">
            <a:avLst/>
          </a:prstGeom>
          <a:solidFill>
            <a:srgbClr val="C2542D"/>
          </a:solidFill>
          <a:ln/>
        </p:spPr>
      </p:sp>
      <p:sp>
        <p:nvSpPr>
          <p:cNvPr id="8" name="Text 6"/>
          <p:cNvSpPr/>
          <p:nvPr/>
        </p:nvSpPr>
        <p:spPr>
          <a:xfrm>
            <a:off x="822960" y="1417320"/>
            <a:ext cx="8229600" cy="365760"/>
          </a:xfrm>
          <a:prstGeom prst="rect">
            <a:avLst/>
          </a:prstGeom>
          <a:noFill/>
          <a:ln/>
        </p:spPr>
        <p:txBody>
          <a:bodyPr wrap="square"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INFOSYS SPRINGBOARD VIRTUAL INTERNSHIP 7.0</a:t>
            </a:r>
            <a:endParaRPr lang="en-US" sz="1300" dirty="0"/>
          </a:p>
        </p:txBody>
      </p:sp>
      <p:sp>
        <p:nvSpPr>
          <p:cNvPr id="9" name="Text 7"/>
          <p:cNvSpPr/>
          <p:nvPr/>
        </p:nvSpPr>
        <p:spPr>
          <a:xfrm>
            <a:off x="822960" y="1783080"/>
            <a:ext cx="8961120" cy="160020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Supply Chain Visibility</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&amp; Optimization</a:t>
            </a:r>
            <a:endParaRPr lang="en-US" sz="4000" dirty="0"/>
          </a:p>
        </p:txBody>
      </p:sp>
      <p:sp>
        <p:nvSpPr>
          <p:cNvPr id="10" name="Text 8"/>
          <p:cNvSpPr/>
          <p:nvPr/>
        </p:nvSpPr>
        <p:spPr>
          <a:xfrm>
            <a:off x="822960" y="3429000"/>
            <a:ext cx="7955280" cy="731520"/>
          </a:xfrm>
          <a:prstGeom prst="rect">
            <a:avLst/>
          </a:prstGeom>
          <a:noFill/>
          <a:ln/>
        </p:spPr>
        <p:txBody>
          <a:bodyPr wrap="square" rtlCol="0" anchor="ctr"/>
          <a:lstStyle/>
          <a:p>
            <a:pPr indent="0" marL="0">
              <a:lnSpc>
                <a:spcPct val="120000"/>
              </a:lnSpc>
              <a:buNone/>
            </a:pPr>
            <a:r>
              <a:rPr lang="en-US" sz="1400" i="1" dirty="0">
                <a:solidFill>
                  <a:srgbClr val="CADCFC"/>
                </a:solidFill>
                <a:latin typeface="Calibri" pitchFamily="34" charset="0"/>
                <a:ea typeface="Calibri" pitchFamily="34" charset="-122"/>
                <a:cs typeface="Calibri" pitchFamily="34" charset="-120"/>
              </a:rPr>
              <a:t>An end-to-end Power BI business intelligence solution delivering a governed, seven-page interactive dashboard suite for retail sales, profitability, shipping, and returns visibility.</a:t>
            </a:r>
            <a:endParaRPr lang="en-US" sz="1400" dirty="0"/>
          </a:p>
        </p:txBody>
      </p:sp>
      <p:sp>
        <p:nvSpPr>
          <p:cNvPr id="11" name="Shape 9"/>
          <p:cNvSpPr/>
          <p:nvPr/>
        </p:nvSpPr>
        <p:spPr>
          <a:xfrm>
            <a:off x="822960" y="4343400"/>
            <a:ext cx="7863840" cy="0"/>
          </a:xfrm>
          <a:prstGeom prst="line">
            <a:avLst/>
          </a:prstGeom>
          <a:noFill/>
          <a:ln w="12700">
            <a:solidFill>
              <a:srgbClr val="3A448C"/>
            </a:solidFill>
            <a:prstDash val="solid"/>
          </a:ln>
        </p:spPr>
      </p:sp>
      <p:sp>
        <p:nvSpPr>
          <p:cNvPr id="12" name="Text 10"/>
          <p:cNvSpPr/>
          <p:nvPr/>
        </p:nvSpPr>
        <p:spPr>
          <a:xfrm>
            <a:off x="822960" y="4526280"/>
            <a:ext cx="3657600" cy="292608"/>
          </a:xfrm>
          <a:prstGeom prst="rect">
            <a:avLst/>
          </a:prstGeom>
          <a:noFill/>
          <a:ln/>
        </p:spPr>
        <p:txBody>
          <a:bodyPr wrap="square" rtlCol="0" anchor="ctr"/>
          <a:lstStyle/>
          <a:p>
            <a:pPr indent="0" marL="0">
              <a:buNone/>
            </a:pPr>
            <a:r>
              <a:rPr lang="en-US" sz="1100" b="1" spc="200" kern="0" dirty="0">
                <a:solidFill>
                  <a:srgbClr val="C2542D"/>
                </a:solidFill>
                <a:latin typeface="Calibri" pitchFamily="34" charset="0"/>
                <a:ea typeface="Calibri" pitchFamily="34" charset="-122"/>
                <a:cs typeface="Calibri" pitchFamily="34" charset="-120"/>
              </a:rPr>
              <a:t>TEAM B</a:t>
            </a:r>
            <a:endParaRPr lang="en-US" sz="1100" dirty="0"/>
          </a:p>
        </p:txBody>
      </p:sp>
      <p:sp>
        <p:nvSpPr>
          <p:cNvPr id="13" name="Text 11"/>
          <p:cNvSpPr/>
          <p:nvPr/>
        </p:nvSpPr>
        <p:spPr>
          <a:xfrm>
            <a:off x="822960" y="4828032"/>
            <a:ext cx="10241280" cy="502920"/>
          </a:xfrm>
          <a:prstGeom prst="rect">
            <a:avLst/>
          </a:prstGeom>
          <a:noFill/>
          <a:ln/>
        </p:spPr>
        <p:txBody>
          <a:bodyPr wrap="square"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Manoj Pamuru   |   Narayana Murari   |   P. Shreesha   |   Pendyala Venkata Bharath   |   Prajwal Sahu   |   Priyanshi Singh</a:t>
            </a:r>
            <a:endParaRPr lang="en-US" sz="1350" dirty="0"/>
          </a:p>
        </p:txBody>
      </p:sp>
      <p:sp>
        <p:nvSpPr>
          <p:cNvPr id="14" name="Text 12"/>
          <p:cNvSpPr/>
          <p:nvPr/>
        </p:nvSpPr>
        <p:spPr>
          <a:xfrm>
            <a:off x="822960" y="5440680"/>
            <a:ext cx="7315200" cy="32004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Presenting: Pendyala Venkata Bharath  •  Batch-01</a:t>
            </a:r>
            <a:endParaRPr lang="en-US" sz="1150" dirty="0"/>
          </a:p>
        </p:txBody>
      </p:sp>
      <p:sp>
        <p:nvSpPr>
          <p:cNvPr id="15" name="Text 13"/>
          <p:cNvSpPr/>
          <p:nvPr/>
        </p:nvSpPr>
        <p:spPr>
          <a:xfrm>
            <a:off x="822960" y="5779008"/>
            <a:ext cx="7315200" cy="32004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Mentor: Ms. Nityasree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Objective</a:t>
            </a:r>
            <a:endParaRPr lang="en-US" sz="3000" dirty="0"/>
          </a:p>
        </p:txBody>
      </p:sp>
      <p:sp>
        <p:nvSpPr>
          <p:cNvPr id="4" name="Text 2"/>
          <p:cNvSpPr/>
          <p:nvPr/>
        </p:nvSpPr>
        <p:spPr>
          <a:xfrm>
            <a:off x="548640" y="137160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PROJECT OBJECTIVE</a:t>
            </a:r>
            <a:endParaRPr lang="en-US" sz="1300" dirty="0"/>
          </a:p>
        </p:txBody>
      </p:sp>
      <p:sp>
        <p:nvSpPr>
          <p:cNvPr id="5" name="Shape 3"/>
          <p:cNvSpPr/>
          <p:nvPr/>
        </p:nvSpPr>
        <p:spPr>
          <a:xfrm>
            <a:off x="548640" y="1901952"/>
            <a:ext cx="310896" cy="310896"/>
          </a:xfrm>
          <a:prstGeom prst="ellipse">
            <a:avLst/>
          </a:prstGeom>
          <a:solidFill>
            <a:srgbClr val="F4F6FB"/>
          </a:solidFill>
          <a:ln w="12700">
            <a:solidFill>
              <a:srgbClr val="CADCFC"/>
            </a:solidFill>
            <a:prstDash val="solid"/>
          </a:ln>
        </p:spPr>
      </p:sp>
      <p:sp>
        <p:nvSpPr>
          <p:cNvPr id="6" name="Text 4"/>
          <p:cNvSpPr/>
          <p:nvPr/>
        </p:nvSpPr>
        <p:spPr>
          <a:xfrm>
            <a:off x="548640" y="190195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24128" y="184708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Establish a single, centralized source of truth for order, sales, and shipping data across procurement, inventory, and distribution.</a:t>
            </a:r>
            <a:endParaRPr lang="en-US" sz="1300" dirty="0"/>
          </a:p>
        </p:txBody>
      </p:sp>
      <p:sp>
        <p:nvSpPr>
          <p:cNvPr id="8" name="Shape 6"/>
          <p:cNvSpPr/>
          <p:nvPr/>
        </p:nvSpPr>
        <p:spPr>
          <a:xfrm>
            <a:off x="548640" y="2953512"/>
            <a:ext cx="310896" cy="310896"/>
          </a:xfrm>
          <a:prstGeom prst="ellipse">
            <a:avLst/>
          </a:prstGeom>
          <a:solidFill>
            <a:srgbClr val="F4F6FB"/>
          </a:solidFill>
          <a:ln w="12700">
            <a:solidFill>
              <a:srgbClr val="CADCFC"/>
            </a:solidFill>
            <a:prstDash val="solid"/>
          </a:ln>
        </p:spPr>
      </p:sp>
      <p:sp>
        <p:nvSpPr>
          <p:cNvPr id="9" name="Text 7"/>
          <p:cNvSpPr/>
          <p:nvPr/>
        </p:nvSpPr>
        <p:spPr>
          <a:xfrm>
            <a:off x="548640" y="295351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24128" y="289864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Track key performance indicators such as lead time, on-time delivery rate, profit margin, and unit-level profitability.</a:t>
            </a:r>
            <a:endParaRPr lang="en-US" sz="1300" dirty="0"/>
          </a:p>
        </p:txBody>
      </p:sp>
      <p:sp>
        <p:nvSpPr>
          <p:cNvPr id="11" name="Shape 9"/>
          <p:cNvSpPr/>
          <p:nvPr/>
        </p:nvSpPr>
        <p:spPr>
          <a:xfrm>
            <a:off x="548640" y="4005072"/>
            <a:ext cx="310896" cy="310896"/>
          </a:xfrm>
          <a:prstGeom prst="ellipse">
            <a:avLst/>
          </a:prstGeom>
          <a:solidFill>
            <a:srgbClr val="F4F6FB"/>
          </a:solidFill>
          <a:ln w="12700">
            <a:solidFill>
              <a:srgbClr val="CADCFC"/>
            </a:solidFill>
            <a:prstDash val="solid"/>
          </a:ln>
        </p:spPr>
      </p:sp>
      <p:sp>
        <p:nvSpPr>
          <p:cNvPr id="12" name="Text 10"/>
          <p:cNvSpPr/>
          <p:nvPr/>
        </p:nvSpPr>
        <p:spPr>
          <a:xfrm>
            <a:off x="548640" y="400507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024128" y="395020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Identify regions, categories, discount bands, and shipping modes that contribute most to delays and losses.</a:t>
            </a:r>
            <a:endParaRPr lang="en-US" sz="1300" dirty="0"/>
          </a:p>
        </p:txBody>
      </p:sp>
      <p:sp>
        <p:nvSpPr>
          <p:cNvPr id="14" name="Shape 12"/>
          <p:cNvSpPr/>
          <p:nvPr/>
        </p:nvSpPr>
        <p:spPr>
          <a:xfrm>
            <a:off x="548640" y="5056632"/>
            <a:ext cx="310896" cy="310896"/>
          </a:xfrm>
          <a:prstGeom prst="ellipse">
            <a:avLst/>
          </a:prstGeom>
          <a:solidFill>
            <a:srgbClr val="F4F6FB"/>
          </a:solidFill>
          <a:ln w="12700">
            <a:solidFill>
              <a:srgbClr val="CADCFC"/>
            </a:solidFill>
            <a:prstDash val="solid"/>
          </a:ln>
        </p:spPr>
      </p:sp>
      <p:sp>
        <p:nvSpPr>
          <p:cNvPr id="15" name="Text 13"/>
          <p:cNvSpPr/>
          <p:nvPr/>
        </p:nvSpPr>
        <p:spPr>
          <a:xfrm>
            <a:off x="548640" y="5056632"/>
            <a:ext cx="310896" cy="310896"/>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024128" y="5001768"/>
            <a:ext cx="4709160" cy="777240"/>
          </a:xfrm>
          <a:prstGeom prst="rect">
            <a:avLst/>
          </a:prstGeom>
          <a:noFill/>
          <a:ln/>
        </p:spPr>
        <p:txBody>
          <a:bodyPr wrap="square" rtlCol="0" anchor="t"/>
          <a:lstStyle/>
          <a:p>
            <a:pPr indent="0" marL="0">
              <a:lnSpc>
                <a:spcPct val="115000"/>
              </a:lnSpc>
              <a:buNone/>
            </a:pPr>
            <a:r>
              <a:rPr lang="en-US" sz="1300" dirty="0">
                <a:solidFill>
                  <a:srgbClr val="1B1F2E"/>
                </a:solidFill>
                <a:latin typeface="Calibri" pitchFamily="34" charset="0"/>
                <a:ea typeface="Calibri" pitchFamily="34" charset="-122"/>
                <a:cs typeface="Calibri" pitchFamily="34" charset="-120"/>
              </a:rPr>
              <a:t>Support faster, evidence-based decisions with a complete seven-page suite covering executive, operational, and unit-economics perspectives.</a:t>
            </a:r>
            <a:endParaRPr lang="en-US" sz="1300" dirty="0"/>
          </a:p>
        </p:txBody>
      </p:sp>
      <p:sp>
        <p:nvSpPr>
          <p:cNvPr id="17" name="Shape 15"/>
          <p:cNvSpPr/>
          <p:nvPr/>
        </p:nvSpPr>
        <p:spPr>
          <a:xfrm>
            <a:off x="5623560" y="1371600"/>
            <a:ext cx="5989320" cy="4892040"/>
          </a:xfrm>
          <a:prstGeom prst="roundRect">
            <a:avLst>
              <a:gd name="adj" fmla="val 1495"/>
            </a:avLst>
          </a:prstGeom>
          <a:solidFill>
            <a:srgbClr val="F4F6FB"/>
          </a:solidFill>
          <a:ln/>
          <a:effectLst>
            <a:outerShdw sx="100000" sy="100000" kx="0" ky="0" algn="bl" rotWithShape="0" blurRad="76200" dist="25400" dir="5400000">
              <a:srgbClr val="8C97B8">
                <a:alpha val="25000"/>
              </a:srgbClr>
            </a:outerShdw>
          </a:effectLst>
        </p:spPr>
      </p:sp>
      <p:sp>
        <p:nvSpPr>
          <p:cNvPr id="18" name="Text 16"/>
          <p:cNvSpPr/>
          <p:nvPr/>
        </p:nvSpPr>
        <p:spPr>
          <a:xfrm>
            <a:off x="5989320" y="1508760"/>
            <a:ext cx="548640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PROJECT MODULES  (7-PAGE DASHBOARD SUITE)</a:t>
            </a:r>
            <a:endParaRPr lang="en-US" sz="1300" dirty="0"/>
          </a:p>
        </p:txBody>
      </p:sp>
      <p:sp>
        <p:nvSpPr>
          <p:cNvPr id="19" name="Text 17"/>
          <p:cNvSpPr/>
          <p:nvPr/>
        </p:nvSpPr>
        <p:spPr>
          <a:xfrm>
            <a:off x="5989320" y="2029968"/>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1. Executive Dashboard</a:t>
            </a:r>
            <a:endParaRPr lang="en-US" sz="1250" dirty="0"/>
          </a:p>
        </p:txBody>
      </p:sp>
      <p:sp>
        <p:nvSpPr>
          <p:cNvPr id="20" name="Text 18"/>
          <p:cNvSpPr/>
          <p:nvPr/>
        </p:nvSpPr>
        <p:spPr>
          <a:xfrm>
            <a:off x="5989320" y="2249424"/>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Total Sales (2.30M), Total Profit (286.41K), Total Orders, and Profit Margin (12.47%) at a glance.</a:t>
            </a:r>
            <a:endParaRPr lang="en-US" sz="970" dirty="0"/>
          </a:p>
        </p:txBody>
      </p:sp>
      <p:sp>
        <p:nvSpPr>
          <p:cNvPr id="21" name="Text 19"/>
          <p:cNvSpPr/>
          <p:nvPr/>
        </p:nvSpPr>
        <p:spPr>
          <a:xfrm>
            <a:off x="5989320" y="2592324"/>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2. Supply Chain Insights</a:t>
            </a:r>
            <a:endParaRPr lang="en-US" sz="1250" dirty="0"/>
          </a:p>
        </p:txBody>
      </p:sp>
      <p:sp>
        <p:nvSpPr>
          <p:cNvPr id="22" name="Text 20"/>
          <p:cNvSpPr/>
          <p:nvPr/>
        </p:nvSpPr>
        <p:spPr>
          <a:xfrm>
            <a:off x="5989320" y="2811780"/>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Return Rate (5.91%), ship-mode split, and regional demand by segment.</a:t>
            </a:r>
            <a:endParaRPr lang="en-US" sz="970" dirty="0"/>
          </a:p>
        </p:txBody>
      </p:sp>
      <p:sp>
        <p:nvSpPr>
          <p:cNvPr id="23" name="Text 21"/>
          <p:cNvSpPr/>
          <p:nvPr/>
        </p:nvSpPr>
        <p:spPr>
          <a:xfrm>
            <a:off x="5989320" y="3154680"/>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3. Product &amp; Pricing Analysis</a:t>
            </a:r>
            <a:endParaRPr lang="en-US" sz="1250" dirty="0"/>
          </a:p>
        </p:txBody>
      </p:sp>
      <p:sp>
        <p:nvSpPr>
          <p:cNvPr id="24" name="Text 22"/>
          <p:cNvSpPr/>
          <p:nvPr/>
        </p:nvSpPr>
        <p:spPr>
          <a:xfrm>
            <a:off x="5989320" y="3374136"/>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Profitability and discounting depth by category and sub-category.</a:t>
            </a:r>
            <a:endParaRPr lang="en-US" sz="970" dirty="0"/>
          </a:p>
        </p:txBody>
      </p:sp>
      <p:sp>
        <p:nvSpPr>
          <p:cNvPr id="25" name="Text 23"/>
          <p:cNvSpPr/>
          <p:nvPr/>
        </p:nvSpPr>
        <p:spPr>
          <a:xfrm>
            <a:off x="5989320" y="3717036"/>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4. Customer &amp; Regional Insights</a:t>
            </a:r>
            <a:endParaRPr lang="en-US" sz="1250" dirty="0"/>
          </a:p>
        </p:txBody>
      </p:sp>
      <p:sp>
        <p:nvSpPr>
          <p:cNvPr id="26" name="Text 24"/>
          <p:cNvSpPr/>
          <p:nvPr/>
        </p:nvSpPr>
        <p:spPr>
          <a:xfrm>
            <a:off x="5989320" y="3936492"/>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Segment behaviour, average order value, and state-level performance.</a:t>
            </a:r>
            <a:endParaRPr lang="en-US" sz="970" dirty="0"/>
          </a:p>
        </p:txBody>
      </p:sp>
      <p:sp>
        <p:nvSpPr>
          <p:cNvPr id="27" name="Text 25"/>
          <p:cNvSpPr/>
          <p:nvPr/>
        </p:nvSpPr>
        <p:spPr>
          <a:xfrm>
            <a:off x="5989320" y="4279392"/>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5. Business Performance Monitoring</a:t>
            </a:r>
            <a:endParaRPr lang="en-US" sz="1250" dirty="0"/>
          </a:p>
        </p:txBody>
      </p:sp>
      <p:sp>
        <p:nvSpPr>
          <p:cNvPr id="28" name="Text 26"/>
          <p:cNvSpPr/>
          <p:nvPr/>
        </p:nvSpPr>
        <p:spPr>
          <a:xfrm>
            <a:off x="5989320" y="4498848"/>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Product-level loss leaders and the profit impact of returns.</a:t>
            </a:r>
            <a:endParaRPr lang="en-US" sz="970" dirty="0"/>
          </a:p>
        </p:txBody>
      </p:sp>
      <p:sp>
        <p:nvSpPr>
          <p:cNvPr id="29" name="Text 27"/>
          <p:cNvSpPr/>
          <p:nvPr/>
        </p:nvSpPr>
        <p:spPr>
          <a:xfrm>
            <a:off x="5989320" y="4841748"/>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6. Order &amp; Unit Economics</a:t>
            </a:r>
            <a:endParaRPr lang="en-US" sz="1250" dirty="0"/>
          </a:p>
        </p:txBody>
      </p:sp>
      <p:sp>
        <p:nvSpPr>
          <p:cNvPr id="30" name="Text 28"/>
          <p:cNvSpPr/>
          <p:nvPr/>
        </p:nvSpPr>
        <p:spPr>
          <a:xfrm>
            <a:off x="5989320" y="5061204"/>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Profit and price at the level of a single item and a single order.</a:t>
            </a:r>
            <a:endParaRPr lang="en-US" sz="970" dirty="0"/>
          </a:p>
        </p:txBody>
      </p:sp>
      <p:sp>
        <p:nvSpPr>
          <p:cNvPr id="31" name="Text 29"/>
          <p:cNvSpPr/>
          <p:nvPr/>
        </p:nvSpPr>
        <p:spPr>
          <a:xfrm>
            <a:off x="5989320" y="5404104"/>
            <a:ext cx="5349240" cy="237744"/>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7. Discount &amp; Profitability Diagnostics</a:t>
            </a:r>
            <a:endParaRPr lang="en-US" sz="1250" dirty="0"/>
          </a:p>
        </p:txBody>
      </p:sp>
      <p:sp>
        <p:nvSpPr>
          <p:cNvPr id="32" name="Text 30"/>
          <p:cNvSpPr/>
          <p:nvPr/>
        </p:nvSpPr>
        <p:spPr>
          <a:xfrm>
            <a:off x="5989320" y="5623560"/>
            <a:ext cx="5349240" cy="274320"/>
          </a:xfrm>
          <a:prstGeom prst="rect">
            <a:avLst/>
          </a:prstGeom>
          <a:noFill/>
          <a:ln/>
        </p:spPr>
        <p:txBody>
          <a:bodyPr wrap="square" rtlCol="0" anchor="ctr"/>
          <a:lstStyle/>
          <a:p>
            <a:pPr indent="0" marL="0">
              <a:lnSpc>
                <a:spcPct val="105000"/>
              </a:lnSpc>
              <a:buNone/>
            </a:pPr>
            <a:r>
              <a:rPr lang="en-US" sz="970" dirty="0">
                <a:solidFill>
                  <a:srgbClr val="5B6B8C"/>
                </a:solidFill>
                <a:latin typeface="Calibri" pitchFamily="34" charset="0"/>
                <a:ea typeface="Calibri" pitchFamily="34" charset="-122"/>
                <a:cs typeface="Calibri" pitchFamily="34" charset="-120"/>
              </a:rPr>
              <a:t>Order-level health checks — Profitable vs. Loss-Making — tied to discount depth.</a:t>
            </a:r>
            <a:endParaRPr lang="en-US" sz="970" dirty="0"/>
          </a:p>
        </p:txBody>
      </p:sp>
      <p:sp>
        <p:nvSpPr>
          <p:cNvPr id="33" name="Text 31"/>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34" name="Text 3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Execution Milestones</a:t>
            </a:r>
            <a:endParaRPr lang="en-US" sz="3000" dirty="0"/>
          </a:p>
        </p:txBody>
      </p:sp>
      <p:sp>
        <p:nvSpPr>
          <p:cNvPr id="4" name="Shape 2"/>
          <p:cNvSpPr/>
          <p:nvPr/>
        </p:nvSpPr>
        <p:spPr>
          <a:xfrm>
            <a:off x="548640" y="141732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5" name="Text 3"/>
          <p:cNvSpPr/>
          <p:nvPr/>
        </p:nvSpPr>
        <p:spPr>
          <a:xfrm>
            <a:off x="777240" y="158191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1737360" y="161848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1 – Data Acquisition &amp; Cleaning</a:t>
            </a:r>
            <a:endParaRPr lang="en-US" sz="1450" dirty="0"/>
          </a:p>
        </p:txBody>
      </p:sp>
      <p:sp>
        <p:nvSpPr>
          <p:cNvPr id="7" name="Text 5"/>
          <p:cNvSpPr/>
          <p:nvPr/>
        </p:nvSpPr>
        <p:spPr>
          <a:xfrm>
            <a:off x="804672" y="233172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Sourced the Retail Supply Chain Sales Dataset from Kaggle and studied it field by field across five field groups (order, customer, product, performance, logistics). Removed duplicate order and shipment records, handled missing shipping/delivery dates, standardized data types and casing, and renamed fields for clarity.</a:t>
            </a:r>
            <a:endParaRPr lang="en-US" sz="1130" dirty="0"/>
          </a:p>
        </p:txBody>
      </p:sp>
      <p:sp>
        <p:nvSpPr>
          <p:cNvPr id="8" name="Shape 6"/>
          <p:cNvSpPr/>
          <p:nvPr/>
        </p:nvSpPr>
        <p:spPr>
          <a:xfrm>
            <a:off x="6217920" y="141732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9" name="Text 7"/>
          <p:cNvSpPr/>
          <p:nvPr/>
        </p:nvSpPr>
        <p:spPr>
          <a:xfrm>
            <a:off x="6446520" y="158191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7406640" y="161848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2 – Data Modeling</a:t>
            </a:r>
            <a:endParaRPr lang="en-US" sz="1450" dirty="0"/>
          </a:p>
        </p:txBody>
      </p:sp>
      <p:sp>
        <p:nvSpPr>
          <p:cNvPr id="11" name="Text 9"/>
          <p:cNvSpPr/>
          <p:nvPr/>
        </p:nvSpPr>
        <p:spPr>
          <a:xfrm>
            <a:off x="6473952" y="233172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Built a star-style model with the order dataset as the central fact table and a supporting Calendar Table for time-intelligence. Defined a reusable nine-measure DAX library (Total Sales, Total Profit, Profit Margin, Return Rate, and more) and delivered the first two-page dashboard: 2.30M in sales, 5,009 orders, 12.47% margin.</a:t>
            </a:r>
            <a:endParaRPr lang="en-US" sz="1130" dirty="0"/>
          </a:p>
        </p:txBody>
      </p:sp>
      <p:sp>
        <p:nvSpPr>
          <p:cNvPr id="12" name="Shape 10"/>
          <p:cNvSpPr/>
          <p:nvPr/>
        </p:nvSpPr>
        <p:spPr>
          <a:xfrm>
            <a:off x="548640" y="406908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13" name="Text 11"/>
          <p:cNvSpPr/>
          <p:nvPr/>
        </p:nvSpPr>
        <p:spPr>
          <a:xfrm>
            <a:off x="777240" y="423367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03</a:t>
            </a:r>
            <a:endParaRPr lang="en-US" sz="3400" dirty="0"/>
          </a:p>
        </p:txBody>
      </p:sp>
      <p:sp>
        <p:nvSpPr>
          <p:cNvPr id="14" name="Text 12"/>
          <p:cNvSpPr/>
          <p:nvPr/>
        </p:nvSpPr>
        <p:spPr>
          <a:xfrm>
            <a:off x="1737360" y="427024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3 – Development</a:t>
            </a:r>
            <a:endParaRPr lang="en-US" sz="1450" dirty="0"/>
          </a:p>
        </p:txBody>
      </p:sp>
      <p:sp>
        <p:nvSpPr>
          <p:cNvPr id="15" name="Text 13"/>
          <p:cNvSpPr/>
          <p:nvPr/>
        </p:nvSpPr>
        <p:spPr>
          <a:xfrm>
            <a:off x="804672" y="498348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Expanded the report to a five-page analytical suite, adding Product &amp; Pricing Analysis, Customer &amp; Regional Insights, and Business Performance Monitoring — all reusing the existing data model and measure library so formatting, colours, and cross-filtering stayed identical across every page.</a:t>
            </a:r>
            <a:endParaRPr lang="en-US" sz="1130" dirty="0"/>
          </a:p>
        </p:txBody>
      </p:sp>
      <p:sp>
        <p:nvSpPr>
          <p:cNvPr id="16" name="Shape 14"/>
          <p:cNvSpPr/>
          <p:nvPr/>
        </p:nvSpPr>
        <p:spPr>
          <a:xfrm>
            <a:off x="6217920" y="4069080"/>
            <a:ext cx="5349240" cy="2331720"/>
          </a:xfrm>
          <a:prstGeom prst="roundRect">
            <a:avLst>
              <a:gd name="adj" fmla="val 3137"/>
            </a:avLst>
          </a:prstGeom>
          <a:solidFill>
            <a:srgbClr val="F4F6FB"/>
          </a:solidFill>
          <a:ln/>
          <a:effectLst>
            <a:outerShdw sx="100000" sy="100000" kx="0" ky="0" algn="bl" rotWithShape="0" blurRad="76200" dist="25400" dir="5400000">
              <a:srgbClr val="8C97B8">
                <a:alpha val="22000"/>
              </a:srgbClr>
            </a:outerShdw>
          </a:effectLst>
        </p:spPr>
      </p:sp>
      <p:sp>
        <p:nvSpPr>
          <p:cNvPr id="17" name="Text 15"/>
          <p:cNvSpPr/>
          <p:nvPr/>
        </p:nvSpPr>
        <p:spPr>
          <a:xfrm>
            <a:off x="6446520" y="4233672"/>
            <a:ext cx="1005840" cy="68580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04</a:t>
            </a:r>
            <a:endParaRPr lang="en-US" sz="3400" dirty="0"/>
          </a:p>
        </p:txBody>
      </p:sp>
      <p:sp>
        <p:nvSpPr>
          <p:cNvPr id="18" name="Text 16"/>
          <p:cNvSpPr/>
          <p:nvPr/>
        </p:nvSpPr>
        <p:spPr>
          <a:xfrm>
            <a:off x="7406640" y="4270248"/>
            <a:ext cx="3931920" cy="566928"/>
          </a:xfrm>
          <a:prstGeom prst="rect">
            <a:avLst/>
          </a:prstGeom>
          <a:noFill/>
          <a:ln/>
        </p:spPr>
        <p:txBody>
          <a:bodyPr wrap="square" rtlCol="0" anchor="t"/>
          <a:lstStyle/>
          <a:p>
            <a:pPr indent="0" marL="0">
              <a:lnSpc>
                <a:spcPct val="105000"/>
              </a:lnSpc>
              <a:buNone/>
            </a:pPr>
            <a:r>
              <a:rPr lang="en-US" sz="1450" b="1" dirty="0">
                <a:solidFill>
                  <a:srgbClr val="1E2761"/>
                </a:solidFill>
                <a:latin typeface="Calibri" pitchFamily="34" charset="0"/>
                <a:ea typeface="Calibri" pitchFamily="34" charset="-122"/>
                <a:cs typeface="Calibri" pitchFamily="34" charset="-120"/>
              </a:rPr>
              <a:t>Milestone 4 – Review &amp; Optimization</a:t>
            </a:r>
            <a:endParaRPr lang="en-US" sz="1450" dirty="0"/>
          </a:p>
        </p:txBody>
      </p:sp>
      <p:sp>
        <p:nvSpPr>
          <p:cNvPr id="19" name="Text 17"/>
          <p:cNvSpPr/>
          <p:nvPr/>
        </p:nvSpPr>
        <p:spPr>
          <a:xfrm>
            <a:off x="6473952" y="4983480"/>
            <a:ext cx="4837176" cy="1234440"/>
          </a:xfrm>
          <a:prstGeom prst="rect">
            <a:avLst/>
          </a:prstGeom>
          <a:noFill/>
          <a:ln/>
        </p:spPr>
        <p:txBody>
          <a:bodyPr wrap="square" rtlCol="0" anchor="t"/>
          <a:lstStyle/>
          <a:p>
            <a:pPr indent="0" marL="0">
              <a:lnSpc>
                <a:spcPct val="120000"/>
              </a:lnSpc>
              <a:buNone/>
            </a:pPr>
            <a:r>
              <a:rPr lang="en-US" sz="1130" dirty="0">
                <a:solidFill>
                  <a:srgbClr val="1B1F2E"/>
                </a:solidFill>
                <a:latin typeface="Calibri" pitchFamily="34" charset="0"/>
                <a:ea typeface="Calibri" pitchFamily="34" charset="-122"/>
                <a:cs typeface="Calibri" pitchFamily="34" charset="-120"/>
              </a:rPr>
              <a:t>Added nine new DAX measures and two pages — Order &amp; Unit Economics and Discount &amp; Profitability Diagnostics — introducing Profitable/Loss-Making order flags and Discount/Profitability bands. Validated every slicer and drill-through end-to-end and finalized the complete seven-page suite for stakeholder handover.</a:t>
            </a:r>
            <a:endParaRPr lang="en-US" sz="113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Challenges &amp; Resolutions</a:t>
            </a:r>
            <a:endParaRPr lang="en-US" sz="3000" dirty="0"/>
          </a:p>
        </p:txBody>
      </p:sp>
      <p:sp>
        <p:nvSpPr>
          <p:cNvPr id="4" name="Shape 2"/>
          <p:cNvSpPr/>
          <p:nvPr/>
        </p:nvSpPr>
        <p:spPr>
          <a:xfrm>
            <a:off x="548640" y="1371600"/>
            <a:ext cx="5440680" cy="4892040"/>
          </a:xfrm>
          <a:prstGeom prst="roundRect">
            <a:avLst>
              <a:gd name="adj" fmla="val 1495"/>
            </a:avLst>
          </a:prstGeom>
          <a:solidFill>
            <a:srgbClr val="FBEEE9"/>
          </a:solidFill>
          <a:ln/>
        </p:spPr>
      </p:sp>
      <p:sp>
        <p:nvSpPr>
          <p:cNvPr id="5" name="Text 3"/>
          <p:cNvSpPr/>
          <p:nvPr/>
        </p:nvSpPr>
        <p:spPr>
          <a:xfrm>
            <a:off x="914400" y="1572768"/>
            <a:ext cx="475488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CHALLENGES</a:t>
            </a:r>
            <a:endParaRPr lang="en-US" sz="1300" dirty="0"/>
          </a:p>
        </p:txBody>
      </p:sp>
      <p:sp>
        <p:nvSpPr>
          <p:cNvPr id="6" name="Shape 4"/>
          <p:cNvSpPr/>
          <p:nvPr/>
        </p:nvSpPr>
        <p:spPr>
          <a:xfrm>
            <a:off x="914400" y="1874520"/>
            <a:ext cx="292608" cy="292608"/>
          </a:xfrm>
          <a:prstGeom prst="ellipse">
            <a:avLst/>
          </a:prstGeom>
          <a:solidFill>
            <a:srgbClr val="C2542D"/>
          </a:solidFill>
          <a:ln/>
        </p:spPr>
      </p:sp>
      <p:sp>
        <p:nvSpPr>
          <p:cNvPr id="7" name="Text 5"/>
          <p:cNvSpPr/>
          <p:nvPr/>
        </p:nvSpPr>
        <p:spPr>
          <a:xfrm>
            <a:off x="914400" y="187452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71600" y="180136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The raw Discount column is continuous, so the team had to agree on a clear cut-off before orders could be grouped into No-Discount / High-Discount bands.</a:t>
            </a:r>
            <a:endParaRPr lang="en-US" sz="1130" dirty="0"/>
          </a:p>
        </p:txBody>
      </p:sp>
      <p:sp>
        <p:nvSpPr>
          <p:cNvPr id="9" name="Shape 7"/>
          <p:cNvSpPr/>
          <p:nvPr/>
        </p:nvSpPr>
        <p:spPr>
          <a:xfrm>
            <a:off x="914400" y="2971800"/>
            <a:ext cx="292608" cy="292608"/>
          </a:xfrm>
          <a:prstGeom prst="ellipse">
            <a:avLst/>
          </a:prstGeom>
          <a:solidFill>
            <a:srgbClr val="C2542D"/>
          </a:solidFill>
          <a:ln/>
        </p:spPr>
      </p:sp>
      <p:sp>
        <p:nvSpPr>
          <p:cNvPr id="10" name="Text 8"/>
          <p:cNvSpPr/>
          <p:nvPr/>
        </p:nvSpPr>
        <p:spPr>
          <a:xfrm>
            <a:off x="914400" y="297180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71600" y="289864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Profit per Unit and Sales per Unit risked being misread as per-order figures rather than per-unit benchmarks across the new Order &amp; Unit Economics page.</a:t>
            </a:r>
            <a:endParaRPr lang="en-US" sz="1130" dirty="0"/>
          </a:p>
        </p:txBody>
      </p:sp>
      <p:sp>
        <p:nvSpPr>
          <p:cNvPr id="12" name="Shape 10"/>
          <p:cNvSpPr/>
          <p:nvPr/>
        </p:nvSpPr>
        <p:spPr>
          <a:xfrm>
            <a:off x="914400" y="4069080"/>
            <a:ext cx="292608" cy="292608"/>
          </a:xfrm>
          <a:prstGeom prst="ellipse">
            <a:avLst/>
          </a:prstGeom>
          <a:solidFill>
            <a:srgbClr val="C2542D"/>
          </a:solidFill>
          <a:ln/>
        </p:spPr>
      </p:sp>
      <p:sp>
        <p:nvSpPr>
          <p:cNvPr id="13" name="Text 11"/>
          <p:cNvSpPr/>
          <p:nvPr/>
        </p:nvSpPr>
        <p:spPr>
          <a:xfrm>
            <a:off x="914400" y="406908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371600" y="399592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Profitability Band totals (High/Medium/Low) had to reconcile exactly with the Total Profit already reported in Milestone 3 — any DAX slip would silently misstate the numbers.</a:t>
            </a:r>
            <a:endParaRPr lang="en-US" sz="1130" dirty="0"/>
          </a:p>
        </p:txBody>
      </p:sp>
      <p:sp>
        <p:nvSpPr>
          <p:cNvPr id="15" name="Shape 13"/>
          <p:cNvSpPr/>
          <p:nvPr/>
        </p:nvSpPr>
        <p:spPr>
          <a:xfrm>
            <a:off x="914400" y="5166360"/>
            <a:ext cx="292608" cy="292608"/>
          </a:xfrm>
          <a:prstGeom prst="ellipse">
            <a:avLst/>
          </a:prstGeom>
          <a:solidFill>
            <a:srgbClr val="C2542D"/>
          </a:solidFill>
          <a:ln/>
        </p:spPr>
      </p:sp>
      <p:sp>
        <p:nvSpPr>
          <p:cNvPr id="16" name="Text 14"/>
          <p:cNvSpPr/>
          <p:nvPr/>
        </p:nvSpPr>
        <p:spPr>
          <a:xfrm>
            <a:off x="914400" y="516636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371600" y="509320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Keeping two brand-new pages on-brand with Pages 1–5 while coordinating a six-person team within a compressed six-week schedule.</a:t>
            </a:r>
            <a:endParaRPr lang="en-US" sz="1130" dirty="0"/>
          </a:p>
        </p:txBody>
      </p:sp>
      <p:sp>
        <p:nvSpPr>
          <p:cNvPr id="18" name="Shape 16"/>
          <p:cNvSpPr/>
          <p:nvPr/>
        </p:nvSpPr>
        <p:spPr>
          <a:xfrm>
            <a:off x="6172200" y="1371600"/>
            <a:ext cx="5440680" cy="4892040"/>
          </a:xfrm>
          <a:prstGeom prst="roundRect">
            <a:avLst>
              <a:gd name="adj" fmla="val 1495"/>
            </a:avLst>
          </a:prstGeom>
          <a:solidFill>
            <a:srgbClr val="E8ECF9"/>
          </a:solidFill>
          <a:ln/>
        </p:spPr>
      </p:sp>
      <p:sp>
        <p:nvSpPr>
          <p:cNvPr id="19" name="Text 17"/>
          <p:cNvSpPr/>
          <p:nvPr/>
        </p:nvSpPr>
        <p:spPr>
          <a:xfrm>
            <a:off x="6537960" y="1572768"/>
            <a:ext cx="475488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RESOLUTIONS</a:t>
            </a:r>
            <a:endParaRPr lang="en-US" sz="1300" dirty="0"/>
          </a:p>
        </p:txBody>
      </p:sp>
      <p:sp>
        <p:nvSpPr>
          <p:cNvPr id="20" name="Shape 18"/>
          <p:cNvSpPr/>
          <p:nvPr/>
        </p:nvSpPr>
        <p:spPr>
          <a:xfrm>
            <a:off x="6537960" y="1874520"/>
            <a:ext cx="292608" cy="292608"/>
          </a:xfrm>
          <a:prstGeom prst="ellipse">
            <a:avLst/>
          </a:prstGeom>
          <a:solidFill>
            <a:srgbClr val="1E2761"/>
          </a:solidFill>
          <a:ln/>
        </p:spPr>
      </p:sp>
      <p:sp>
        <p:nvSpPr>
          <p:cNvPr id="21" name="Text 19"/>
          <p:cNvSpPr/>
          <p:nvPr/>
        </p:nvSpPr>
        <p:spPr>
          <a:xfrm>
            <a:off x="6537960" y="187452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6995160" y="180136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Benchmarked the cut-off against the average discount already reported in Milestone 3, giving a defensible, data-grounded threshold for the Discount Band.</a:t>
            </a:r>
            <a:endParaRPr lang="en-US" sz="1130" dirty="0"/>
          </a:p>
        </p:txBody>
      </p:sp>
      <p:sp>
        <p:nvSpPr>
          <p:cNvPr id="23" name="Shape 21"/>
          <p:cNvSpPr/>
          <p:nvPr/>
        </p:nvSpPr>
        <p:spPr>
          <a:xfrm>
            <a:off x="6537960" y="2971800"/>
            <a:ext cx="292608" cy="292608"/>
          </a:xfrm>
          <a:prstGeom prst="ellipse">
            <a:avLst/>
          </a:prstGeom>
          <a:solidFill>
            <a:srgbClr val="1E2761"/>
          </a:solidFill>
          <a:ln/>
        </p:spPr>
      </p:sp>
      <p:sp>
        <p:nvSpPr>
          <p:cNvPr id="24" name="Text 22"/>
          <p:cNvSpPr/>
          <p:nvPr/>
        </p:nvSpPr>
        <p:spPr>
          <a:xfrm>
            <a:off x="6537960" y="297180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p:nvPr/>
        </p:nvSpPr>
        <p:spPr>
          <a:xfrm>
            <a:off x="6995160" y="289864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Used clear card titles and matching labels across every page so unit-level and order-level metrics could never be confused by a reader.</a:t>
            </a:r>
            <a:endParaRPr lang="en-US" sz="1130" dirty="0"/>
          </a:p>
        </p:txBody>
      </p:sp>
      <p:sp>
        <p:nvSpPr>
          <p:cNvPr id="26" name="Shape 24"/>
          <p:cNvSpPr/>
          <p:nvPr/>
        </p:nvSpPr>
        <p:spPr>
          <a:xfrm>
            <a:off x="6537960" y="4069080"/>
            <a:ext cx="292608" cy="292608"/>
          </a:xfrm>
          <a:prstGeom prst="ellipse">
            <a:avLst/>
          </a:prstGeom>
          <a:solidFill>
            <a:srgbClr val="1E2761"/>
          </a:solidFill>
          <a:ln/>
        </p:spPr>
      </p:sp>
      <p:sp>
        <p:nvSpPr>
          <p:cNvPr id="27" name="Text 25"/>
          <p:cNvSpPr/>
          <p:nvPr/>
        </p:nvSpPr>
        <p:spPr>
          <a:xfrm>
            <a:off x="6537960" y="406908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6995160" y="399592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Carefully checked the DAX logic so High/Medium/Low Profit Band totals summed back exactly to the Total Profit figure already validated in Milestone 3.</a:t>
            </a:r>
            <a:endParaRPr lang="en-US" sz="1130" dirty="0"/>
          </a:p>
        </p:txBody>
      </p:sp>
      <p:sp>
        <p:nvSpPr>
          <p:cNvPr id="29" name="Shape 27"/>
          <p:cNvSpPr/>
          <p:nvPr/>
        </p:nvSpPr>
        <p:spPr>
          <a:xfrm>
            <a:off x="6537960" y="5166360"/>
            <a:ext cx="292608" cy="292608"/>
          </a:xfrm>
          <a:prstGeom prst="ellipse">
            <a:avLst/>
          </a:prstGeom>
          <a:solidFill>
            <a:srgbClr val="1E2761"/>
          </a:solidFill>
          <a:ln/>
        </p:spPr>
      </p:sp>
      <p:sp>
        <p:nvSpPr>
          <p:cNvPr id="30" name="Text 28"/>
          <p:cNvSpPr/>
          <p:nvPr/>
        </p:nvSpPr>
        <p:spPr>
          <a:xfrm>
            <a:off x="6537960" y="516636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p:nvPr/>
        </p:nvSpPr>
        <p:spPr>
          <a:xfrm>
            <a:off x="6995160" y="5093208"/>
            <a:ext cx="4434840" cy="960120"/>
          </a:xfrm>
          <a:prstGeom prst="rect">
            <a:avLst/>
          </a:prstGeom>
          <a:noFill/>
          <a:ln/>
        </p:spPr>
        <p:txBody>
          <a:bodyPr wrap="square" rtlCol="0" anchor="t"/>
          <a:lstStyle/>
          <a:p>
            <a:pPr indent="0" marL="0">
              <a:lnSpc>
                <a:spcPct val="115000"/>
              </a:lnSpc>
              <a:buNone/>
            </a:pPr>
            <a:r>
              <a:rPr lang="en-US" sz="1130" dirty="0">
                <a:solidFill>
                  <a:srgbClr val="1B1F2E"/>
                </a:solidFill>
                <a:latin typeface="Calibri" pitchFamily="34" charset="0"/>
                <a:ea typeface="Calibri" pitchFamily="34" charset="-122"/>
                <a:cs typeface="Calibri" pitchFamily="34" charset="-120"/>
              </a:rPr>
              <a:t>Reused the existing measure library and visual formatting for every new page, and split work along milestone phase boundaries with GitHub/GitLab version control for clean handoffs.</a:t>
            </a:r>
            <a:endParaRPr lang="en-US" sz="1130" dirty="0"/>
          </a:p>
        </p:txBody>
      </p:sp>
      <p:sp>
        <p:nvSpPr>
          <p:cNvPr id="32" name="Text 30"/>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33" name="Text 3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5156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Future Enhancements &amp; Key Insights</a:t>
            </a:r>
            <a:endParaRPr lang="en-US" sz="2800" dirty="0"/>
          </a:p>
        </p:txBody>
      </p:sp>
      <p:sp>
        <p:nvSpPr>
          <p:cNvPr id="4" name="Text 2"/>
          <p:cNvSpPr/>
          <p:nvPr/>
        </p:nvSpPr>
        <p:spPr>
          <a:xfrm>
            <a:off x="548640" y="137160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FUTURE ENHANCEMENTS</a:t>
            </a:r>
            <a:endParaRPr lang="en-US" sz="1300" dirty="0"/>
          </a:p>
        </p:txBody>
      </p:sp>
      <p:sp>
        <p:nvSpPr>
          <p:cNvPr id="5" name="Shape 3"/>
          <p:cNvSpPr/>
          <p:nvPr/>
        </p:nvSpPr>
        <p:spPr>
          <a:xfrm rot="5400000">
            <a:off x="566928" y="1856232"/>
            <a:ext cx="118872" cy="118872"/>
          </a:xfrm>
          <a:prstGeom prst="triangle">
            <a:avLst/>
          </a:prstGeom>
          <a:solidFill>
            <a:srgbClr val="C2542D"/>
          </a:solidFill>
          <a:ln/>
        </p:spPr>
      </p:sp>
      <p:sp>
        <p:nvSpPr>
          <p:cNvPr id="6" name="Text 4"/>
          <p:cNvSpPr/>
          <p:nvPr/>
        </p:nvSpPr>
        <p:spPr>
          <a:xfrm>
            <a:off x="841248" y="1737360"/>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Introduce a scheduled data refresh so the dashboard stays current automatically, rather than relying on a static CSV snapshot.</a:t>
            </a:r>
            <a:endParaRPr lang="en-US" sz="1180" dirty="0"/>
          </a:p>
        </p:txBody>
      </p:sp>
      <p:sp>
        <p:nvSpPr>
          <p:cNvPr id="7" name="Shape 5"/>
          <p:cNvSpPr/>
          <p:nvPr/>
        </p:nvSpPr>
        <p:spPr>
          <a:xfrm rot="5400000">
            <a:off x="566928" y="2651760"/>
            <a:ext cx="118872" cy="118872"/>
          </a:xfrm>
          <a:prstGeom prst="triangle">
            <a:avLst/>
          </a:prstGeom>
          <a:solidFill>
            <a:srgbClr val="C2542D"/>
          </a:solidFill>
          <a:ln/>
        </p:spPr>
      </p:sp>
      <p:sp>
        <p:nvSpPr>
          <p:cNvPr id="8" name="Text 6"/>
          <p:cNvSpPr/>
          <p:nvPr/>
        </p:nvSpPr>
        <p:spPr>
          <a:xfrm>
            <a:off x="841248" y="2532888"/>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Explore row-level security so regional managers see a filtered view of the same report without needing separate files.</a:t>
            </a:r>
            <a:endParaRPr lang="en-US" sz="1180" dirty="0"/>
          </a:p>
        </p:txBody>
      </p:sp>
      <p:sp>
        <p:nvSpPr>
          <p:cNvPr id="9" name="Shape 7"/>
          <p:cNvSpPr/>
          <p:nvPr/>
        </p:nvSpPr>
        <p:spPr>
          <a:xfrm rot="5400000">
            <a:off x="566928" y="3447288"/>
            <a:ext cx="118872" cy="118872"/>
          </a:xfrm>
          <a:prstGeom prst="triangle">
            <a:avLst/>
          </a:prstGeom>
          <a:solidFill>
            <a:srgbClr val="C2542D"/>
          </a:solidFill>
          <a:ln/>
        </p:spPr>
      </p:sp>
      <p:sp>
        <p:nvSpPr>
          <p:cNvPr id="10" name="Text 8"/>
          <p:cNvSpPr/>
          <p:nvPr/>
        </p:nvSpPr>
        <p:spPr>
          <a:xfrm>
            <a:off x="841248" y="3328416"/>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Build a discount-depth what-if parameter to simulate the profit impact of a proposed policy change before applying it.</a:t>
            </a:r>
            <a:endParaRPr lang="en-US" sz="1180" dirty="0"/>
          </a:p>
        </p:txBody>
      </p:sp>
      <p:sp>
        <p:nvSpPr>
          <p:cNvPr id="11" name="Shape 9"/>
          <p:cNvSpPr/>
          <p:nvPr/>
        </p:nvSpPr>
        <p:spPr>
          <a:xfrm rot="5400000">
            <a:off x="566928" y="4242816"/>
            <a:ext cx="118872" cy="118872"/>
          </a:xfrm>
          <a:prstGeom prst="triangle">
            <a:avLst/>
          </a:prstGeom>
          <a:solidFill>
            <a:srgbClr val="C2542D"/>
          </a:solidFill>
          <a:ln/>
        </p:spPr>
      </p:sp>
      <p:sp>
        <p:nvSpPr>
          <p:cNvPr id="12" name="Text 10"/>
          <p:cNvSpPr/>
          <p:nvPr/>
        </p:nvSpPr>
        <p:spPr>
          <a:xfrm>
            <a:off x="841248" y="4123944"/>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Add drill-through paths from region to state and category to sub-category directly on the Executive Dashboard.</a:t>
            </a:r>
            <a:endParaRPr lang="en-US" sz="1180" dirty="0"/>
          </a:p>
        </p:txBody>
      </p:sp>
      <p:sp>
        <p:nvSpPr>
          <p:cNvPr id="13" name="Shape 11"/>
          <p:cNvSpPr/>
          <p:nvPr/>
        </p:nvSpPr>
        <p:spPr>
          <a:xfrm rot="5400000">
            <a:off x="566928" y="5038344"/>
            <a:ext cx="118872" cy="118872"/>
          </a:xfrm>
          <a:prstGeom prst="triangle">
            <a:avLst/>
          </a:prstGeom>
          <a:solidFill>
            <a:srgbClr val="C2542D"/>
          </a:solidFill>
          <a:ln/>
        </p:spPr>
      </p:sp>
      <p:sp>
        <p:nvSpPr>
          <p:cNvPr id="14" name="Text 12"/>
          <p:cNvSpPr/>
          <p:nvPr/>
        </p:nvSpPr>
        <p:spPr>
          <a:xfrm>
            <a:off x="841248" y="4919472"/>
            <a:ext cx="4892040" cy="658368"/>
          </a:xfrm>
          <a:prstGeom prst="rect">
            <a:avLst/>
          </a:prstGeom>
          <a:noFill/>
          <a:ln/>
        </p:spPr>
        <p:txBody>
          <a:bodyPr wrap="square" rtlCol="0" anchor="t"/>
          <a:lstStyle/>
          <a:p>
            <a:pPr indent="0" marL="0">
              <a:lnSpc>
                <a:spcPct val="115000"/>
              </a:lnSpc>
              <a:buNone/>
            </a:pPr>
            <a:r>
              <a:rPr lang="en-US" sz="1180" dirty="0">
                <a:solidFill>
                  <a:srgbClr val="1B1F2E"/>
                </a:solidFill>
                <a:latin typeface="Calibri" pitchFamily="34" charset="0"/>
                <a:ea typeface="Calibri" pitchFamily="34" charset="-122"/>
                <a:cs typeface="Calibri" pitchFamily="34" charset="-120"/>
              </a:rPr>
              <a:t>Segment loss-making orders into discount-driven vs. structurally-thin-margin groups, since each needs a different fix.</a:t>
            </a:r>
            <a:endParaRPr lang="en-US" sz="1180" dirty="0"/>
          </a:p>
        </p:txBody>
      </p:sp>
      <p:sp>
        <p:nvSpPr>
          <p:cNvPr id="15" name="Shape 13"/>
          <p:cNvSpPr/>
          <p:nvPr/>
        </p:nvSpPr>
        <p:spPr>
          <a:xfrm>
            <a:off x="5806440" y="1371600"/>
            <a:ext cx="5806440" cy="4892040"/>
          </a:xfrm>
          <a:prstGeom prst="roundRect">
            <a:avLst>
              <a:gd name="adj" fmla="val 1495"/>
            </a:avLst>
          </a:prstGeom>
          <a:solidFill>
            <a:srgbClr val="1E2761"/>
          </a:solidFill>
          <a:ln/>
        </p:spPr>
      </p:sp>
      <p:sp>
        <p:nvSpPr>
          <p:cNvPr id="16" name="Text 14"/>
          <p:cNvSpPr/>
          <p:nvPr/>
        </p:nvSpPr>
        <p:spPr>
          <a:xfrm>
            <a:off x="6172200" y="1536192"/>
            <a:ext cx="5120640" cy="32004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KEY INSIGHTS</a:t>
            </a:r>
            <a:endParaRPr lang="en-US" sz="1300" dirty="0"/>
          </a:p>
        </p:txBody>
      </p:sp>
      <p:sp>
        <p:nvSpPr>
          <p:cNvPr id="17" name="Shape 15"/>
          <p:cNvSpPr/>
          <p:nvPr/>
        </p:nvSpPr>
        <p:spPr>
          <a:xfrm>
            <a:off x="6126480" y="1938528"/>
            <a:ext cx="2606040" cy="1261872"/>
          </a:xfrm>
          <a:prstGeom prst="roundRect">
            <a:avLst>
              <a:gd name="adj" fmla="val 4348"/>
            </a:avLst>
          </a:prstGeom>
          <a:solidFill>
            <a:srgbClr val="232C6B"/>
          </a:solidFill>
          <a:ln/>
        </p:spPr>
      </p:sp>
      <p:sp>
        <p:nvSpPr>
          <p:cNvPr id="18" name="Text 16"/>
          <p:cNvSpPr/>
          <p:nvPr/>
        </p:nvSpPr>
        <p:spPr>
          <a:xfrm>
            <a:off x="6272784" y="20299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2.30M</a:t>
            </a:r>
            <a:endParaRPr lang="en-US" sz="1900" dirty="0"/>
          </a:p>
        </p:txBody>
      </p:sp>
      <p:sp>
        <p:nvSpPr>
          <p:cNvPr id="19" name="Text 17"/>
          <p:cNvSpPr/>
          <p:nvPr/>
        </p:nvSpPr>
        <p:spPr>
          <a:xfrm>
            <a:off x="6272784" y="23957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Total Sales across 5,009 orders, with a 12.47% overall Profit Margin.</a:t>
            </a:r>
            <a:endParaRPr lang="en-US" sz="930" dirty="0"/>
          </a:p>
        </p:txBody>
      </p:sp>
      <p:sp>
        <p:nvSpPr>
          <p:cNvPr id="20" name="Shape 18"/>
          <p:cNvSpPr/>
          <p:nvPr/>
        </p:nvSpPr>
        <p:spPr>
          <a:xfrm>
            <a:off x="8915400" y="1938528"/>
            <a:ext cx="2606040" cy="1261872"/>
          </a:xfrm>
          <a:prstGeom prst="roundRect">
            <a:avLst>
              <a:gd name="adj" fmla="val 4348"/>
            </a:avLst>
          </a:prstGeom>
          <a:solidFill>
            <a:srgbClr val="232C6B"/>
          </a:solidFill>
          <a:ln/>
        </p:spPr>
      </p:sp>
      <p:sp>
        <p:nvSpPr>
          <p:cNvPr id="21" name="Text 19"/>
          <p:cNvSpPr/>
          <p:nvPr/>
        </p:nvSpPr>
        <p:spPr>
          <a:xfrm>
            <a:off x="9061704" y="20299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108K</a:t>
            </a:r>
            <a:endParaRPr lang="en-US" sz="1900" dirty="0"/>
          </a:p>
        </p:txBody>
      </p:sp>
      <p:sp>
        <p:nvSpPr>
          <p:cNvPr id="22" name="Text 20"/>
          <p:cNvSpPr/>
          <p:nvPr/>
        </p:nvSpPr>
        <p:spPr>
          <a:xfrm>
            <a:off x="9061704" y="23957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West-region profit leads East (92K), South (47K), and Central (40K).</a:t>
            </a:r>
            <a:endParaRPr lang="en-US" sz="930" dirty="0"/>
          </a:p>
        </p:txBody>
      </p:sp>
      <p:sp>
        <p:nvSpPr>
          <p:cNvPr id="23" name="Shape 21"/>
          <p:cNvSpPr/>
          <p:nvPr/>
        </p:nvSpPr>
        <p:spPr>
          <a:xfrm>
            <a:off x="6126480" y="3310128"/>
            <a:ext cx="2606040" cy="1261872"/>
          </a:xfrm>
          <a:prstGeom prst="roundRect">
            <a:avLst>
              <a:gd name="adj" fmla="val 4348"/>
            </a:avLst>
          </a:prstGeom>
          <a:solidFill>
            <a:srgbClr val="232C6B"/>
          </a:solidFill>
          <a:ln/>
        </p:spPr>
      </p:sp>
      <p:sp>
        <p:nvSpPr>
          <p:cNvPr id="24" name="Text 22"/>
          <p:cNvSpPr/>
          <p:nvPr/>
        </p:nvSpPr>
        <p:spPr>
          <a:xfrm>
            <a:off x="6272784" y="34015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79.26%</a:t>
            </a:r>
            <a:endParaRPr lang="en-US" sz="1900" dirty="0"/>
          </a:p>
        </p:txBody>
      </p:sp>
      <p:sp>
        <p:nvSpPr>
          <p:cNvPr id="25" name="Text 23"/>
          <p:cNvSpPr/>
          <p:nvPr/>
        </p:nvSpPr>
        <p:spPr>
          <a:xfrm>
            <a:off x="6272784" y="37673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Profitable Order Rate — but 20.40% of orders currently lose money.</a:t>
            </a:r>
            <a:endParaRPr lang="en-US" sz="930" dirty="0"/>
          </a:p>
        </p:txBody>
      </p:sp>
      <p:sp>
        <p:nvSpPr>
          <p:cNvPr id="26" name="Shape 24"/>
          <p:cNvSpPr/>
          <p:nvPr/>
        </p:nvSpPr>
        <p:spPr>
          <a:xfrm>
            <a:off x="8915400" y="3310128"/>
            <a:ext cx="2606040" cy="1261872"/>
          </a:xfrm>
          <a:prstGeom prst="roundRect">
            <a:avLst>
              <a:gd name="adj" fmla="val 4348"/>
            </a:avLst>
          </a:prstGeom>
          <a:solidFill>
            <a:srgbClr val="232C6B"/>
          </a:solidFill>
          <a:ln/>
        </p:spPr>
      </p:sp>
      <p:sp>
        <p:nvSpPr>
          <p:cNvPr id="27" name="Text 25"/>
          <p:cNvSpPr/>
          <p:nvPr/>
        </p:nvSpPr>
        <p:spPr>
          <a:xfrm>
            <a:off x="9061704" y="34015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237.68</a:t>
            </a:r>
            <a:endParaRPr lang="en-US" sz="1900" dirty="0"/>
          </a:p>
        </p:txBody>
      </p:sp>
      <p:sp>
        <p:nvSpPr>
          <p:cNvPr id="28" name="Text 26"/>
          <p:cNvSpPr/>
          <p:nvPr/>
        </p:nvSpPr>
        <p:spPr>
          <a:xfrm>
            <a:off x="9061704" y="37673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Profit per unit from Copiers, an order of magnitude above every other sub-category.</a:t>
            </a:r>
            <a:endParaRPr lang="en-US" sz="930" dirty="0"/>
          </a:p>
        </p:txBody>
      </p:sp>
      <p:sp>
        <p:nvSpPr>
          <p:cNvPr id="29" name="Shape 27"/>
          <p:cNvSpPr/>
          <p:nvPr/>
        </p:nvSpPr>
        <p:spPr>
          <a:xfrm>
            <a:off x="6126480" y="4681728"/>
            <a:ext cx="2606040" cy="1261872"/>
          </a:xfrm>
          <a:prstGeom prst="roundRect">
            <a:avLst>
              <a:gd name="adj" fmla="val 4348"/>
            </a:avLst>
          </a:prstGeom>
          <a:solidFill>
            <a:srgbClr val="232C6B"/>
          </a:solidFill>
          <a:ln/>
        </p:spPr>
      </p:sp>
      <p:sp>
        <p:nvSpPr>
          <p:cNvPr id="30" name="Text 28"/>
          <p:cNvSpPr/>
          <p:nvPr/>
        </p:nvSpPr>
        <p:spPr>
          <a:xfrm>
            <a:off x="6272784" y="47731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59.77%</a:t>
            </a:r>
            <a:endParaRPr lang="en-US" sz="1900" dirty="0"/>
          </a:p>
        </p:txBody>
      </p:sp>
      <p:sp>
        <p:nvSpPr>
          <p:cNvPr id="31" name="Text 29"/>
          <p:cNvSpPr/>
          <p:nvPr/>
        </p:nvSpPr>
        <p:spPr>
          <a:xfrm>
            <a:off x="6272784" y="51389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Of orders ship via Standard Class — the single biggest lever on delivery speed.</a:t>
            </a:r>
            <a:endParaRPr lang="en-US" sz="930" dirty="0"/>
          </a:p>
        </p:txBody>
      </p:sp>
      <p:sp>
        <p:nvSpPr>
          <p:cNvPr id="32" name="Shape 30"/>
          <p:cNvSpPr/>
          <p:nvPr/>
        </p:nvSpPr>
        <p:spPr>
          <a:xfrm>
            <a:off x="8915400" y="4681728"/>
            <a:ext cx="2606040" cy="1261872"/>
          </a:xfrm>
          <a:prstGeom prst="roundRect">
            <a:avLst>
              <a:gd name="adj" fmla="val 4348"/>
            </a:avLst>
          </a:prstGeom>
          <a:solidFill>
            <a:srgbClr val="232C6B"/>
          </a:solidFill>
          <a:ln/>
        </p:spPr>
      </p:sp>
      <p:sp>
        <p:nvSpPr>
          <p:cNvPr id="33" name="Text 31"/>
          <p:cNvSpPr/>
          <p:nvPr/>
        </p:nvSpPr>
        <p:spPr>
          <a:xfrm>
            <a:off x="9061704" y="4773168"/>
            <a:ext cx="2313432" cy="384048"/>
          </a:xfrm>
          <a:prstGeom prst="rect">
            <a:avLst/>
          </a:prstGeom>
          <a:noFill/>
          <a:ln/>
        </p:spPr>
        <p:txBody>
          <a:bodyPr wrap="square"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5.91%</a:t>
            </a:r>
            <a:endParaRPr lang="en-US" sz="1900" dirty="0"/>
          </a:p>
        </p:txBody>
      </p:sp>
      <p:sp>
        <p:nvSpPr>
          <p:cNvPr id="34" name="Text 32"/>
          <p:cNvSpPr/>
          <p:nvPr/>
        </p:nvSpPr>
        <p:spPr>
          <a:xfrm>
            <a:off x="9061704" y="5138928"/>
            <a:ext cx="2313432" cy="713232"/>
          </a:xfrm>
          <a:prstGeom prst="rect">
            <a:avLst/>
          </a:prstGeom>
          <a:noFill/>
          <a:ln/>
        </p:spPr>
        <p:txBody>
          <a:bodyPr wrap="square" rtlCol="0" anchor="t"/>
          <a:lstStyle/>
          <a:p>
            <a:pPr indent="0" marL="0">
              <a:lnSpc>
                <a:spcPct val="112000"/>
              </a:lnSpc>
              <a:buNone/>
            </a:pPr>
            <a:r>
              <a:rPr lang="en-US" sz="930" dirty="0">
                <a:solidFill>
                  <a:srgbClr val="FFFFFF"/>
                </a:solidFill>
                <a:latin typeface="Calibri" pitchFamily="34" charset="0"/>
                <a:ea typeface="Calibri" pitchFamily="34" charset="-122"/>
                <a:cs typeface="Calibri" pitchFamily="34" charset="-120"/>
              </a:rPr>
              <a:t>Return Rate; returned orders carry just 0.02M profit vs. 0.26M for kept orders.</a:t>
            </a:r>
            <a:endParaRPr lang="en-US" sz="930" dirty="0"/>
          </a:p>
        </p:txBody>
      </p:sp>
      <p:sp>
        <p:nvSpPr>
          <p:cNvPr id="35" name="Text 33"/>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36" name="Text 3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548640" y="1325880"/>
            <a:ext cx="11109960" cy="1051560"/>
          </a:xfrm>
          <a:prstGeom prst="roundRect">
            <a:avLst>
              <a:gd name="adj" fmla="val 6957"/>
            </a:avLst>
          </a:prstGeom>
          <a:solidFill>
            <a:srgbClr val="F4F6FB"/>
          </a:solidFill>
          <a:ln/>
        </p:spPr>
      </p:sp>
      <p:sp>
        <p:nvSpPr>
          <p:cNvPr id="5" name="Text 3"/>
          <p:cNvSpPr/>
          <p:nvPr/>
        </p:nvSpPr>
        <p:spPr>
          <a:xfrm>
            <a:off x="868680" y="1463040"/>
            <a:ext cx="10469880" cy="822960"/>
          </a:xfrm>
          <a:prstGeom prst="rect">
            <a:avLst/>
          </a:prstGeom>
          <a:noFill/>
          <a:ln/>
        </p:spPr>
        <p:txBody>
          <a:bodyPr wrap="square" rtlCol="0" anchor="ctr"/>
          <a:lstStyle/>
          <a:p>
            <a:pPr indent="0" marL="0">
              <a:lnSpc>
                <a:spcPct val="120000"/>
              </a:lnSpc>
              <a:buNone/>
            </a:pPr>
            <a:r>
              <a:rPr lang="en-US" sz="1400" b="1" dirty="0">
                <a:solidFill>
                  <a:srgbClr val="1E2761"/>
                </a:solidFill>
                <a:latin typeface="Calibri" pitchFamily="34" charset="0"/>
                <a:ea typeface="Calibri" pitchFamily="34" charset="-122"/>
                <a:cs typeface="Calibri" pitchFamily="34" charset="-120"/>
              </a:rPr>
              <a:t>Supply Chain Visibility &amp; Optimization </a:t>
            </a:r>
            <a:pPr indent="0" marL="0">
              <a:lnSpc>
                <a:spcPct val="120000"/>
              </a:lnSpc>
              <a:buNone/>
            </a:pPr>
            <a:r>
              <a:rPr lang="en-US" sz="1400" dirty="0">
                <a:solidFill>
                  <a:srgbClr val="1B1F2E"/>
                </a:solidFill>
                <a:latin typeface="Calibri" pitchFamily="34" charset="0"/>
                <a:ea typeface="Calibri" pitchFamily="34" charset="-122"/>
                <a:cs typeface="Calibri" pitchFamily="34" charset="-120"/>
              </a:rPr>
              <a:t>successfully transformed raw, scattered retail transaction data into a governed, seven-page interactive Power BI dashboard suite — giving supply chain and sales stakeholders a single, trustworthy source of truth for decision-making.</a:t>
            </a:r>
            <a:endParaRPr lang="en-US" sz="1400" dirty="0"/>
          </a:p>
        </p:txBody>
      </p:sp>
      <p:sp>
        <p:nvSpPr>
          <p:cNvPr id="6" name="Text 4"/>
          <p:cNvSpPr/>
          <p:nvPr/>
        </p:nvSpPr>
        <p:spPr>
          <a:xfrm>
            <a:off x="548640" y="2606040"/>
            <a:ext cx="512064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TECHNICAL SKILLS</a:t>
            </a:r>
            <a:endParaRPr lang="en-US" sz="1300" dirty="0"/>
          </a:p>
        </p:txBody>
      </p:sp>
      <p:sp>
        <p:nvSpPr>
          <p:cNvPr id="7" name="Shape 5"/>
          <p:cNvSpPr/>
          <p:nvPr/>
        </p:nvSpPr>
        <p:spPr>
          <a:xfrm>
            <a:off x="566928" y="3108960"/>
            <a:ext cx="128016" cy="128016"/>
          </a:xfrm>
          <a:prstGeom prst="ellipse">
            <a:avLst/>
          </a:prstGeom>
          <a:solidFill>
            <a:srgbClr val="C2542D"/>
          </a:solidFill>
          <a:ln/>
        </p:spPr>
      </p:sp>
      <p:sp>
        <p:nvSpPr>
          <p:cNvPr id="8" name="Text 6"/>
          <p:cNvSpPr/>
          <p:nvPr/>
        </p:nvSpPr>
        <p:spPr>
          <a:xfrm>
            <a:off x="914400" y="2971800"/>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Power BI Desktop, Power Query &amp; Star-Schema Data Modeling</a:t>
            </a:r>
            <a:endParaRPr lang="en-US" sz="1180" dirty="0"/>
          </a:p>
        </p:txBody>
      </p:sp>
      <p:sp>
        <p:nvSpPr>
          <p:cNvPr id="9" name="Shape 7"/>
          <p:cNvSpPr/>
          <p:nvPr/>
        </p:nvSpPr>
        <p:spPr>
          <a:xfrm>
            <a:off x="566928" y="3675888"/>
            <a:ext cx="128016" cy="128016"/>
          </a:xfrm>
          <a:prstGeom prst="ellipse">
            <a:avLst/>
          </a:prstGeom>
          <a:solidFill>
            <a:srgbClr val="C2542D"/>
          </a:solidFill>
          <a:ln/>
        </p:spPr>
      </p:sp>
      <p:sp>
        <p:nvSpPr>
          <p:cNvPr id="10" name="Text 8"/>
          <p:cNvSpPr/>
          <p:nvPr/>
        </p:nvSpPr>
        <p:spPr>
          <a:xfrm>
            <a:off x="914400" y="3538728"/>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DAX Measure Design — sums, ratios (Profit Margin, Return Rate), and order-level logic using FILTER &amp; COUNTROWS</a:t>
            </a:r>
            <a:endParaRPr lang="en-US" sz="1180" dirty="0"/>
          </a:p>
        </p:txBody>
      </p:sp>
      <p:sp>
        <p:nvSpPr>
          <p:cNvPr id="11" name="Shape 9"/>
          <p:cNvSpPr/>
          <p:nvPr/>
        </p:nvSpPr>
        <p:spPr>
          <a:xfrm>
            <a:off x="566928" y="4242816"/>
            <a:ext cx="128016" cy="128016"/>
          </a:xfrm>
          <a:prstGeom prst="ellipse">
            <a:avLst/>
          </a:prstGeom>
          <a:solidFill>
            <a:srgbClr val="C2542D"/>
          </a:solidFill>
          <a:ln/>
        </p:spPr>
      </p:sp>
      <p:sp>
        <p:nvSpPr>
          <p:cNvPr id="12" name="Text 10"/>
          <p:cNvSpPr/>
          <p:nvPr/>
        </p:nvSpPr>
        <p:spPr>
          <a:xfrm>
            <a:off x="914400" y="4105656"/>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Data Cleaning, Preprocessing &amp; Cross-Filtered / Drill-Through Dashboard Design</a:t>
            </a:r>
            <a:endParaRPr lang="en-US" sz="1180" dirty="0"/>
          </a:p>
        </p:txBody>
      </p:sp>
      <p:sp>
        <p:nvSpPr>
          <p:cNvPr id="13" name="Shape 11"/>
          <p:cNvSpPr/>
          <p:nvPr/>
        </p:nvSpPr>
        <p:spPr>
          <a:xfrm>
            <a:off x="566928" y="4809744"/>
            <a:ext cx="128016" cy="128016"/>
          </a:xfrm>
          <a:prstGeom prst="ellipse">
            <a:avLst/>
          </a:prstGeom>
          <a:solidFill>
            <a:srgbClr val="C2542D"/>
          </a:solidFill>
          <a:ln/>
        </p:spPr>
      </p:sp>
      <p:sp>
        <p:nvSpPr>
          <p:cNvPr id="14" name="Text 12"/>
          <p:cNvSpPr/>
          <p:nvPr/>
        </p:nvSpPr>
        <p:spPr>
          <a:xfrm>
            <a:off x="914400" y="4672584"/>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Visual-type selection — cards, waterfalls, treemaps, and scatter plots matched to the business question</a:t>
            </a:r>
            <a:endParaRPr lang="en-US" sz="1180" dirty="0"/>
          </a:p>
        </p:txBody>
      </p:sp>
      <p:sp>
        <p:nvSpPr>
          <p:cNvPr id="15" name="Shape 13"/>
          <p:cNvSpPr/>
          <p:nvPr/>
        </p:nvSpPr>
        <p:spPr>
          <a:xfrm>
            <a:off x="566928" y="5376672"/>
            <a:ext cx="128016" cy="128016"/>
          </a:xfrm>
          <a:prstGeom prst="ellipse">
            <a:avLst/>
          </a:prstGeom>
          <a:solidFill>
            <a:srgbClr val="C2542D"/>
          </a:solidFill>
          <a:ln/>
        </p:spPr>
      </p:sp>
      <p:sp>
        <p:nvSpPr>
          <p:cNvPr id="16" name="Text 14"/>
          <p:cNvSpPr/>
          <p:nvPr/>
        </p:nvSpPr>
        <p:spPr>
          <a:xfrm>
            <a:off x="914400" y="5239512"/>
            <a:ext cx="4937760" cy="502920"/>
          </a:xfrm>
          <a:prstGeom prst="rect">
            <a:avLst/>
          </a:prstGeom>
          <a:noFill/>
          <a:ln/>
        </p:spPr>
        <p:txBody>
          <a:bodyPr wrap="square" rtlCol="0" anchor="t"/>
          <a:lstStyle/>
          <a:p>
            <a:pPr indent="0" marL="0">
              <a:lnSpc>
                <a:spcPct val="112000"/>
              </a:lnSpc>
              <a:buNone/>
            </a:pPr>
            <a:r>
              <a:rPr lang="en-US" sz="1180" dirty="0">
                <a:solidFill>
                  <a:srgbClr val="1B1F2E"/>
                </a:solidFill>
                <a:latin typeface="Calibri" pitchFamily="34" charset="0"/>
                <a:ea typeface="Calibri" pitchFamily="34" charset="-122"/>
                <a:cs typeface="Calibri" pitchFamily="34" charset="-120"/>
              </a:rPr>
              <a:t>Version control &amp; team workflow via GitHub, GitLab, and Microsoft Teams</a:t>
            </a:r>
            <a:endParaRPr lang="en-US" sz="1180" dirty="0"/>
          </a:p>
        </p:txBody>
      </p:sp>
      <p:sp>
        <p:nvSpPr>
          <p:cNvPr id="17" name="Text 15"/>
          <p:cNvSpPr/>
          <p:nvPr/>
        </p:nvSpPr>
        <p:spPr>
          <a:xfrm>
            <a:off x="6309360" y="2651760"/>
            <a:ext cx="512064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SOFT SKILLS</a:t>
            </a:r>
            <a:endParaRPr lang="en-US" sz="1300" dirty="0"/>
          </a:p>
        </p:txBody>
      </p:sp>
      <p:sp>
        <p:nvSpPr>
          <p:cNvPr id="18" name="Shape 16"/>
          <p:cNvSpPr/>
          <p:nvPr/>
        </p:nvSpPr>
        <p:spPr>
          <a:xfrm>
            <a:off x="6309360" y="3200400"/>
            <a:ext cx="2514600" cy="777240"/>
          </a:xfrm>
          <a:prstGeom prst="roundRect">
            <a:avLst>
              <a:gd name="adj" fmla="val 11765"/>
            </a:avLst>
          </a:prstGeom>
          <a:solidFill>
            <a:srgbClr val="1E2761"/>
          </a:solidFill>
          <a:ln/>
        </p:spPr>
      </p:sp>
      <p:sp>
        <p:nvSpPr>
          <p:cNvPr id="19" name="Text 17"/>
          <p:cNvSpPr/>
          <p:nvPr/>
        </p:nvSpPr>
        <p:spPr>
          <a:xfrm>
            <a:off x="6309360" y="320040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Problem Solving</a:t>
            </a:r>
            <a:endParaRPr lang="en-US" sz="1400" dirty="0"/>
          </a:p>
        </p:txBody>
      </p:sp>
      <p:sp>
        <p:nvSpPr>
          <p:cNvPr id="20" name="Shape 18"/>
          <p:cNvSpPr/>
          <p:nvPr/>
        </p:nvSpPr>
        <p:spPr>
          <a:xfrm>
            <a:off x="9098280" y="3200400"/>
            <a:ext cx="2514600" cy="777240"/>
          </a:xfrm>
          <a:prstGeom prst="roundRect">
            <a:avLst>
              <a:gd name="adj" fmla="val 11765"/>
            </a:avLst>
          </a:prstGeom>
          <a:solidFill>
            <a:srgbClr val="1E2761"/>
          </a:solidFill>
          <a:ln/>
        </p:spPr>
      </p:sp>
      <p:sp>
        <p:nvSpPr>
          <p:cNvPr id="21" name="Text 19"/>
          <p:cNvSpPr/>
          <p:nvPr/>
        </p:nvSpPr>
        <p:spPr>
          <a:xfrm>
            <a:off x="9098280" y="320040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Communication</a:t>
            </a:r>
            <a:endParaRPr lang="en-US" sz="1400" dirty="0"/>
          </a:p>
        </p:txBody>
      </p:sp>
      <p:sp>
        <p:nvSpPr>
          <p:cNvPr id="22" name="Shape 20"/>
          <p:cNvSpPr/>
          <p:nvPr/>
        </p:nvSpPr>
        <p:spPr>
          <a:xfrm>
            <a:off x="6309360" y="4251960"/>
            <a:ext cx="2514600" cy="777240"/>
          </a:xfrm>
          <a:prstGeom prst="roundRect">
            <a:avLst>
              <a:gd name="adj" fmla="val 11765"/>
            </a:avLst>
          </a:prstGeom>
          <a:solidFill>
            <a:srgbClr val="1E2761"/>
          </a:solidFill>
          <a:ln/>
        </p:spPr>
      </p:sp>
      <p:sp>
        <p:nvSpPr>
          <p:cNvPr id="23" name="Text 21"/>
          <p:cNvSpPr/>
          <p:nvPr/>
        </p:nvSpPr>
        <p:spPr>
          <a:xfrm>
            <a:off x="6309360" y="425196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Teamwork</a:t>
            </a:r>
            <a:endParaRPr lang="en-US" sz="1400" dirty="0"/>
          </a:p>
        </p:txBody>
      </p:sp>
      <p:sp>
        <p:nvSpPr>
          <p:cNvPr id="24" name="Shape 22"/>
          <p:cNvSpPr/>
          <p:nvPr/>
        </p:nvSpPr>
        <p:spPr>
          <a:xfrm>
            <a:off x="9098280" y="4251960"/>
            <a:ext cx="2514600" cy="777240"/>
          </a:xfrm>
          <a:prstGeom prst="roundRect">
            <a:avLst>
              <a:gd name="adj" fmla="val 11765"/>
            </a:avLst>
          </a:prstGeom>
          <a:solidFill>
            <a:srgbClr val="1E2761"/>
          </a:solidFill>
          <a:ln/>
        </p:spPr>
      </p:sp>
      <p:sp>
        <p:nvSpPr>
          <p:cNvPr id="25" name="Text 23"/>
          <p:cNvSpPr/>
          <p:nvPr/>
        </p:nvSpPr>
        <p:spPr>
          <a:xfrm>
            <a:off x="9098280" y="4251960"/>
            <a:ext cx="251460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Presentation</a:t>
            </a:r>
            <a:endParaRPr lang="en-US" sz="1400" dirty="0"/>
          </a:p>
        </p:txBody>
      </p:sp>
      <p:sp>
        <p:nvSpPr>
          <p:cNvPr id="26" name="Text 24"/>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548640" y="201168"/>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Acknowledgements &amp; References</a:t>
            </a:r>
            <a:endParaRPr lang="en-US" sz="2800" dirty="0"/>
          </a:p>
        </p:txBody>
      </p:sp>
      <p:sp>
        <p:nvSpPr>
          <p:cNvPr id="4" name="Shape 2"/>
          <p:cNvSpPr/>
          <p:nvPr/>
        </p:nvSpPr>
        <p:spPr>
          <a:xfrm>
            <a:off x="548640" y="1371600"/>
            <a:ext cx="5440680" cy="4892040"/>
          </a:xfrm>
          <a:prstGeom prst="roundRect">
            <a:avLst>
              <a:gd name="adj" fmla="val 1495"/>
            </a:avLst>
          </a:prstGeom>
          <a:solidFill>
            <a:srgbClr val="F4F6FB"/>
          </a:solidFill>
          <a:ln/>
        </p:spPr>
      </p:sp>
      <p:sp>
        <p:nvSpPr>
          <p:cNvPr id="5" name="Text 3"/>
          <p:cNvSpPr/>
          <p:nvPr/>
        </p:nvSpPr>
        <p:spPr>
          <a:xfrm>
            <a:off x="914400" y="1572768"/>
            <a:ext cx="4754880" cy="457200"/>
          </a:xfrm>
          <a:prstGeom prst="rect">
            <a:avLst/>
          </a:prstGeom>
          <a:noFill/>
          <a:ln/>
        </p:spPr>
        <p:txBody>
          <a:bodyPr wrap="square" rtlCol="0" anchor="ctr"/>
          <a:lstStyle/>
          <a:p>
            <a:pPr indent="0" marL="0">
              <a:buNone/>
            </a:pPr>
            <a:r>
              <a:rPr lang="en-US" sz="1300" b="1" spc="200" kern="0" dirty="0">
                <a:solidFill>
                  <a:srgbClr val="C2542D"/>
                </a:solidFill>
                <a:latin typeface="Calibri" pitchFamily="34" charset="0"/>
                <a:ea typeface="Calibri" pitchFamily="34" charset="-122"/>
                <a:cs typeface="Calibri" pitchFamily="34" charset="-120"/>
              </a:rPr>
              <a:t>ACKNOWLEDGEMENTS</a:t>
            </a:r>
            <a:endParaRPr lang="en-US" sz="1300" dirty="0"/>
          </a:p>
        </p:txBody>
      </p:sp>
      <p:sp>
        <p:nvSpPr>
          <p:cNvPr id="6" name="Text 4"/>
          <p:cNvSpPr/>
          <p:nvPr/>
        </p:nvSpPr>
        <p:spPr>
          <a:xfrm>
            <a:off x="914400" y="214884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Infosys Springboard Team</a:t>
            </a:r>
            <a:endParaRPr lang="en-US" sz="1350" dirty="0"/>
          </a:p>
        </p:txBody>
      </p:sp>
      <p:sp>
        <p:nvSpPr>
          <p:cNvPr id="7" name="Text 5"/>
          <p:cNvSpPr/>
          <p:nvPr/>
        </p:nvSpPr>
        <p:spPr>
          <a:xfrm>
            <a:off x="914400" y="244144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For a structured, industry-aligned virtual internship programme.</a:t>
            </a:r>
            <a:endParaRPr lang="en-US" sz="1150" dirty="0"/>
          </a:p>
        </p:txBody>
      </p:sp>
      <p:sp>
        <p:nvSpPr>
          <p:cNvPr id="8" name="Text 6"/>
          <p:cNvSpPr/>
          <p:nvPr/>
        </p:nvSpPr>
        <p:spPr>
          <a:xfrm>
            <a:off x="914400" y="338328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Ms. Nityasree, Mentor</a:t>
            </a:r>
            <a:endParaRPr lang="en-US" sz="1350" dirty="0"/>
          </a:p>
        </p:txBody>
      </p:sp>
      <p:sp>
        <p:nvSpPr>
          <p:cNvPr id="9" name="Text 7"/>
          <p:cNvSpPr/>
          <p:nvPr/>
        </p:nvSpPr>
        <p:spPr>
          <a:xfrm>
            <a:off x="914400" y="367588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For consistent guidance, feedback, and encouragement throughout every milestone.</a:t>
            </a:r>
            <a:endParaRPr lang="en-US" sz="1150" dirty="0"/>
          </a:p>
        </p:txBody>
      </p:sp>
      <p:sp>
        <p:nvSpPr>
          <p:cNvPr id="10" name="Text 8"/>
          <p:cNvSpPr/>
          <p:nvPr/>
        </p:nvSpPr>
        <p:spPr>
          <a:xfrm>
            <a:off x="914400" y="461772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Team B</a:t>
            </a:r>
            <a:endParaRPr lang="en-US" sz="1350" dirty="0"/>
          </a:p>
        </p:txBody>
      </p:sp>
      <p:sp>
        <p:nvSpPr>
          <p:cNvPr id="11" name="Text 9"/>
          <p:cNvSpPr/>
          <p:nvPr/>
        </p:nvSpPr>
        <p:spPr>
          <a:xfrm>
            <a:off x="914400" y="491032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Manoj Pamuru, Narayana Murari, P. Shreesha, Prajwal Sahu, and Priyanshi Singh, for strong collaboration and shared commitment.</a:t>
            </a:r>
            <a:endParaRPr lang="en-US" sz="1150" dirty="0"/>
          </a:p>
        </p:txBody>
      </p:sp>
      <p:sp>
        <p:nvSpPr>
          <p:cNvPr id="12" name="Shape 10"/>
          <p:cNvSpPr/>
          <p:nvPr/>
        </p:nvSpPr>
        <p:spPr>
          <a:xfrm>
            <a:off x="6172200" y="1371600"/>
            <a:ext cx="5440680" cy="4892040"/>
          </a:xfrm>
          <a:prstGeom prst="roundRect">
            <a:avLst>
              <a:gd name="adj" fmla="val 1495"/>
            </a:avLst>
          </a:prstGeom>
          <a:solidFill>
            <a:srgbClr val="E8ECF9"/>
          </a:solidFill>
          <a:ln/>
        </p:spPr>
      </p:sp>
      <p:sp>
        <p:nvSpPr>
          <p:cNvPr id="13" name="Text 11"/>
          <p:cNvSpPr/>
          <p:nvPr/>
        </p:nvSpPr>
        <p:spPr>
          <a:xfrm>
            <a:off x="6537960" y="1572768"/>
            <a:ext cx="4754880" cy="45720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REFERENCES</a:t>
            </a:r>
            <a:endParaRPr lang="en-US" sz="1300" dirty="0"/>
          </a:p>
        </p:txBody>
      </p:sp>
      <p:sp>
        <p:nvSpPr>
          <p:cNvPr id="14" name="Text 12"/>
          <p:cNvSpPr/>
          <p:nvPr/>
        </p:nvSpPr>
        <p:spPr>
          <a:xfrm>
            <a:off x="6537960" y="214884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Retail Supply Chain Sales Dataset</a:t>
            </a:r>
            <a:endParaRPr lang="en-US" sz="1350" dirty="0"/>
          </a:p>
        </p:txBody>
      </p:sp>
      <p:sp>
        <p:nvSpPr>
          <p:cNvPr id="15" name="Text 13"/>
          <p:cNvSpPr/>
          <p:nvPr/>
        </p:nvSpPr>
        <p:spPr>
          <a:xfrm>
            <a:off x="6537960" y="244144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Sourced via Kaggle — the public data source used throughout the project.</a:t>
            </a:r>
            <a:endParaRPr lang="en-US" sz="1150" dirty="0"/>
          </a:p>
        </p:txBody>
      </p:sp>
      <p:sp>
        <p:nvSpPr>
          <p:cNvPr id="16" name="Text 14"/>
          <p:cNvSpPr/>
          <p:nvPr/>
        </p:nvSpPr>
        <p:spPr>
          <a:xfrm>
            <a:off x="6537960" y="338328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Microsoft Power BI Documentation</a:t>
            </a:r>
            <a:endParaRPr lang="en-US" sz="1350" dirty="0"/>
          </a:p>
        </p:txBody>
      </p:sp>
      <p:sp>
        <p:nvSpPr>
          <p:cNvPr id="17" name="Text 15"/>
          <p:cNvSpPr/>
          <p:nvPr/>
        </p:nvSpPr>
        <p:spPr>
          <a:xfrm>
            <a:off x="6537960" y="367588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Official documentation and community resources for DAX and dashboard design.</a:t>
            </a:r>
            <a:endParaRPr lang="en-US" sz="1150" dirty="0"/>
          </a:p>
        </p:txBody>
      </p:sp>
      <p:sp>
        <p:nvSpPr>
          <p:cNvPr id="18" name="Text 16"/>
          <p:cNvSpPr/>
          <p:nvPr/>
        </p:nvSpPr>
        <p:spPr>
          <a:xfrm>
            <a:off x="6537960" y="4617720"/>
            <a:ext cx="47091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Infosys Springboard Training Materials</a:t>
            </a:r>
            <a:endParaRPr lang="en-US" sz="1350" dirty="0"/>
          </a:p>
        </p:txBody>
      </p:sp>
      <p:sp>
        <p:nvSpPr>
          <p:cNvPr id="19" name="Text 17"/>
          <p:cNvSpPr/>
          <p:nvPr/>
        </p:nvSpPr>
        <p:spPr>
          <a:xfrm>
            <a:off x="6537960" y="4910328"/>
            <a:ext cx="4709160" cy="685800"/>
          </a:xfrm>
          <a:prstGeom prst="rect">
            <a:avLst/>
          </a:prstGeom>
          <a:noFill/>
          <a:ln/>
        </p:spPr>
        <p:txBody>
          <a:bodyPr wrap="square" rtlCol="0" anchor="ctr"/>
          <a:lstStyle/>
          <a:p>
            <a:pPr indent="0" marL="0">
              <a:lnSpc>
                <a:spcPct val="115000"/>
              </a:lnSpc>
              <a:buNone/>
            </a:pPr>
            <a:r>
              <a:rPr lang="en-US" sz="1150" dirty="0">
                <a:solidFill>
                  <a:srgbClr val="1B1F2E"/>
                </a:solidFill>
                <a:latin typeface="Calibri" pitchFamily="34" charset="0"/>
                <a:ea typeface="Calibri" pitchFamily="34" charset="-122"/>
                <a:cs typeface="Calibri" pitchFamily="34" charset="-120"/>
              </a:rPr>
              <a:t>Virtual Internship 7.0 course modules and milestone guidelines.</a:t>
            </a:r>
            <a:endParaRPr lang="en-US" sz="115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Supply Chain Visibility &amp; Optimization  •  Team B</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97280" y="-1097280"/>
            <a:ext cx="4114800" cy="4114800"/>
          </a:xfrm>
          <a:prstGeom prst="ellipse">
            <a:avLst/>
          </a:prstGeom>
          <a:solidFill>
            <a:srgbClr val="141B4D"/>
          </a:solidFill>
          <a:ln/>
        </p:spPr>
      </p:sp>
      <p:sp>
        <p:nvSpPr>
          <p:cNvPr id="3" name="Shape 1"/>
          <p:cNvSpPr/>
          <p:nvPr/>
        </p:nvSpPr>
        <p:spPr>
          <a:xfrm>
            <a:off x="9692640" y="4206240"/>
            <a:ext cx="4754880" cy="4754880"/>
          </a:xfrm>
          <a:prstGeom prst="ellipse">
            <a:avLst/>
          </a:prstGeom>
          <a:solidFill>
            <a:srgbClr val="141B4D"/>
          </a:solidFill>
          <a:ln/>
        </p:spPr>
      </p:sp>
      <p:sp>
        <p:nvSpPr>
          <p:cNvPr id="4" name="Shape 2"/>
          <p:cNvSpPr/>
          <p:nvPr/>
        </p:nvSpPr>
        <p:spPr>
          <a:xfrm>
            <a:off x="10241280" y="4846320"/>
            <a:ext cx="2926080" cy="2926080"/>
          </a:xfrm>
          <a:prstGeom prst="ellipse">
            <a:avLst/>
          </a:prstGeom>
          <a:solidFill>
            <a:srgbClr val="232C6B"/>
          </a:solidFill>
          <a:ln/>
        </p:spPr>
      </p:sp>
      <p:sp>
        <p:nvSpPr>
          <p:cNvPr id="5" name="Text 3"/>
          <p:cNvSpPr/>
          <p:nvPr/>
        </p:nvSpPr>
        <p:spPr>
          <a:xfrm>
            <a:off x="0" y="2651760"/>
            <a:ext cx="12188952" cy="109728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6" name="Shape 4"/>
          <p:cNvSpPr/>
          <p:nvPr/>
        </p:nvSpPr>
        <p:spPr>
          <a:xfrm>
            <a:off x="5088636" y="3794760"/>
            <a:ext cx="2011680" cy="0"/>
          </a:xfrm>
          <a:prstGeom prst="line">
            <a:avLst/>
          </a:prstGeom>
          <a:noFill/>
          <a:ln w="31750">
            <a:solidFill>
              <a:srgbClr val="C2542D"/>
            </a:solidFill>
            <a:prstDash val="solid"/>
          </a:ln>
        </p:spPr>
      </p:sp>
      <p:sp>
        <p:nvSpPr>
          <p:cNvPr id="7" name="Text 5"/>
          <p:cNvSpPr/>
          <p:nvPr/>
        </p:nvSpPr>
        <p:spPr>
          <a:xfrm>
            <a:off x="0" y="3977640"/>
            <a:ext cx="12188952" cy="41148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Supply Chain Visibility &amp; Optimization  •  Team B</a:t>
            </a:r>
            <a:endParaRPr lang="en-US" sz="1500" dirty="0"/>
          </a:p>
        </p:txBody>
      </p:sp>
      <p:sp>
        <p:nvSpPr>
          <p:cNvPr id="8" name="Text 6"/>
          <p:cNvSpPr/>
          <p:nvPr/>
        </p:nvSpPr>
        <p:spPr>
          <a:xfrm>
            <a:off x="0" y="4389120"/>
            <a:ext cx="12188952" cy="365760"/>
          </a:xfrm>
          <a:prstGeom prst="rect">
            <a:avLst/>
          </a:prstGeom>
          <a:noFill/>
          <a:ln/>
        </p:spPr>
        <p:txBody>
          <a:bodyPr wrap="square"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Infosys Springboard Virtual Internship 7.0  |  Mentor: Ms. Nityasree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2026-08-19T02:55:44Z</dcterms:created>
  <dcterms:modified xsi:type="dcterms:W3CDTF">2026-08-19T02:55:44Z</dcterms:modified>
</cp:coreProperties>
</file>