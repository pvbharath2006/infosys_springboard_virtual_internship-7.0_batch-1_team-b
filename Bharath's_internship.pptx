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4C"/>
        </a:solidFill>
      </p:bgPr>
    </p:bg>
    <p:spTree>
      <p:nvGrpSpPr>
        <p:cNvPr id="1" name=""/>
        <p:cNvGrpSpPr/>
        <p:nvPr/>
      </p:nvGrpSpPr>
      <p:grpSpPr>
        <a:xfrm>
          <a:off x="0" y="0"/>
          <a:ext cx="0" cy="0"/>
          <a:chOff x="0" y="0"/>
          <a:chExt cx="0" cy="0"/>
        </a:xfrm>
      </p:grpSpPr>
      <p:sp>
        <p:nvSpPr>
          <p:cNvPr id="2" name="Shape 0"/>
          <p:cNvSpPr/>
          <p:nvPr/>
        </p:nvSpPr>
        <p:spPr>
          <a:xfrm>
            <a:off x="9418320" y="-2194560"/>
            <a:ext cx="5943600" cy="5943600"/>
          </a:xfrm>
          <a:prstGeom prst="ellipse">
            <a:avLst/>
          </a:prstGeom>
          <a:solidFill>
            <a:srgbClr val="154A5F">
              <a:alpha val="45000"/>
            </a:srgbClr>
          </a:solidFill>
          <a:ln/>
        </p:spPr>
      </p:sp>
      <p:sp>
        <p:nvSpPr>
          <p:cNvPr id="3" name="Shape 1"/>
          <p:cNvSpPr/>
          <p:nvPr/>
        </p:nvSpPr>
        <p:spPr>
          <a:xfrm>
            <a:off x="10332720" y="-1280160"/>
            <a:ext cx="3931920" cy="3931920"/>
          </a:xfrm>
          <a:prstGeom prst="ellipse">
            <a:avLst/>
          </a:prstGeom>
          <a:solidFill>
            <a:srgbClr val="154A5F">
              <a:alpha val="60000"/>
            </a:srgbClr>
          </a:solidFill>
          <a:ln/>
        </p:spPr>
      </p:sp>
      <p:sp>
        <p:nvSpPr>
          <p:cNvPr id="4" name="Shape 2"/>
          <p:cNvSpPr/>
          <p:nvPr/>
        </p:nvSpPr>
        <p:spPr>
          <a:xfrm>
            <a:off x="-2011680" y="4206240"/>
            <a:ext cx="4937760" cy="4937760"/>
          </a:xfrm>
          <a:prstGeom prst="ellipse">
            <a:avLst/>
          </a:prstGeom>
          <a:solidFill>
            <a:srgbClr val="154A5F">
              <a:alpha val="45000"/>
            </a:srgbClr>
          </a:solidFill>
          <a:ln/>
        </p:spPr>
      </p:sp>
      <p:sp>
        <p:nvSpPr>
          <p:cNvPr id="5" name="Shape 3"/>
          <p:cNvSpPr/>
          <p:nvPr/>
        </p:nvSpPr>
        <p:spPr>
          <a:xfrm>
            <a:off x="-1188720" y="5120640"/>
            <a:ext cx="3108960" cy="3108960"/>
          </a:xfrm>
          <a:prstGeom prst="ellipse">
            <a:avLst/>
          </a:prstGeom>
          <a:solidFill>
            <a:srgbClr val="154A5F">
              <a:alpha val="60000"/>
            </a:srgbClr>
          </a:solidFill>
          <a:ln/>
        </p:spPr>
      </p:sp>
      <p:sp>
        <p:nvSpPr>
          <p:cNvPr id="6" name="Text 4"/>
          <p:cNvSpPr/>
          <p:nvPr/>
        </p:nvSpPr>
        <p:spPr>
          <a:xfrm>
            <a:off x="640080" y="960120"/>
            <a:ext cx="9144000" cy="320040"/>
          </a:xfrm>
          <a:prstGeom prst="rect">
            <a:avLst/>
          </a:prstGeom>
          <a:noFill/>
          <a:ln/>
        </p:spPr>
        <p:txBody>
          <a:bodyPr wrap="square" rtlCol="0" anchor="ctr"/>
          <a:lstStyle/>
          <a:p>
            <a:pPr indent="0" marL="0">
              <a:buNone/>
            </a:pPr>
            <a:r>
              <a:rPr lang="en-US" sz="1300" spc="300" kern="0" dirty="0">
                <a:solidFill>
                  <a:srgbClr val="BFE3D8"/>
                </a:solidFill>
                <a:latin typeface="Calibri" pitchFamily="34" charset="0"/>
                <a:ea typeface="Calibri" pitchFamily="34" charset="-122"/>
                <a:cs typeface="Calibri" pitchFamily="34" charset="-120"/>
              </a:rPr>
              <a:t>INFOSYS SPRINGBOARD VIRTUAL INTERNSHIP 7.0</a:t>
            </a:r>
            <a:endParaRPr lang="en-US" sz="1300" dirty="0"/>
          </a:p>
        </p:txBody>
      </p:sp>
      <p:sp>
        <p:nvSpPr>
          <p:cNvPr id="7" name="Text 5"/>
          <p:cNvSpPr/>
          <p:nvPr/>
        </p:nvSpPr>
        <p:spPr>
          <a:xfrm>
            <a:off x="621792" y="1554480"/>
            <a:ext cx="10515600" cy="1737360"/>
          </a:xfrm>
          <a:prstGeom prst="rect">
            <a:avLst/>
          </a:prstGeom>
          <a:noFill/>
          <a:ln/>
        </p:spPr>
        <p:txBody>
          <a:bodyPr wrap="square" rtlCol="0" anchor="ctr"/>
          <a:lstStyle/>
          <a:p>
            <a:pPr indent="0" marL="0">
              <a:lnSpc>
                <a:spcPct val="108000"/>
              </a:lnSpc>
              <a:buNone/>
            </a:pPr>
            <a:r>
              <a:rPr lang="en-US" sz="4000" b="1" dirty="0">
                <a:solidFill>
                  <a:srgbClr val="FFFFFF"/>
                </a:solidFill>
                <a:latin typeface="Georgia" pitchFamily="34" charset="0"/>
                <a:ea typeface="Georgia" pitchFamily="34" charset="-122"/>
                <a:cs typeface="Georgia" pitchFamily="34" charset="-120"/>
              </a:rPr>
              <a:t>Supply Chain Visibility System with</a:t>
            </a:r>
            <a:endParaRPr lang="en-US" sz="4000" dirty="0"/>
          </a:p>
          <a:p>
            <a:pPr indent="0" marL="0">
              <a:lnSpc>
                <a:spcPct val="108000"/>
              </a:lnSpc>
              <a:buNone/>
            </a:pPr>
            <a:r>
              <a:rPr lang="en-US" sz="4000" b="1" dirty="0">
                <a:solidFill>
                  <a:srgbClr val="FFFFFF"/>
                </a:solidFill>
                <a:latin typeface="Georgia" pitchFamily="34" charset="0"/>
                <a:ea typeface="Georgia" pitchFamily="34" charset="-122"/>
                <a:cs typeface="Georgia" pitchFamily="34" charset="-120"/>
              </a:rPr>
              <a:t>Optimization Analytics</a:t>
            </a:r>
            <a:endParaRPr lang="en-US" sz="4000" dirty="0"/>
          </a:p>
        </p:txBody>
      </p:sp>
      <p:sp>
        <p:nvSpPr>
          <p:cNvPr id="8" name="Shape 6"/>
          <p:cNvSpPr/>
          <p:nvPr/>
        </p:nvSpPr>
        <p:spPr>
          <a:xfrm>
            <a:off x="640080" y="3520440"/>
            <a:ext cx="1280160" cy="0"/>
          </a:xfrm>
          <a:prstGeom prst="line">
            <a:avLst/>
          </a:prstGeom>
          <a:noFill/>
          <a:ln w="38100">
            <a:solidFill>
              <a:srgbClr val="C97C2B"/>
            </a:solidFill>
            <a:prstDash val="solid"/>
          </a:ln>
        </p:spPr>
      </p:sp>
      <p:sp>
        <p:nvSpPr>
          <p:cNvPr id="9" name="Text 7"/>
          <p:cNvSpPr/>
          <p:nvPr/>
        </p:nvSpPr>
        <p:spPr>
          <a:xfrm>
            <a:off x="640080" y="3794760"/>
            <a:ext cx="8961120" cy="1005840"/>
          </a:xfrm>
          <a:prstGeom prst="rect">
            <a:avLst/>
          </a:prstGeom>
          <a:noFill/>
          <a:ln/>
        </p:spPr>
        <p:txBody>
          <a:bodyPr wrap="square" rtlCol="0" anchor="ctr"/>
          <a:lstStyle/>
          <a:p>
            <a:pPr indent="0" marL="0">
              <a:lnSpc>
                <a:spcPct val="125000"/>
              </a:lnSpc>
              <a:buNone/>
            </a:pPr>
            <a:r>
              <a:rPr lang="en-US" sz="1500" dirty="0">
                <a:solidFill>
                  <a:srgbClr val="D8E6E3"/>
                </a:solidFill>
                <a:latin typeface="Calibri" pitchFamily="34" charset="0"/>
                <a:ea typeface="Calibri" pitchFamily="34" charset="-122"/>
                <a:cs typeface="Calibri" pitchFamily="34" charset="-120"/>
              </a:rPr>
              <a:t>An individual completion report presented as an end-to-end Power BI business intelligence solution — a governed, seven-page interactive dashboard suite delivering real-time visibility into retail sales, profitability, shipping, and returns.</a:t>
            </a:r>
            <a:endParaRPr lang="en-US" sz="1500" dirty="0"/>
          </a:p>
        </p:txBody>
      </p:sp>
      <p:sp>
        <p:nvSpPr>
          <p:cNvPr id="10" name="Text 8"/>
          <p:cNvSpPr/>
          <p:nvPr/>
        </p:nvSpPr>
        <p:spPr>
          <a:xfrm>
            <a:off x="640080" y="5166360"/>
            <a:ext cx="3657600" cy="274320"/>
          </a:xfrm>
          <a:prstGeom prst="rect">
            <a:avLst/>
          </a:prstGeom>
          <a:noFill/>
          <a:ln/>
        </p:spPr>
        <p:txBody>
          <a:bodyPr wrap="square" rtlCol="0" anchor="ctr"/>
          <a:lstStyle/>
          <a:p>
            <a:pPr indent="0" marL="0">
              <a:buNone/>
            </a:pPr>
            <a:r>
              <a:rPr lang="en-US" sz="1100" b="1" spc="200" kern="0" dirty="0">
                <a:solidFill>
                  <a:srgbClr val="C97C2B"/>
                </a:solidFill>
                <a:latin typeface="Calibri" pitchFamily="34" charset="0"/>
                <a:ea typeface="Calibri" pitchFamily="34" charset="-122"/>
                <a:cs typeface="Calibri" pitchFamily="34" charset="-120"/>
              </a:rPr>
              <a:t>PREPARED BY</a:t>
            </a:r>
            <a:endParaRPr lang="en-US" sz="1100" dirty="0"/>
          </a:p>
        </p:txBody>
      </p:sp>
      <p:sp>
        <p:nvSpPr>
          <p:cNvPr id="11" name="Text 9"/>
          <p:cNvSpPr/>
          <p:nvPr/>
        </p:nvSpPr>
        <p:spPr>
          <a:xfrm>
            <a:off x="621792" y="5440680"/>
            <a:ext cx="7315200" cy="502920"/>
          </a:xfrm>
          <a:prstGeom prst="rect">
            <a:avLst/>
          </a:prstGeom>
          <a:noFill/>
          <a:ln/>
        </p:spPr>
        <p:txBody>
          <a:bodyPr wrap="square"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Pendyala Venkata Bharath</a:t>
            </a:r>
            <a:endParaRPr lang="en-US" sz="2400" dirty="0"/>
          </a:p>
        </p:txBody>
      </p:sp>
      <p:sp>
        <p:nvSpPr>
          <p:cNvPr id="12" name="Text 10"/>
          <p:cNvSpPr/>
          <p:nvPr/>
        </p:nvSpPr>
        <p:spPr>
          <a:xfrm>
            <a:off x="640080" y="5961888"/>
            <a:ext cx="8229600" cy="274320"/>
          </a:xfrm>
          <a:prstGeom prst="rect">
            <a:avLst/>
          </a:prstGeom>
          <a:noFill/>
          <a:ln/>
        </p:spPr>
        <p:txBody>
          <a:bodyPr wrap="square" rtlCol="0" anchor="ctr"/>
          <a:lstStyle/>
          <a:p>
            <a:pPr indent="0" marL="0">
              <a:buNone/>
            </a:pPr>
            <a:r>
              <a:rPr lang="en-US" sz="1200" dirty="0">
                <a:solidFill>
                  <a:srgbClr val="C7D8D4"/>
                </a:solidFill>
                <a:latin typeface="Calibri" pitchFamily="34" charset="0"/>
                <a:ea typeface="Calibri" pitchFamily="34" charset="-122"/>
                <a:cs typeface="Calibri" pitchFamily="34" charset="-120"/>
              </a:rPr>
              <a:t>Team B, Batch-01  •  Individual Milestone-4 Completion Submission</a:t>
            </a:r>
            <a:endParaRPr lang="en-US" sz="1200" dirty="0"/>
          </a:p>
        </p:txBody>
      </p:sp>
      <p:sp>
        <p:nvSpPr>
          <p:cNvPr id="13" name="Text 11"/>
          <p:cNvSpPr/>
          <p:nvPr/>
        </p:nvSpPr>
        <p:spPr>
          <a:xfrm>
            <a:off x="640080" y="6245352"/>
            <a:ext cx="8229600" cy="274320"/>
          </a:xfrm>
          <a:prstGeom prst="rect">
            <a:avLst/>
          </a:prstGeom>
          <a:noFill/>
          <a:ln/>
        </p:spPr>
        <p:txBody>
          <a:bodyPr wrap="square" rtlCol="0" anchor="ctr"/>
          <a:lstStyle/>
          <a:p>
            <a:pPr indent="0" marL="0">
              <a:buNone/>
            </a:pPr>
            <a:r>
              <a:rPr lang="en-US" sz="1200" dirty="0">
                <a:solidFill>
                  <a:srgbClr val="C7D8D4"/>
                </a:solidFill>
                <a:latin typeface="Calibri" pitchFamily="34" charset="0"/>
                <a:ea typeface="Calibri" pitchFamily="34" charset="-122"/>
                <a:cs typeface="Calibri" pitchFamily="34" charset="-120"/>
              </a:rPr>
              <a:t>Infosys Springboard Virtual Internship 7.0    |    Mentor: Ms. Nityasree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45720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Project Objective</a:t>
            </a:r>
            <a:endParaRPr lang="en-US" sz="3400" dirty="0"/>
          </a:p>
        </p:txBody>
      </p:sp>
      <p:sp>
        <p:nvSpPr>
          <p:cNvPr id="6" name="Text 4"/>
          <p:cNvSpPr/>
          <p:nvPr/>
        </p:nvSpPr>
        <p:spPr>
          <a:xfrm>
            <a:off x="457200" y="1600200"/>
            <a:ext cx="4572000" cy="274320"/>
          </a:xfrm>
          <a:prstGeom prst="rect">
            <a:avLst/>
          </a:prstGeom>
          <a:noFill/>
          <a:ln/>
        </p:spPr>
        <p:txBody>
          <a:bodyPr wrap="square" rtlCol="0" anchor="ctr"/>
          <a:lstStyle/>
          <a:p>
            <a:pPr indent="0" marL="0">
              <a:buNone/>
            </a:pPr>
            <a:r>
              <a:rPr lang="en-US" sz="1200" b="1" spc="150" kern="0" dirty="0">
                <a:solidFill>
                  <a:srgbClr val="C97C2B"/>
                </a:solidFill>
                <a:latin typeface="Calibri" pitchFamily="34" charset="0"/>
                <a:ea typeface="Calibri" pitchFamily="34" charset="-122"/>
                <a:cs typeface="Calibri" pitchFamily="34" charset="-120"/>
              </a:rPr>
              <a:t>PROJECT OBJECTIVE</a:t>
            </a:r>
            <a:endParaRPr lang="en-US" sz="1200" dirty="0"/>
          </a:p>
        </p:txBody>
      </p:sp>
      <p:sp>
        <p:nvSpPr>
          <p:cNvPr id="7" name="Shape 5"/>
          <p:cNvSpPr/>
          <p:nvPr/>
        </p:nvSpPr>
        <p:spPr>
          <a:xfrm>
            <a:off x="457200" y="1965960"/>
            <a:ext cx="457200" cy="457200"/>
          </a:xfrm>
          <a:prstGeom prst="ellipse">
            <a:avLst/>
          </a:prstGeom>
          <a:solidFill>
            <a:srgbClr val="FFFFFF"/>
          </a:solidFill>
          <a:ln w="19050">
            <a:solidFill>
              <a:srgbClr val="0F3B4C"/>
            </a:solidFill>
            <a:prstDash val="solid"/>
          </a:ln>
        </p:spPr>
      </p:sp>
      <p:sp>
        <p:nvSpPr>
          <p:cNvPr id="8" name="Text 6"/>
          <p:cNvSpPr/>
          <p:nvPr/>
        </p:nvSpPr>
        <p:spPr>
          <a:xfrm>
            <a:off x="457200" y="1965960"/>
            <a:ext cx="457200" cy="457200"/>
          </a:xfrm>
          <a:prstGeom prst="rect">
            <a:avLst/>
          </a:prstGeom>
          <a:noFill/>
          <a:ln/>
        </p:spPr>
        <p:txBody>
          <a:bodyPr wrap="square" rtlCol="0" anchor="ctr"/>
          <a:lstStyle/>
          <a:p>
            <a:pPr algn="ctr" indent="0" marL="0">
              <a:buNone/>
            </a:pPr>
            <a:r>
              <a:rPr lang="en-US" sz="1600" b="1" dirty="0">
                <a:solidFill>
                  <a:srgbClr val="0F3B4C"/>
                </a:solidFill>
                <a:latin typeface="Georgia" pitchFamily="34" charset="0"/>
                <a:ea typeface="Georgia" pitchFamily="34" charset="-122"/>
                <a:cs typeface="Georgia" pitchFamily="34" charset="-120"/>
              </a:rPr>
              <a:t>1</a:t>
            </a:r>
            <a:endParaRPr lang="en-US" sz="1600" dirty="0"/>
          </a:p>
        </p:txBody>
      </p:sp>
      <p:sp>
        <p:nvSpPr>
          <p:cNvPr id="9" name="Text 7"/>
          <p:cNvSpPr/>
          <p:nvPr/>
        </p:nvSpPr>
        <p:spPr>
          <a:xfrm>
            <a:off x="1143000" y="1911096"/>
            <a:ext cx="5577840" cy="594360"/>
          </a:xfrm>
          <a:prstGeom prst="rect">
            <a:avLst/>
          </a:prstGeom>
          <a:noFill/>
          <a:ln/>
        </p:spPr>
        <p:txBody>
          <a:bodyPr wrap="square" rtlCol="0" anchor="ctr"/>
          <a:lstStyle/>
          <a:p>
            <a:pPr indent="0" marL="0">
              <a:lnSpc>
                <a:spcPct val="112000"/>
              </a:lnSpc>
              <a:buNone/>
            </a:pPr>
            <a:r>
              <a:rPr lang="en-US" sz="1450" dirty="0">
                <a:solidFill>
                  <a:srgbClr val="1D2E33"/>
                </a:solidFill>
                <a:latin typeface="Calibri" pitchFamily="34" charset="0"/>
                <a:ea typeface="Calibri" pitchFamily="34" charset="-122"/>
                <a:cs typeface="Calibri" pitchFamily="34" charset="-120"/>
              </a:rPr>
              <a:t>Establish a single, centralized source of truth for order, sales, and shipping data across procurement, inventory, and distribution.</a:t>
            </a:r>
            <a:endParaRPr lang="en-US" sz="1450" dirty="0"/>
          </a:p>
        </p:txBody>
      </p:sp>
      <p:sp>
        <p:nvSpPr>
          <p:cNvPr id="10" name="Text 8"/>
          <p:cNvSpPr/>
          <p:nvPr/>
        </p:nvSpPr>
        <p:spPr>
          <a:xfrm>
            <a:off x="1143000" y="2478024"/>
            <a:ext cx="5577840" cy="502920"/>
          </a:xfrm>
          <a:prstGeom prst="rect">
            <a:avLst/>
          </a:prstGeom>
          <a:noFill/>
          <a:ln/>
        </p:spPr>
        <p:txBody>
          <a:bodyPr wrap="square" rtlCol="0" anchor="ctr"/>
          <a:lstStyle/>
          <a:p>
            <a:pPr indent="0" marL="0">
              <a:lnSpc>
                <a:spcPct val="115000"/>
              </a:lnSpc>
              <a:buNone/>
            </a:pPr>
            <a:r>
              <a:rPr lang="en-US" sz="1100" i="1" dirty="0">
                <a:solidFill>
                  <a:srgbClr val="5B6B70"/>
                </a:solidFill>
                <a:latin typeface="Calibri" pitchFamily="34" charset="0"/>
                <a:ea typeface="Calibri" pitchFamily="34" charset="-122"/>
                <a:cs typeface="Calibri" pitchFamily="34" charset="-120"/>
              </a:rPr>
              <a:t>Governance theory: one governed data model behind every visual removes the inconsistent-figures risk of scattered spreadsheets.</a:t>
            </a:r>
            <a:endParaRPr lang="en-US" sz="1100" dirty="0"/>
          </a:p>
        </p:txBody>
      </p:sp>
      <p:sp>
        <p:nvSpPr>
          <p:cNvPr id="11" name="Shape 9"/>
          <p:cNvSpPr/>
          <p:nvPr/>
        </p:nvSpPr>
        <p:spPr>
          <a:xfrm>
            <a:off x="457200" y="3044952"/>
            <a:ext cx="457200" cy="457200"/>
          </a:xfrm>
          <a:prstGeom prst="ellipse">
            <a:avLst/>
          </a:prstGeom>
          <a:solidFill>
            <a:srgbClr val="FFFFFF"/>
          </a:solidFill>
          <a:ln w="19050">
            <a:solidFill>
              <a:srgbClr val="0F3B4C"/>
            </a:solidFill>
            <a:prstDash val="solid"/>
          </a:ln>
        </p:spPr>
      </p:sp>
      <p:sp>
        <p:nvSpPr>
          <p:cNvPr id="12" name="Text 10"/>
          <p:cNvSpPr/>
          <p:nvPr/>
        </p:nvSpPr>
        <p:spPr>
          <a:xfrm>
            <a:off x="457200" y="3044952"/>
            <a:ext cx="457200" cy="457200"/>
          </a:xfrm>
          <a:prstGeom prst="rect">
            <a:avLst/>
          </a:prstGeom>
          <a:noFill/>
          <a:ln/>
        </p:spPr>
        <p:txBody>
          <a:bodyPr wrap="square" rtlCol="0" anchor="ctr"/>
          <a:lstStyle/>
          <a:p>
            <a:pPr algn="ctr" indent="0" marL="0">
              <a:buNone/>
            </a:pPr>
            <a:r>
              <a:rPr lang="en-US" sz="1600" b="1" dirty="0">
                <a:solidFill>
                  <a:srgbClr val="0F3B4C"/>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143000" y="2990088"/>
            <a:ext cx="5577840" cy="594360"/>
          </a:xfrm>
          <a:prstGeom prst="rect">
            <a:avLst/>
          </a:prstGeom>
          <a:noFill/>
          <a:ln/>
        </p:spPr>
        <p:txBody>
          <a:bodyPr wrap="square" rtlCol="0" anchor="ctr"/>
          <a:lstStyle/>
          <a:p>
            <a:pPr indent="0" marL="0">
              <a:lnSpc>
                <a:spcPct val="112000"/>
              </a:lnSpc>
              <a:buNone/>
            </a:pPr>
            <a:r>
              <a:rPr lang="en-US" sz="1450" dirty="0">
                <a:solidFill>
                  <a:srgbClr val="1D2E33"/>
                </a:solidFill>
                <a:latin typeface="Calibri" pitchFamily="34" charset="0"/>
                <a:ea typeface="Calibri" pitchFamily="34" charset="-122"/>
                <a:cs typeface="Calibri" pitchFamily="34" charset="-120"/>
              </a:rPr>
              <a:t>Track key performance indicators such as lead time, on-time delivery rate, profit margin, and unit-level profitability.</a:t>
            </a:r>
            <a:endParaRPr lang="en-US" sz="1450" dirty="0"/>
          </a:p>
        </p:txBody>
      </p:sp>
      <p:sp>
        <p:nvSpPr>
          <p:cNvPr id="14" name="Text 12"/>
          <p:cNvSpPr/>
          <p:nvPr/>
        </p:nvSpPr>
        <p:spPr>
          <a:xfrm>
            <a:off x="1143000" y="3557016"/>
            <a:ext cx="5577840" cy="502920"/>
          </a:xfrm>
          <a:prstGeom prst="rect">
            <a:avLst/>
          </a:prstGeom>
          <a:noFill/>
          <a:ln/>
        </p:spPr>
        <p:txBody>
          <a:bodyPr wrap="square" rtlCol="0" anchor="ctr"/>
          <a:lstStyle/>
          <a:p>
            <a:pPr indent="0" marL="0">
              <a:lnSpc>
                <a:spcPct val="115000"/>
              </a:lnSpc>
              <a:buNone/>
            </a:pPr>
            <a:r>
              <a:rPr lang="en-US" sz="1100" i="1" dirty="0">
                <a:solidFill>
                  <a:srgbClr val="5B6B70"/>
                </a:solidFill>
                <a:latin typeface="Calibri" pitchFamily="34" charset="0"/>
                <a:ea typeface="Calibri" pitchFamily="34" charset="-122"/>
                <a:cs typeface="Calibri" pitchFamily="34" charset="-120"/>
              </a:rPr>
              <a:t>Normalized ratios (margin, rate) allow fair comparison across regions and time periods regardless of absolute scale.</a:t>
            </a:r>
            <a:endParaRPr lang="en-US" sz="1100" dirty="0"/>
          </a:p>
        </p:txBody>
      </p:sp>
      <p:sp>
        <p:nvSpPr>
          <p:cNvPr id="15" name="Shape 13"/>
          <p:cNvSpPr/>
          <p:nvPr/>
        </p:nvSpPr>
        <p:spPr>
          <a:xfrm>
            <a:off x="457200" y="4123944"/>
            <a:ext cx="457200" cy="457200"/>
          </a:xfrm>
          <a:prstGeom prst="ellipse">
            <a:avLst/>
          </a:prstGeom>
          <a:solidFill>
            <a:srgbClr val="FFFFFF"/>
          </a:solidFill>
          <a:ln w="19050">
            <a:solidFill>
              <a:srgbClr val="0F3B4C"/>
            </a:solidFill>
            <a:prstDash val="solid"/>
          </a:ln>
        </p:spPr>
      </p:sp>
      <p:sp>
        <p:nvSpPr>
          <p:cNvPr id="16" name="Text 14"/>
          <p:cNvSpPr/>
          <p:nvPr/>
        </p:nvSpPr>
        <p:spPr>
          <a:xfrm>
            <a:off x="457200" y="4123944"/>
            <a:ext cx="457200" cy="457200"/>
          </a:xfrm>
          <a:prstGeom prst="rect">
            <a:avLst/>
          </a:prstGeom>
          <a:noFill/>
          <a:ln/>
        </p:spPr>
        <p:txBody>
          <a:bodyPr wrap="square" rtlCol="0" anchor="ctr"/>
          <a:lstStyle/>
          <a:p>
            <a:pPr algn="ctr" indent="0" marL="0">
              <a:buNone/>
            </a:pPr>
            <a:r>
              <a:rPr lang="en-US" sz="1600" b="1" dirty="0">
                <a:solidFill>
                  <a:srgbClr val="0F3B4C"/>
                </a:solidFill>
                <a:latin typeface="Georgia" pitchFamily="34" charset="0"/>
                <a:ea typeface="Georgia" pitchFamily="34" charset="-122"/>
                <a:cs typeface="Georgia" pitchFamily="34" charset="-120"/>
              </a:rPr>
              <a:t>3</a:t>
            </a:r>
            <a:endParaRPr lang="en-US" sz="1600" dirty="0"/>
          </a:p>
        </p:txBody>
      </p:sp>
      <p:sp>
        <p:nvSpPr>
          <p:cNvPr id="17" name="Text 15"/>
          <p:cNvSpPr/>
          <p:nvPr/>
        </p:nvSpPr>
        <p:spPr>
          <a:xfrm>
            <a:off x="1143000" y="4069080"/>
            <a:ext cx="5577840" cy="594360"/>
          </a:xfrm>
          <a:prstGeom prst="rect">
            <a:avLst/>
          </a:prstGeom>
          <a:noFill/>
          <a:ln/>
        </p:spPr>
        <p:txBody>
          <a:bodyPr wrap="square" rtlCol="0" anchor="ctr"/>
          <a:lstStyle/>
          <a:p>
            <a:pPr indent="0" marL="0">
              <a:lnSpc>
                <a:spcPct val="112000"/>
              </a:lnSpc>
              <a:buNone/>
            </a:pPr>
            <a:r>
              <a:rPr lang="en-US" sz="1450" dirty="0">
                <a:solidFill>
                  <a:srgbClr val="1D2E33"/>
                </a:solidFill>
                <a:latin typeface="Calibri" pitchFamily="34" charset="0"/>
                <a:ea typeface="Calibri" pitchFamily="34" charset="-122"/>
                <a:cs typeface="Calibri" pitchFamily="34" charset="-120"/>
              </a:rPr>
              <a:t>Identify regions, categories, discount bands, and shipping modes that contribute most to delays and losses.</a:t>
            </a:r>
            <a:endParaRPr lang="en-US" sz="1450" dirty="0"/>
          </a:p>
        </p:txBody>
      </p:sp>
      <p:sp>
        <p:nvSpPr>
          <p:cNvPr id="18" name="Text 16"/>
          <p:cNvSpPr/>
          <p:nvPr/>
        </p:nvSpPr>
        <p:spPr>
          <a:xfrm>
            <a:off x="1143000" y="4636008"/>
            <a:ext cx="5577840" cy="502920"/>
          </a:xfrm>
          <a:prstGeom prst="rect">
            <a:avLst/>
          </a:prstGeom>
          <a:noFill/>
          <a:ln/>
        </p:spPr>
        <p:txBody>
          <a:bodyPr wrap="square" rtlCol="0" anchor="ctr"/>
          <a:lstStyle/>
          <a:p>
            <a:pPr indent="0" marL="0">
              <a:lnSpc>
                <a:spcPct val="115000"/>
              </a:lnSpc>
              <a:buNone/>
            </a:pPr>
            <a:r>
              <a:rPr lang="en-US" sz="1100" i="1" dirty="0">
                <a:solidFill>
                  <a:srgbClr val="5B6B70"/>
                </a:solidFill>
                <a:latin typeface="Calibri" pitchFamily="34" charset="0"/>
                <a:ea typeface="Calibri" pitchFamily="34" charset="-122"/>
                <a:cs typeface="Calibri" pitchFamily="34" charset="-120"/>
              </a:rPr>
              <a:t>Pareto-style ranking surfaces the small subset of drivers responsible for most of the cost or delay.</a:t>
            </a:r>
            <a:endParaRPr lang="en-US" sz="1100" dirty="0"/>
          </a:p>
        </p:txBody>
      </p:sp>
      <p:sp>
        <p:nvSpPr>
          <p:cNvPr id="19" name="Shape 17"/>
          <p:cNvSpPr/>
          <p:nvPr/>
        </p:nvSpPr>
        <p:spPr>
          <a:xfrm>
            <a:off x="457200" y="5202936"/>
            <a:ext cx="457200" cy="457200"/>
          </a:xfrm>
          <a:prstGeom prst="ellipse">
            <a:avLst/>
          </a:prstGeom>
          <a:solidFill>
            <a:srgbClr val="FFFFFF"/>
          </a:solidFill>
          <a:ln w="19050">
            <a:solidFill>
              <a:srgbClr val="0F3B4C"/>
            </a:solidFill>
            <a:prstDash val="solid"/>
          </a:ln>
        </p:spPr>
      </p:sp>
      <p:sp>
        <p:nvSpPr>
          <p:cNvPr id="20" name="Text 18"/>
          <p:cNvSpPr/>
          <p:nvPr/>
        </p:nvSpPr>
        <p:spPr>
          <a:xfrm>
            <a:off x="457200" y="5202936"/>
            <a:ext cx="457200" cy="457200"/>
          </a:xfrm>
          <a:prstGeom prst="rect">
            <a:avLst/>
          </a:prstGeom>
          <a:noFill/>
          <a:ln/>
        </p:spPr>
        <p:txBody>
          <a:bodyPr wrap="square" rtlCol="0" anchor="ctr"/>
          <a:lstStyle/>
          <a:p>
            <a:pPr algn="ctr" indent="0" marL="0">
              <a:buNone/>
            </a:pPr>
            <a:r>
              <a:rPr lang="en-US" sz="1600" b="1" dirty="0">
                <a:solidFill>
                  <a:srgbClr val="0F3B4C"/>
                </a:solidFill>
                <a:latin typeface="Georgia" pitchFamily="34" charset="0"/>
                <a:ea typeface="Georgia" pitchFamily="34" charset="-122"/>
                <a:cs typeface="Georgia" pitchFamily="34" charset="-120"/>
              </a:rPr>
              <a:t>4</a:t>
            </a:r>
            <a:endParaRPr lang="en-US" sz="1600" dirty="0"/>
          </a:p>
        </p:txBody>
      </p:sp>
      <p:sp>
        <p:nvSpPr>
          <p:cNvPr id="21" name="Text 19"/>
          <p:cNvSpPr/>
          <p:nvPr/>
        </p:nvSpPr>
        <p:spPr>
          <a:xfrm>
            <a:off x="1143000" y="5148072"/>
            <a:ext cx="5577840" cy="594360"/>
          </a:xfrm>
          <a:prstGeom prst="rect">
            <a:avLst/>
          </a:prstGeom>
          <a:noFill/>
          <a:ln/>
        </p:spPr>
        <p:txBody>
          <a:bodyPr wrap="square" rtlCol="0" anchor="ctr"/>
          <a:lstStyle/>
          <a:p>
            <a:pPr indent="0" marL="0">
              <a:lnSpc>
                <a:spcPct val="112000"/>
              </a:lnSpc>
              <a:buNone/>
            </a:pPr>
            <a:r>
              <a:rPr lang="en-US" sz="1450" dirty="0">
                <a:solidFill>
                  <a:srgbClr val="1D2E33"/>
                </a:solidFill>
                <a:latin typeface="Calibri" pitchFamily="34" charset="0"/>
                <a:ea typeface="Calibri" pitchFamily="34" charset="-122"/>
                <a:cs typeface="Calibri" pitchFamily="34" charset="-120"/>
              </a:rPr>
              <a:t>Support faster, evidence-based decisions with a complete seven-page suite spanning executive, operational, and unit-economics views.</a:t>
            </a:r>
            <a:endParaRPr lang="en-US" sz="1450" dirty="0"/>
          </a:p>
        </p:txBody>
      </p:sp>
      <p:sp>
        <p:nvSpPr>
          <p:cNvPr id="22" name="Text 20"/>
          <p:cNvSpPr/>
          <p:nvPr/>
        </p:nvSpPr>
        <p:spPr>
          <a:xfrm>
            <a:off x="1143000" y="5715000"/>
            <a:ext cx="5577840" cy="502920"/>
          </a:xfrm>
          <a:prstGeom prst="rect">
            <a:avLst/>
          </a:prstGeom>
          <a:noFill/>
          <a:ln/>
        </p:spPr>
        <p:txBody>
          <a:bodyPr wrap="square" rtlCol="0" anchor="ctr"/>
          <a:lstStyle/>
          <a:p>
            <a:pPr indent="0" marL="0">
              <a:lnSpc>
                <a:spcPct val="115000"/>
              </a:lnSpc>
              <a:buNone/>
            </a:pPr>
            <a:r>
              <a:rPr lang="en-US" sz="1100" i="1" dirty="0">
                <a:solidFill>
                  <a:srgbClr val="5B6B70"/>
                </a:solidFill>
                <a:latin typeface="Calibri" pitchFamily="34" charset="0"/>
                <a:ea typeface="Calibri" pitchFamily="34" charset="-122"/>
                <a:cs typeface="Calibri" pitchFamily="34" charset="-120"/>
              </a:rPr>
              <a:t>Cross-filtering turns static charts into a connected exploration tool for non-technical stakeholders.</a:t>
            </a:r>
            <a:endParaRPr lang="en-US" sz="1100" dirty="0"/>
          </a:p>
        </p:txBody>
      </p:sp>
      <p:sp>
        <p:nvSpPr>
          <p:cNvPr id="23" name="Shape 21"/>
          <p:cNvSpPr/>
          <p:nvPr/>
        </p:nvSpPr>
        <p:spPr>
          <a:xfrm>
            <a:off x="7223760" y="1600200"/>
            <a:ext cx="4526280" cy="4709160"/>
          </a:xfrm>
          <a:prstGeom prst="rect">
            <a:avLst/>
          </a:prstGeom>
          <a:solidFill>
            <a:srgbClr val="EEF3F3"/>
          </a:solidFill>
          <a:ln/>
        </p:spPr>
      </p:sp>
      <p:sp>
        <p:nvSpPr>
          <p:cNvPr id="24" name="Text 22"/>
          <p:cNvSpPr/>
          <p:nvPr/>
        </p:nvSpPr>
        <p:spPr>
          <a:xfrm>
            <a:off x="7498080" y="1783080"/>
            <a:ext cx="4023360" cy="365760"/>
          </a:xfrm>
          <a:prstGeom prst="rect">
            <a:avLst/>
          </a:prstGeom>
          <a:noFill/>
          <a:ln/>
        </p:spPr>
        <p:txBody>
          <a:bodyPr wrap="square" rtlCol="0" anchor="ctr"/>
          <a:lstStyle/>
          <a:p>
            <a:pPr indent="0" marL="0">
              <a:buNone/>
            </a:pPr>
            <a:r>
              <a:rPr lang="en-US" sz="1200" b="1" dirty="0">
                <a:solidFill>
                  <a:srgbClr val="0F3B4C"/>
                </a:solidFill>
                <a:latin typeface="Calibri" pitchFamily="34" charset="0"/>
                <a:ea typeface="Calibri" pitchFamily="34" charset="-122"/>
                <a:cs typeface="Calibri" pitchFamily="34" charset="-120"/>
              </a:rPr>
              <a:t>PROJECT MODULES  (7-PAGE DASHBOARD SUITE)</a:t>
            </a:r>
            <a:endParaRPr lang="en-US" sz="1200" dirty="0"/>
          </a:p>
        </p:txBody>
      </p:sp>
      <p:sp>
        <p:nvSpPr>
          <p:cNvPr id="25" name="Text 23"/>
          <p:cNvSpPr/>
          <p:nvPr/>
        </p:nvSpPr>
        <p:spPr>
          <a:xfrm>
            <a:off x="7498080" y="2121408"/>
            <a:ext cx="4023360" cy="237744"/>
          </a:xfrm>
          <a:prstGeom prst="rect">
            <a:avLst/>
          </a:prstGeom>
          <a:noFill/>
          <a:ln/>
        </p:spPr>
        <p:txBody>
          <a:bodyPr wrap="square" rtlCol="0" anchor="ctr"/>
          <a:lstStyle/>
          <a:p>
            <a:pPr indent="0" marL="0">
              <a:buNone/>
            </a:pPr>
            <a:r>
              <a:rPr lang="en-US" sz="1100" b="1" dirty="0">
                <a:solidFill>
                  <a:srgbClr val="0F3B4C"/>
                </a:solidFill>
                <a:latin typeface="Calibri" pitchFamily="34" charset="0"/>
                <a:ea typeface="Calibri" pitchFamily="34" charset="-122"/>
                <a:cs typeface="Calibri" pitchFamily="34" charset="-120"/>
              </a:rPr>
              <a:t>1. Executive Dashboard</a:t>
            </a:r>
            <a:endParaRPr lang="en-US" sz="1100" dirty="0"/>
          </a:p>
        </p:txBody>
      </p:sp>
      <p:sp>
        <p:nvSpPr>
          <p:cNvPr id="26" name="Text 24"/>
          <p:cNvSpPr/>
          <p:nvPr/>
        </p:nvSpPr>
        <p:spPr>
          <a:xfrm>
            <a:off x="7498080" y="2340864"/>
            <a:ext cx="4023360" cy="347472"/>
          </a:xfrm>
          <a:prstGeom prst="rect">
            <a:avLst/>
          </a:prstGeom>
          <a:noFill/>
          <a:ln/>
        </p:spPr>
        <p:txBody>
          <a:bodyPr wrap="square" rtlCol="0" anchor="ctr"/>
          <a:lstStyle/>
          <a:p>
            <a:pPr indent="0" marL="0">
              <a:lnSpc>
                <a:spcPct val="105000"/>
              </a:lnSpc>
              <a:buNone/>
            </a:pPr>
            <a:r>
              <a:rPr lang="en-US" sz="880" dirty="0">
                <a:solidFill>
                  <a:srgbClr val="5B6B70"/>
                </a:solidFill>
                <a:latin typeface="Calibri" pitchFamily="34" charset="0"/>
                <a:ea typeface="Calibri" pitchFamily="34" charset="-122"/>
                <a:cs typeface="Calibri" pitchFamily="34" charset="-120"/>
              </a:rPr>
              <a:t>Total Sales (2.30M), Total Profit (286.41K), Total Orders, and Profit Margin (12.47%). Card visuals surface headline KPIs instantly.</a:t>
            </a:r>
            <a:endParaRPr lang="en-US" sz="880" dirty="0"/>
          </a:p>
        </p:txBody>
      </p:sp>
      <p:sp>
        <p:nvSpPr>
          <p:cNvPr id="27" name="Text 25"/>
          <p:cNvSpPr/>
          <p:nvPr/>
        </p:nvSpPr>
        <p:spPr>
          <a:xfrm>
            <a:off x="7498080" y="2683764"/>
            <a:ext cx="4023360" cy="237744"/>
          </a:xfrm>
          <a:prstGeom prst="rect">
            <a:avLst/>
          </a:prstGeom>
          <a:noFill/>
          <a:ln/>
        </p:spPr>
        <p:txBody>
          <a:bodyPr wrap="square" rtlCol="0" anchor="ctr"/>
          <a:lstStyle/>
          <a:p>
            <a:pPr indent="0" marL="0">
              <a:buNone/>
            </a:pPr>
            <a:r>
              <a:rPr lang="en-US" sz="1100" b="1" dirty="0">
                <a:solidFill>
                  <a:srgbClr val="0F3B4C"/>
                </a:solidFill>
                <a:latin typeface="Calibri" pitchFamily="34" charset="0"/>
                <a:ea typeface="Calibri" pitchFamily="34" charset="-122"/>
                <a:cs typeface="Calibri" pitchFamily="34" charset="-120"/>
              </a:rPr>
              <a:t>2. Supply Chain Insights</a:t>
            </a:r>
            <a:endParaRPr lang="en-US" sz="1100" dirty="0"/>
          </a:p>
        </p:txBody>
      </p:sp>
      <p:sp>
        <p:nvSpPr>
          <p:cNvPr id="28" name="Text 26"/>
          <p:cNvSpPr/>
          <p:nvPr/>
        </p:nvSpPr>
        <p:spPr>
          <a:xfrm>
            <a:off x="7498080" y="2903220"/>
            <a:ext cx="4023360" cy="347472"/>
          </a:xfrm>
          <a:prstGeom prst="rect">
            <a:avLst/>
          </a:prstGeom>
          <a:noFill/>
          <a:ln/>
        </p:spPr>
        <p:txBody>
          <a:bodyPr wrap="square" rtlCol="0" anchor="ctr"/>
          <a:lstStyle/>
          <a:p>
            <a:pPr indent="0" marL="0">
              <a:lnSpc>
                <a:spcPct val="105000"/>
              </a:lnSpc>
              <a:buNone/>
            </a:pPr>
            <a:r>
              <a:rPr lang="en-US" sz="880" dirty="0">
                <a:solidFill>
                  <a:srgbClr val="5B6B70"/>
                </a:solidFill>
                <a:latin typeface="Calibri" pitchFamily="34" charset="0"/>
                <a:ea typeface="Calibri" pitchFamily="34" charset="-122"/>
                <a:cs typeface="Calibri" pitchFamily="34" charset="-120"/>
              </a:rPr>
              <a:t>Return Rate (5.91%) and Ship-Mode donut. Exposes the classic logistics cost-vs-service trade-off across carriers.</a:t>
            </a:r>
            <a:endParaRPr lang="en-US" sz="880" dirty="0"/>
          </a:p>
        </p:txBody>
      </p:sp>
      <p:sp>
        <p:nvSpPr>
          <p:cNvPr id="29" name="Text 27"/>
          <p:cNvSpPr/>
          <p:nvPr/>
        </p:nvSpPr>
        <p:spPr>
          <a:xfrm>
            <a:off x="7498080" y="3246120"/>
            <a:ext cx="4023360" cy="237744"/>
          </a:xfrm>
          <a:prstGeom prst="rect">
            <a:avLst/>
          </a:prstGeom>
          <a:noFill/>
          <a:ln/>
        </p:spPr>
        <p:txBody>
          <a:bodyPr wrap="square" rtlCol="0" anchor="ctr"/>
          <a:lstStyle/>
          <a:p>
            <a:pPr indent="0" marL="0">
              <a:buNone/>
            </a:pPr>
            <a:r>
              <a:rPr lang="en-US" sz="1100" b="1" dirty="0">
                <a:solidFill>
                  <a:srgbClr val="0F3B4C"/>
                </a:solidFill>
                <a:latin typeface="Calibri" pitchFamily="34" charset="0"/>
                <a:ea typeface="Calibri" pitchFamily="34" charset="-122"/>
                <a:cs typeface="Calibri" pitchFamily="34" charset="-120"/>
              </a:rPr>
              <a:t>3. Product &amp; Pricing Analysis</a:t>
            </a:r>
            <a:endParaRPr lang="en-US" sz="1100" dirty="0"/>
          </a:p>
        </p:txBody>
      </p:sp>
      <p:sp>
        <p:nvSpPr>
          <p:cNvPr id="30" name="Text 28"/>
          <p:cNvSpPr/>
          <p:nvPr/>
        </p:nvSpPr>
        <p:spPr>
          <a:xfrm>
            <a:off x="7498080" y="3465576"/>
            <a:ext cx="4023360" cy="347472"/>
          </a:xfrm>
          <a:prstGeom prst="rect">
            <a:avLst/>
          </a:prstGeom>
          <a:noFill/>
          <a:ln/>
        </p:spPr>
        <p:txBody>
          <a:bodyPr wrap="square" rtlCol="0" anchor="ctr"/>
          <a:lstStyle/>
          <a:p>
            <a:pPr indent="0" marL="0">
              <a:lnSpc>
                <a:spcPct val="105000"/>
              </a:lnSpc>
              <a:buNone/>
            </a:pPr>
            <a:r>
              <a:rPr lang="en-US" sz="880" dirty="0">
                <a:solidFill>
                  <a:srgbClr val="5B6B70"/>
                </a:solidFill>
                <a:latin typeface="Calibri" pitchFamily="34" charset="0"/>
                <a:ea typeface="Calibri" pitchFamily="34" charset="-122"/>
                <a:cs typeface="Calibri" pitchFamily="34" charset="-120"/>
              </a:rPr>
              <a:t>Ranked waterfall of Profit by Sub-Category flags Tables/Furniture as loss-makers, guiding pricing correction.</a:t>
            </a:r>
            <a:endParaRPr lang="en-US" sz="880" dirty="0"/>
          </a:p>
        </p:txBody>
      </p:sp>
      <p:sp>
        <p:nvSpPr>
          <p:cNvPr id="31" name="Text 29"/>
          <p:cNvSpPr/>
          <p:nvPr/>
        </p:nvSpPr>
        <p:spPr>
          <a:xfrm>
            <a:off x="7498080" y="3808476"/>
            <a:ext cx="4023360" cy="237744"/>
          </a:xfrm>
          <a:prstGeom prst="rect">
            <a:avLst/>
          </a:prstGeom>
          <a:noFill/>
          <a:ln/>
        </p:spPr>
        <p:txBody>
          <a:bodyPr wrap="square" rtlCol="0" anchor="ctr"/>
          <a:lstStyle/>
          <a:p>
            <a:pPr indent="0" marL="0">
              <a:buNone/>
            </a:pPr>
            <a:r>
              <a:rPr lang="en-US" sz="1100" b="1" dirty="0">
                <a:solidFill>
                  <a:srgbClr val="0F3B4C"/>
                </a:solidFill>
                <a:latin typeface="Calibri" pitchFamily="34" charset="0"/>
                <a:ea typeface="Calibri" pitchFamily="34" charset="-122"/>
                <a:cs typeface="Calibri" pitchFamily="34" charset="-120"/>
              </a:rPr>
              <a:t>4. Customer &amp; Regional Insights</a:t>
            </a:r>
            <a:endParaRPr lang="en-US" sz="1100" dirty="0"/>
          </a:p>
        </p:txBody>
      </p:sp>
      <p:sp>
        <p:nvSpPr>
          <p:cNvPr id="32" name="Text 30"/>
          <p:cNvSpPr/>
          <p:nvPr/>
        </p:nvSpPr>
        <p:spPr>
          <a:xfrm>
            <a:off x="7498080" y="4027932"/>
            <a:ext cx="4023360" cy="347472"/>
          </a:xfrm>
          <a:prstGeom prst="rect">
            <a:avLst/>
          </a:prstGeom>
          <a:noFill/>
          <a:ln/>
        </p:spPr>
        <p:txBody>
          <a:bodyPr wrap="square" rtlCol="0" anchor="ctr"/>
          <a:lstStyle/>
          <a:p>
            <a:pPr indent="0" marL="0">
              <a:lnSpc>
                <a:spcPct val="105000"/>
              </a:lnSpc>
              <a:buNone/>
            </a:pPr>
            <a:r>
              <a:rPr lang="en-US" sz="880" dirty="0">
                <a:solidFill>
                  <a:srgbClr val="5B6B70"/>
                </a:solidFill>
                <a:latin typeface="Calibri" pitchFamily="34" charset="0"/>
                <a:ea typeface="Calibri" pitchFamily="34" charset="-122"/>
                <a:cs typeface="Calibri" pitchFamily="34" charset="-120"/>
              </a:rPr>
              <a:t>Segment mix, Average Order Value, and Sales by State apply Pareto geography to purchasing power analysis.</a:t>
            </a:r>
            <a:endParaRPr lang="en-US" sz="880" dirty="0"/>
          </a:p>
        </p:txBody>
      </p:sp>
      <p:sp>
        <p:nvSpPr>
          <p:cNvPr id="33" name="Text 31"/>
          <p:cNvSpPr/>
          <p:nvPr/>
        </p:nvSpPr>
        <p:spPr>
          <a:xfrm>
            <a:off x="7498080" y="4370832"/>
            <a:ext cx="4023360" cy="237744"/>
          </a:xfrm>
          <a:prstGeom prst="rect">
            <a:avLst/>
          </a:prstGeom>
          <a:noFill/>
          <a:ln/>
        </p:spPr>
        <p:txBody>
          <a:bodyPr wrap="square" rtlCol="0" anchor="ctr"/>
          <a:lstStyle/>
          <a:p>
            <a:pPr indent="0" marL="0">
              <a:buNone/>
            </a:pPr>
            <a:r>
              <a:rPr lang="en-US" sz="1100" b="1" dirty="0">
                <a:solidFill>
                  <a:srgbClr val="0F3B4C"/>
                </a:solidFill>
                <a:latin typeface="Calibri" pitchFamily="34" charset="0"/>
                <a:ea typeface="Calibri" pitchFamily="34" charset="-122"/>
                <a:cs typeface="Calibri" pitchFamily="34" charset="-120"/>
              </a:rPr>
              <a:t>5. Business Performance Monitoring</a:t>
            </a:r>
            <a:endParaRPr lang="en-US" sz="1100" dirty="0"/>
          </a:p>
        </p:txBody>
      </p:sp>
      <p:sp>
        <p:nvSpPr>
          <p:cNvPr id="34" name="Text 32"/>
          <p:cNvSpPr/>
          <p:nvPr/>
        </p:nvSpPr>
        <p:spPr>
          <a:xfrm>
            <a:off x="7498080" y="4590288"/>
            <a:ext cx="4023360" cy="347472"/>
          </a:xfrm>
          <a:prstGeom prst="rect">
            <a:avLst/>
          </a:prstGeom>
          <a:noFill/>
          <a:ln/>
        </p:spPr>
        <p:txBody>
          <a:bodyPr wrap="square" rtlCol="0" anchor="ctr"/>
          <a:lstStyle/>
          <a:p>
            <a:pPr indent="0" marL="0">
              <a:lnSpc>
                <a:spcPct val="105000"/>
              </a:lnSpc>
              <a:buNone/>
            </a:pPr>
            <a:r>
              <a:rPr lang="en-US" sz="880" dirty="0">
                <a:solidFill>
                  <a:srgbClr val="5B6B70"/>
                </a:solidFill>
                <a:latin typeface="Calibri" pitchFamily="34" charset="0"/>
                <a:ea typeface="Calibri" pitchFamily="34" charset="-122"/>
                <a:cs typeface="Calibri" pitchFamily="34" charset="-120"/>
              </a:rPr>
              <a:t>Loss-by-Product ranking and Sum of Profit by Returned quantify exactly where margin is being destroyed.</a:t>
            </a:r>
            <a:endParaRPr lang="en-US" sz="880" dirty="0"/>
          </a:p>
        </p:txBody>
      </p:sp>
      <p:sp>
        <p:nvSpPr>
          <p:cNvPr id="35" name="Text 33"/>
          <p:cNvSpPr/>
          <p:nvPr/>
        </p:nvSpPr>
        <p:spPr>
          <a:xfrm>
            <a:off x="7498080" y="4933188"/>
            <a:ext cx="4023360" cy="237744"/>
          </a:xfrm>
          <a:prstGeom prst="rect">
            <a:avLst/>
          </a:prstGeom>
          <a:noFill/>
          <a:ln/>
        </p:spPr>
        <p:txBody>
          <a:bodyPr wrap="square" rtlCol="0" anchor="ctr"/>
          <a:lstStyle/>
          <a:p>
            <a:pPr indent="0" marL="0">
              <a:buNone/>
            </a:pPr>
            <a:r>
              <a:rPr lang="en-US" sz="1100" b="1" dirty="0">
                <a:solidFill>
                  <a:srgbClr val="0F3B4C"/>
                </a:solidFill>
                <a:latin typeface="Calibri" pitchFamily="34" charset="0"/>
                <a:ea typeface="Calibri" pitchFamily="34" charset="-122"/>
                <a:cs typeface="Calibri" pitchFamily="34" charset="-120"/>
              </a:rPr>
              <a:t>6. Order &amp; Unit Economics</a:t>
            </a:r>
            <a:endParaRPr lang="en-US" sz="1100" dirty="0"/>
          </a:p>
        </p:txBody>
      </p:sp>
      <p:sp>
        <p:nvSpPr>
          <p:cNvPr id="36" name="Text 34"/>
          <p:cNvSpPr/>
          <p:nvPr/>
        </p:nvSpPr>
        <p:spPr>
          <a:xfrm>
            <a:off x="7498080" y="5152644"/>
            <a:ext cx="4023360" cy="347472"/>
          </a:xfrm>
          <a:prstGeom prst="rect">
            <a:avLst/>
          </a:prstGeom>
          <a:noFill/>
          <a:ln/>
        </p:spPr>
        <p:txBody>
          <a:bodyPr wrap="square" rtlCol="0" anchor="ctr"/>
          <a:lstStyle/>
          <a:p>
            <a:pPr indent="0" marL="0">
              <a:lnSpc>
                <a:spcPct val="105000"/>
              </a:lnSpc>
              <a:buNone/>
            </a:pPr>
            <a:r>
              <a:rPr lang="en-US" sz="880" dirty="0">
                <a:solidFill>
                  <a:srgbClr val="5B6B70"/>
                </a:solidFill>
                <a:latin typeface="Calibri" pitchFamily="34" charset="0"/>
                <a:ea typeface="Calibri" pitchFamily="34" charset="-122"/>
                <a:cs typeface="Calibri" pitchFamily="34" charset="-120"/>
              </a:rPr>
              <a:t>Profit and Sales per Unit normalize revenue by item sold — revealing per-unit strength hidden inside category totals.</a:t>
            </a:r>
            <a:endParaRPr lang="en-US" sz="880" dirty="0"/>
          </a:p>
        </p:txBody>
      </p:sp>
      <p:sp>
        <p:nvSpPr>
          <p:cNvPr id="37" name="Text 35"/>
          <p:cNvSpPr/>
          <p:nvPr/>
        </p:nvSpPr>
        <p:spPr>
          <a:xfrm>
            <a:off x="7498080" y="5495544"/>
            <a:ext cx="4023360" cy="237744"/>
          </a:xfrm>
          <a:prstGeom prst="rect">
            <a:avLst/>
          </a:prstGeom>
          <a:noFill/>
          <a:ln/>
        </p:spPr>
        <p:txBody>
          <a:bodyPr wrap="square" rtlCol="0" anchor="ctr"/>
          <a:lstStyle/>
          <a:p>
            <a:pPr indent="0" marL="0">
              <a:buNone/>
            </a:pPr>
            <a:r>
              <a:rPr lang="en-US" sz="1100" b="1" dirty="0">
                <a:solidFill>
                  <a:srgbClr val="0F3B4C"/>
                </a:solidFill>
                <a:latin typeface="Calibri" pitchFamily="34" charset="0"/>
                <a:ea typeface="Calibri" pitchFamily="34" charset="-122"/>
                <a:cs typeface="Calibri" pitchFamily="34" charset="-120"/>
              </a:rPr>
              <a:t>7. Discount &amp; Profitability Diagnostics</a:t>
            </a:r>
            <a:endParaRPr lang="en-US" sz="1100" dirty="0"/>
          </a:p>
        </p:txBody>
      </p:sp>
      <p:sp>
        <p:nvSpPr>
          <p:cNvPr id="38" name="Text 36"/>
          <p:cNvSpPr/>
          <p:nvPr/>
        </p:nvSpPr>
        <p:spPr>
          <a:xfrm>
            <a:off x="7498080" y="5715000"/>
            <a:ext cx="4023360" cy="347472"/>
          </a:xfrm>
          <a:prstGeom prst="rect">
            <a:avLst/>
          </a:prstGeom>
          <a:noFill/>
          <a:ln/>
        </p:spPr>
        <p:txBody>
          <a:bodyPr wrap="square" rtlCol="0" anchor="ctr"/>
          <a:lstStyle/>
          <a:p>
            <a:pPr indent="0" marL="0">
              <a:lnSpc>
                <a:spcPct val="105000"/>
              </a:lnSpc>
              <a:buNone/>
            </a:pPr>
            <a:r>
              <a:rPr lang="en-US" sz="880" dirty="0">
                <a:solidFill>
                  <a:srgbClr val="5B6B70"/>
                </a:solidFill>
                <a:latin typeface="Calibri" pitchFamily="34" charset="0"/>
                <a:ea typeface="Calibri" pitchFamily="34" charset="-122"/>
                <a:cs typeface="Calibri" pitchFamily="34" charset="-120"/>
              </a:rPr>
              <a:t>Scatter of Discount vs. Profit plus Profitable/Loss-Making flags convert the suite into an order-level health check.</a:t>
            </a:r>
            <a:endParaRPr lang="en-US" sz="880" dirty="0"/>
          </a:p>
        </p:txBody>
      </p:sp>
      <p:sp>
        <p:nvSpPr>
          <p:cNvPr id="39" name="Text 37"/>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40" name="Text 38"/>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45720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Project Execution Milestones</a:t>
            </a:r>
            <a:endParaRPr lang="en-US" sz="3400" dirty="0"/>
          </a:p>
        </p:txBody>
      </p:sp>
      <p:sp>
        <p:nvSpPr>
          <p:cNvPr id="6" name="Shape 4"/>
          <p:cNvSpPr/>
          <p:nvPr/>
        </p:nvSpPr>
        <p:spPr>
          <a:xfrm>
            <a:off x="457200" y="1600200"/>
            <a:ext cx="5349240" cy="2194560"/>
          </a:xfrm>
          <a:prstGeom prst="rect">
            <a:avLst/>
          </a:prstGeom>
          <a:solidFill>
            <a:srgbClr val="EEF3F3"/>
          </a:solidFill>
          <a:ln/>
        </p:spPr>
      </p:sp>
      <p:sp>
        <p:nvSpPr>
          <p:cNvPr id="7" name="Text 5"/>
          <p:cNvSpPr/>
          <p:nvPr/>
        </p:nvSpPr>
        <p:spPr>
          <a:xfrm>
            <a:off x="685800" y="1764792"/>
            <a:ext cx="1188720" cy="685800"/>
          </a:xfrm>
          <a:prstGeom prst="rect">
            <a:avLst/>
          </a:prstGeom>
          <a:noFill/>
          <a:ln/>
        </p:spPr>
        <p:txBody>
          <a:bodyPr wrap="square" rtlCol="0" anchor="ctr"/>
          <a:lstStyle/>
          <a:p>
            <a:pPr indent="0" marL="0">
              <a:buNone/>
            </a:pPr>
            <a:r>
              <a:rPr lang="en-US" sz="3400" b="1" dirty="0">
                <a:solidFill>
                  <a:srgbClr val="BFD6D9"/>
                </a:solidFill>
                <a:latin typeface="Georgia" pitchFamily="34" charset="0"/>
                <a:ea typeface="Georgia" pitchFamily="34" charset="-122"/>
                <a:cs typeface="Georgia" pitchFamily="34" charset="-120"/>
              </a:rPr>
              <a:t>01</a:t>
            </a:r>
            <a:endParaRPr lang="en-US" sz="3400" dirty="0"/>
          </a:p>
        </p:txBody>
      </p:sp>
      <p:sp>
        <p:nvSpPr>
          <p:cNvPr id="8" name="Text 6"/>
          <p:cNvSpPr/>
          <p:nvPr/>
        </p:nvSpPr>
        <p:spPr>
          <a:xfrm>
            <a:off x="1691640" y="1856232"/>
            <a:ext cx="3931920" cy="548640"/>
          </a:xfrm>
          <a:prstGeom prst="rect">
            <a:avLst/>
          </a:prstGeom>
          <a:noFill/>
          <a:ln/>
        </p:spPr>
        <p:txBody>
          <a:bodyPr wrap="square" rtlCol="0" anchor="ctr"/>
          <a:lstStyle/>
          <a:p>
            <a:pPr indent="0" marL="0">
              <a:lnSpc>
                <a:spcPct val="105000"/>
              </a:lnSpc>
              <a:buNone/>
            </a:pPr>
            <a:r>
              <a:rPr lang="en-US" sz="1550" b="1" dirty="0">
                <a:solidFill>
                  <a:srgbClr val="0F3B4C"/>
                </a:solidFill>
                <a:latin typeface="Georgia" pitchFamily="34" charset="0"/>
                <a:ea typeface="Georgia" pitchFamily="34" charset="-122"/>
                <a:cs typeface="Georgia" pitchFamily="34" charset="-120"/>
              </a:rPr>
              <a:t>Milestone 1 – Data Acquisition &amp; Cleaning</a:t>
            </a:r>
            <a:endParaRPr lang="en-US" sz="1550" dirty="0"/>
          </a:p>
        </p:txBody>
      </p:sp>
      <p:sp>
        <p:nvSpPr>
          <p:cNvPr id="9" name="Text 7"/>
          <p:cNvSpPr/>
          <p:nvPr/>
        </p:nvSpPr>
        <p:spPr>
          <a:xfrm>
            <a:off x="731520" y="2514600"/>
            <a:ext cx="4846320" cy="1188720"/>
          </a:xfrm>
          <a:prstGeom prst="rect">
            <a:avLst/>
          </a:prstGeom>
          <a:noFill/>
          <a:ln/>
        </p:spPr>
        <p:txBody>
          <a:bodyPr wrap="square" rtlCol="0" anchor="ctr"/>
          <a:lstStyle/>
          <a:p>
            <a:pPr indent="0" marL="0">
              <a:lnSpc>
                <a:spcPct val="116000"/>
              </a:lnSpc>
              <a:buNone/>
            </a:pPr>
            <a:r>
              <a:rPr lang="en-US" sz="1030" dirty="0">
                <a:solidFill>
                  <a:srgbClr val="1D2E33"/>
                </a:solidFill>
                <a:latin typeface="Calibri" pitchFamily="34" charset="0"/>
                <a:ea typeface="Calibri" pitchFamily="34" charset="-122"/>
                <a:cs typeface="Calibri" pitchFamily="34" charset="-120"/>
              </a:rPr>
              <a:t>Sourced the Retail Supply Chain Sales Dataset from Kaggle and studied it field by field across five field groups (order, customer, product, performance, logistics). Removed duplicate order and shipment records, handled missing shipping/delivery dates, standardized data types and casing, and renamed fields for clarity. Theory: correctly parsed order/ship dates and de-duplication are prerequisites for every downstream KPI.</a:t>
            </a:r>
            <a:endParaRPr lang="en-US" sz="1030" dirty="0"/>
          </a:p>
        </p:txBody>
      </p:sp>
      <p:sp>
        <p:nvSpPr>
          <p:cNvPr id="10" name="Shape 8"/>
          <p:cNvSpPr/>
          <p:nvPr/>
        </p:nvSpPr>
        <p:spPr>
          <a:xfrm>
            <a:off x="6400800" y="1600200"/>
            <a:ext cx="5349240" cy="2194560"/>
          </a:xfrm>
          <a:prstGeom prst="rect">
            <a:avLst/>
          </a:prstGeom>
          <a:solidFill>
            <a:srgbClr val="EEF3F3"/>
          </a:solidFill>
          <a:ln/>
        </p:spPr>
      </p:sp>
      <p:sp>
        <p:nvSpPr>
          <p:cNvPr id="11" name="Text 9"/>
          <p:cNvSpPr/>
          <p:nvPr/>
        </p:nvSpPr>
        <p:spPr>
          <a:xfrm>
            <a:off x="6629400" y="1764792"/>
            <a:ext cx="1188720" cy="685800"/>
          </a:xfrm>
          <a:prstGeom prst="rect">
            <a:avLst/>
          </a:prstGeom>
          <a:noFill/>
          <a:ln/>
        </p:spPr>
        <p:txBody>
          <a:bodyPr wrap="square" rtlCol="0" anchor="ctr"/>
          <a:lstStyle/>
          <a:p>
            <a:pPr indent="0" marL="0">
              <a:buNone/>
            </a:pPr>
            <a:r>
              <a:rPr lang="en-US" sz="3400" b="1" dirty="0">
                <a:solidFill>
                  <a:srgbClr val="BFD6D9"/>
                </a:solidFill>
                <a:latin typeface="Georgia" pitchFamily="34" charset="0"/>
                <a:ea typeface="Georgia" pitchFamily="34" charset="-122"/>
                <a:cs typeface="Georgia" pitchFamily="34" charset="-120"/>
              </a:rPr>
              <a:t>02</a:t>
            </a:r>
            <a:endParaRPr lang="en-US" sz="3400" dirty="0"/>
          </a:p>
        </p:txBody>
      </p:sp>
      <p:sp>
        <p:nvSpPr>
          <p:cNvPr id="12" name="Text 10"/>
          <p:cNvSpPr/>
          <p:nvPr/>
        </p:nvSpPr>
        <p:spPr>
          <a:xfrm>
            <a:off x="7635240" y="1856232"/>
            <a:ext cx="3931920" cy="548640"/>
          </a:xfrm>
          <a:prstGeom prst="rect">
            <a:avLst/>
          </a:prstGeom>
          <a:noFill/>
          <a:ln/>
        </p:spPr>
        <p:txBody>
          <a:bodyPr wrap="square" rtlCol="0" anchor="ctr"/>
          <a:lstStyle/>
          <a:p>
            <a:pPr indent="0" marL="0">
              <a:lnSpc>
                <a:spcPct val="105000"/>
              </a:lnSpc>
              <a:buNone/>
            </a:pPr>
            <a:r>
              <a:rPr lang="en-US" sz="1550" b="1" dirty="0">
                <a:solidFill>
                  <a:srgbClr val="0F3B4C"/>
                </a:solidFill>
                <a:latin typeface="Georgia" pitchFamily="34" charset="0"/>
                <a:ea typeface="Georgia" pitchFamily="34" charset="-122"/>
                <a:cs typeface="Georgia" pitchFamily="34" charset="-120"/>
              </a:rPr>
              <a:t>Milestone 2 – Data Modeling</a:t>
            </a:r>
            <a:endParaRPr lang="en-US" sz="1550" dirty="0"/>
          </a:p>
        </p:txBody>
      </p:sp>
      <p:sp>
        <p:nvSpPr>
          <p:cNvPr id="13" name="Text 11"/>
          <p:cNvSpPr/>
          <p:nvPr/>
        </p:nvSpPr>
        <p:spPr>
          <a:xfrm>
            <a:off x="6675120" y="2514600"/>
            <a:ext cx="4846320" cy="1188720"/>
          </a:xfrm>
          <a:prstGeom prst="rect">
            <a:avLst/>
          </a:prstGeom>
          <a:noFill/>
          <a:ln/>
        </p:spPr>
        <p:txBody>
          <a:bodyPr wrap="square" rtlCol="0" anchor="ctr"/>
          <a:lstStyle/>
          <a:p>
            <a:pPr indent="0" marL="0">
              <a:lnSpc>
                <a:spcPct val="116000"/>
              </a:lnSpc>
              <a:buNone/>
            </a:pPr>
            <a:r>
              <a:rPr lang="en-US" sz="1030" dirty="0">
                <a:solidFill>
                  <a:srgbClr val="1D2E33"/>
                </a:solidFill>
                <a:latin typeface="Calibri" pitchFamily="34" charset="0"/>
                <a:ea typeface="Calibri" pitchFamily="34" charset="-122"/>
                <a:cs typeface="Calibri" pitchFamily="34" charset="-120"/>
              </a:rPr>
              <a:t>Built a star-style model with the order dataset as the central fact table and a supporting Calendar Table for time-intelligence. Defined a reusable nine-measure DAX library and delivered the first two-page dashboard: 2.30M in sales, 5,009 orders, 12.47% margin. Theory: keeping dates in their own table decouples time-intelligence from the fact table.</a:t>
            </a:r>
            <a:endParaRPr lang="en-US" sz="1030" dirty="0"/>
          </a:p>
        </p:txBody>
      </p:sp>
      <p:sp>
        <p:nvSpPr>
          <p:cNvPr id="14" name="Shape 12"/>
          <p:cNvSpPr/>
          <p:nvPr/>
        </p:nvSpPr>
        <p:spPr>
          <a:xfrm>
            <a:off x="457200" y="3977640"/>
            <a:ext cx="5349240" cy="2194560"/>
          </a:xfrm>
          <a:prstGeom prst="rect">
            <a:avLst/>
          </a:prstGeom>
          <a:solidFill>
            <a:srgbClr val="EEF3F3"/>
          </a:solidFill>
          <a:ln/>
        </p:spPr>
      </p:sp>
      <p:sp>
        <p:nvSpPr>
          <p:cNvPr id="15" name="Text 13"/>
          <p:cNvSpPr/>
          <p:nvPr/>
        </p:nvSpPr>
        <p:spPr>
          <a:xfrm>
            <a:off x="685800" y="4142232"/>
            <a:ext cx="1188720" cy="685800"/>
          </a:xfrm>
          <a:prstGeom prst="rect">
            <a:avLst/>
          </a:prstGeom>
          <a:noFill/>
          <a:ln/>
        </p:spPr>
        <p:txBody>
          <a:bodyPr wrap="square" rtlCol="0" anchor="ctr"/>
          <a:lstStyle/>
          <a:p>
            <a:pPr indent="0" marL="0">
              <a:buNone/>
            </a:pPr>
            <a:r>
              <a:rPr lang="en-US" sz="3400" b="1" dirty="0">
                <a:solidFill>
                  <a:srgbClr val="BFD6D9"/>
                </a:solidFill>
                <a:latin typeface="Georgia" pitchFamily="34" charset="0"/>
                <a:ea typeface="Georgia" pitchFamily="34" charset="-122"/>
                <a:cs typeface="Georgia" pitchFamily="34" charset="-120"/>
              </a:rPr>
              <a:t>03</a:t>
            </a:r>
            <a:endParaRPr lang="en-US" sz="3400" dirty="0"/>
          </a:p>
        </p:txBody>
      </p:sp>
      <p:sp>
        <p:nvSpPr>
          <p:cNvPr id="16" name="Text 14"/>
          <p:cNvSpPr/>
          <p:nvPr/>
        </p:nvSpPr>
        <p:spPr>
          <a:xfrm>
            <a:off x="1691640" y="4233672"/>
            <a:ext cx="3931920" cy="548640"/>
          </a:xfrm>
          <a:prstGeom prst="rect">
            <a:avLst/>
          </a:prstGeom>
          <a:noFill/>
          <a:ln/>
        </p:spPr>
        <p:txBody>
          <a:bodyPr wrap="square" rtlCol="0" anchor="ctr"/>
          <a:lstStyle/>
          <a:p>
            <a:pPr indent="0" marL="0">
              <a:lnSpc>
                <a:spcPct val="105000"/>
              </a:lnSpc>
              <a:buNone/>
            </a:pPr>
            <a:r>
              <a:rPr lang="en-US" sz="1550" b="1" dirty="0">
                <a:solidFill>
                  <a:srgbClr val="0F3B4C"/>
                </a:solidFill>
                <a:latin typeface="Georgia" pitchFamily="34" charset="0"/>
                <a:ea typeface="Georgia" pitchFamily="34" charset="-122"/>
                <a:cs typeface="Georgia" pitchFamily="34" charset="-120"/>
              </a:rPr>
              <a:t>Milestone 3 – Development</a:t>
            </a:r>
            <a:endParaRPr lang="en-US" sz="1550" dirty="0"/>
          </a:p>
        </p:txBody>
      </p:sp>
      <p:sp>
        <p:nvSpPr>
          <p:cNvPr id="17" name="Text 15"/>
          <p:cNvSpPr/>
          <p:nvPr/>
        </p:nvSpPr>
        <p:spPr>
          <a:xfrm>
            <a:off x="731520" y="4892040"/>
            <a:ext cx="4846320" cy="1188720"/>
          </a:xfrm>
          <a:prstGeom prst="rect">
            <a:avLst/>
          </a:prstGeom>
          <a:noFill/>
          <a:ln/>
        </p:spPr>
        <p:txBody>
          <a:bodyPr wrap="square" rtlCol="0" anchor="ctr"/>
          <a:lstStyle/>
          <a:p>
            <a:pPr indent="0" marL="0">
              <a:lnSpc>
                <a:spcPct val="116000"/>
              </a:lnSpc>
              <a:buNone/>
            </a:pPr>
            <a:r>
              <a:rPr lang="en-US" sz="1030" dirty="0">
                <a:solidFill>
                  <a:srgbClr val="1D2E33"/>
                </a:solidFill>
                <a:latin typeface="Calibri" pitchFamily="34" charset="0"/>
                <a:ea typeface="Calibri" pitchFamily="34" charset="-122"/>
                <a:cs typeface="Calibri" pitchFamily="34" charset="-120"/>
              </a:rPr>
              <a:t>Expanded the report to a five-page analytical suite, adding Product &amp; Pricing Analysis, Customer &amp; Regional Insights, and Business Performance Monitoring — all reusing the existing data model and measure library so formatting, colours, and cross-filtering stayed identical across every page.</a:t>
            </a:r>
            <a:endParaRPr lang="en-US" sz="1030" dirty="0"/>
          </a:p>
        </p:txBody>
      </p:sp>
      <p:sp>
        <p:nvSpPr>
          <p:cNvPr id="18" name="Shape 16"/>
          <p:cNvSpPr/>
          <p:nvPr/>
        </p:nvSpPr>
        <p:spPr>
          <a:xfrm>
            <a:off x="6400800" y="3977640"/>
            <a:ext cx="5349240" cy="2194560"/>
          </a:xfrm>
          <a:prstGeom prst="rect">
            <a:avLst/>
          </a:prstGeom>
          <a:solidFill>
            <a:srgbClr val="EEF3F3"/>
          </a:solidFill>
          <a:ln/>
        </p:spPr>
      </p:sp>
      <p:sp>
        <p:nvSpPr>
          <p:cNvPr id="19" name="Text 17"/>
          <p:cNvSpPr/>
          <p:nvPr/>
        </p:nvSpPr>
        <p:spPr>
          <a:xfrm>
            <a:off x="6629400" y="4142232"/>
            <a:ext cx="1188720" cy="685800"/>
          </a:xfrm>
          <a:prstGeom prst="rect">
            <a:avLst/>
          </a:prstGeom>
          <a:noFill/>
          <a:ln/>
        </p:spPr>
        <p:txBody>
          <a:bodyPr wrap="square" rtlCol="0" anchor="ctr"/>
          <a:lstStyle/>
          <a:p>
            <a:pPr indent="0" marL="0">
              <a:buNone/>
            </a:pPr>
            <a:r>
              <a:rPr lang="en-US" sz="3400" b="1" dirty="0">
                <a:solidFill>
                  <a:srgbClr val="BFD6D9"/>
                </a:solidFill>
                <a:latin typeface="Georgia" pitchFamily="34" charset="0"/>
                <a:ea typeface="Georgia" pitchFamily="34" charset="-122"/>
                <a:cs typeface="Georgia" pitchFamily="34" charset="-120"/>
              </a:rPr>
              <a:t>04</a:t>
            </a:r>
            <a:endParaRPr lang="en-US" sz="3400" dirty="0"/>
          </a:p>
        </p:txBody>
      </p:sp>
      <p:sp>
        <p:nvSpPr>
          <p:cNvPr id="20" name="Text 18"/>
          <p:cNvSpPr/>
          <p:nvPr/>
        </p:nvSpPr>
        <p:spPr>
          <a:xfrm>
            <a:off x="7635240" y="4233672"/>
            <a:ext cx="3931920" cy="548640"/>
          </a:xfrm>
          <a:prstGeom prst="rect">
            <a:avLst/>
          </a:prstGeom>
          <a:noFill/>
          <a:ln/>
        </p:spPr>
        <p:txBody>
          <a:bodyPr wrap="square" rtlCol="0" anchor="ctr"/>
          <a:lstStyle/>
          <a:p>
            <a:pPr indent="0" marL="0">
              <a:lnSpc>
                <a:spcPct val="105000"/>
              </a:lnSpc>
              <a:buNone/>
            </a:pPr>
            <a:r>
              <a:rPr lang="en-US" sz="1550" b="1" dirty="0">
                <a:solidFill>
                  <a:srgbClr val="0F3B4C"/>
                </a:solidFill>
                <a:latin typeface="Georgia" pitchFamily="34" charset="0"/>
                <a:ea typeface="Georgia" pitchFamily="34" charset="-122"/>
                <a:cs typeface="Georgia" pitchFamily="34" charset="-120"/>
              </a:rPr>
              <a:t>Milestone 4 – Review &amp; Optimization</a:t>
            </a:r>
            <a:endParaRPr lang="en-US" sz="1550" dirty="0"/>
          </a:p>
        </p:txBody>
      </p:sp>
      <p:sp>
        <p:nvSpPr>
          <p:cNvPr id="21" name="Text 19"/>
          <p:cNvSpPr/>
          <p:nvPr/>
        </p:nvSpPr>
        <p:spPr>
          <a:xfrm>
            <a:off x="6675120" y="4892040"/>
            <a:ext cx="4846320" cy="1188720"/>
          </a:xfrm>
          <a:prstGeom prst="rect">
            <a:avLst/>
          </a:prstGeom>
          <a:noFill/>
          <a:ln/>
        </p:spPr>
        <p:txBody>
          <a:bodyPr wrap="square" rtlCol="0" anchor="ctr"/>
          <a:lstStyle/>
          <a:p>
            <a:pPr indent="0" marL="0">
              <a:lnSpc>
                <a:spcPct val="116000"/>
              </a:lnSpc>
              <a:buNone/>
            </a:pPr>
            <a:r>
              <a:rPr lang="en-US" sz="1030" dirty="0">
                <a:solidFill>
                  <a:srgbClr val="1D2E33"/>
                </a:solidFill>
                <a:latin typeface="Calibri" pitchFamily="34" charset="0"/>
                <a:ea typeface="Calibri" pitchFamily="34" charset="-122"/>
                <a:cs typeface="Calibri" pitchFamily="34" charset="-120"/>
              </a:rPr>
              <a:t>Added nine new DAX measures and two pages — Order &amp; Unit Economics and Discount &amp; Profitability Diagnostics — introducing Profitable/Loss-Making order flags and Discount/Profitability bands. Validated every slicer and drill-through end-to-end and finalized the suite for stakeholder handover.</a:t>
            </a:r>
            <a:endParaRPr lang="en-US" sz="1030" dirty="0"/>
          </a:p>
        </p:txBody>
      </p:sp>
      <p:sp>
        <p:nvSpPr>
          <p:cNvPr id="22" name="Text 20"/>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23" name="Text 21"/>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45720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Challenges &amp; Resolutions</a:t>
            </a:r>
            <a:endParaRPr lang="en-US" sz="3400" dirty="0"/>
          </a:p>
        </p:txBody>
      </p:sp>
      <p:sp>
        <p:nvSpPr>
          <p:cNvPr id="6" name="Text 4"/>
          <p:cNvSpPr/>
          <p:nvPr/>
        </p:nvSpPr>
        <p:spPr>
          <a:xfrm>
            <a:off x="457200" y="1536192"/>
            <a:ext cx="5394960" cy="256032"/>
          </a:xfrm>
          <a:prstGeom prst="rect">
            <a:avLst/>
          </a:prstGeom>
          <a:noFill/>
          <a:ln/>
        </p:spPr>
        <p:txBody>
          <a:bodyPr wrap="square" rtlCol="0" anchor="ctr"/>
          <a:lstStyle/>
          <a:p>
            <a:pPr indent="0" marL="0">
              <a:buNone/>
            </a:pPr>
            <a:r>
              <a:rPr lang="en-US" sz="1200" b="1" spc="150" kern="0" dirty="0">
                <a:solidFill>
                  <a:srgbClr val="C97C2B"/>
                </a:solidFill>
                <a:latin typeface="Calibri" pitchFamily="34" charset="0"/>
                <a:ea typeface="Calibri" pitchFamily="34" charset="-122"/>
                <a:cs typeface="Calibri" pitchFamily="34" charset="-120"/>
              </a:rPr>
              <a:t>CHALLENGES</a:t>
            </a:r>
            <a:endParaRPr lang="en-US" sz="1200" dirty="0"/>
          </a:p>
        </p:txBody>
      </p:sp>
      <p:sp>
        <p:nvSpPr>
          <p:cNvPr id="7" name="Text 5"/>
          <p:cNvSpPr/>
          <p:nvPr/>
        </p:nvSpPr>
        <p:spPr>
          <a:xfrm>
            <a:off x="6309360" y="1536192"/>
            <a:ext cx="5394960" cy="256032"/>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RESOLUTIONS</a:t>
            </a:r>
            <a:endParaRPr lang="en-US" sz="1200" dirty="0"/>
          </a:p>
        </p:txBody>
      </p:sp>
      <p:sp>
        <p:nvSpPr>
          <p:cNvPr id="8" name="Shape 6"/>
          <p:cNvSpPr/>
          <p:nvPr/>
        </p:nvSpPr>
        <p:spPr>
          <a:xfrm>
            <a:off x="457200" y="1901952"/>
            <a:ext cx="292608" cy="292608"/>
          </a:xfrm>
          <a:prstGeom prst="ellipse">
            <a:avLst/>
          </a:prstGeom>
          <a:solidFill>
            <a:srgbClr val="C97C2B"/>
          </a:solidFill>
          <a:ln/>
        </p:spPr>
      </p:sp>
      <p:sp>
        <p:nvSpPr>
          <p:cNvPr id="9" name="Text 7"/>
          <p:cNvSpPr/>
          <p:nvPr/>
        </p:nvSpPr>
        <p:spPr>
          <a:xfrm>
            <a:off x="457200" y="1901952"/>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896112" y="1856232"/>
            <a:ext cx="4983480" cy="777240"/>
          </a:xfrm>
          <a:prstGeom prst="rect">
            <a:avLst/>
          </a:prstGeom>
          <a:noFill/>
          <a:ln/>
        </p:spPr>
        <p:txBody>
          <a:bodyPr wrap="square" rtlCol="0" anchor="ctr"/>
          <a:lstStyle/>
          <a:p>
            <a:pPr indent="0" marL="0">
              <a:lnSpc>
                <a:spcPct val="112000"/>
              </a:lnSpc>
              <a:buNone/>
            </a:pPr>
            <a:r>
              <a:rPr lang="en-US" sz="1030" dirty="0">
                <a:solidFill>
                  <a:srgbClr val="1D2E33"/>
                </a:solidFill>
                <a:latin typeface="Calibri" pitchFamily="34" charset="0"/>
                <a:ea typeface="Calibri" pitchFamily="34" charset="-122"/>
                <a:cs typeface="Calibri" pitchFamily="34" charset="-120"/>
              </a:rPr>
              <a:t>The raw Discount column is continuous, so the team had to agree on a clear cut-off before orders could be grouped into No-Discount / High-Discount bands.</a:t>
            </a:r>
            <a:endParaRPr lang="en-US" sz="1030" dirty="0"/>
          </a:p>
        </p:txBody>
      </p:sp>
      <p:sp>
        <p:nvSpPr>
          <p:cNvPr id="11" name="Shape 9"/>
          <p:cNvSpPr/>
          <p:nvPr/>
        </p:nvSpPr>
        <p:spPr>
          <a:xfrm>
            <a:off x="6309360" y="1901952"/>
            <a:ext cx="292608" cy="292608"/>
          </a:xfrm>
          <a:prstGeom prst="ellipse">
            <a:avLst/>
          </a:prstGeom>
          <a:solidFill>
            <a:srgbClr val="2E8B74"/>
          </a:solidFill>
          <a:ln/>
        </p:spPr>
      </p:sp>
      <p:sp>
        <p:nvSpPr>
          <p:cNvPr id="12" name="Text 10"/>
          <p:cNvSpPr/>
          <p:nvPr/>
        </p:nvSpPr>
        <p:spPr>
          <a:xfrm>
            <a:off x="6309360" y="1901952"/>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p:nvPr/>
        </p:nvSpPr>
        <p:spPr>
          <a:xfrm>
            <a:off x="6748272" y="1856232"/>
            <a:ext cx="4983480" cy="777240"/>
          </a:xfrm>
          <a:prstGeom prst="rect">
            <a:avLst/>
          </a:prstGeom>
          <a:noFill/>
          <a:ln/>
        </p:spPr>
        <p:txBody>
          <a:bodyPr wrap="square" rtlCol="0" anchor="ctr"/>
          <a:lstStyle/>
          <a:p>
            <a:pPr indent="0" marL="0">
              <a:lnSpc>
                <a:spcPct val="112000"/>
              </a:lnSpc>
              <a:buNone/>
            </a:pPr>
            <a:r>
              <a:rPr lang="en-US" sz="1030" dirty="0">
                <a:solidFill>
                  <a:srgbClr val="1D2E33"/>
                </a:solidFill>
                <a:latin typeface="Calibri" pitchFamily="34" charset="0"/>
                <a:ea typeface="Calibri" pitchFamily="34" charset="-122"/>
                <a:cs typeface="Calibri" pitchFamily="34" charset="-120"/>
              </a:rPr>
              <a:t>Benchmarked the cut-off against the average discount already reported in Milestone 3, giving a defensible, data-grounded threshold for the Discount Band.</a:t>
            </a:r>
            <a:endParaRPr lang="en-US" sz="1030" dirty="0"/>
          </a:p>
        </p:txBody>
      </p:sp>
      <p:sp>
        <p:nvSpPr>
          <p:cNvPr id="14" name="Shape 12"/>
          <p:cNvSpPr/>
          <p:nvPr/>
        </p:nvSpPr>
        <p:spPr>
          <a:xfrm>
            <a:off x="457200" y="2756916"/>
            <a:ext cx="292608" cy="292608"/>
          </a:xfrm>
          <a:prstGeom prst="ellipse">
            <a:avLst/>
          </a:prstGeom>
          <a:solidFill>
            <a:srgbClr val="C97C2B"/>
          </a:solidFill>
          <a:ln/>
        </p:spPr>
      </p:sp>
      <p:sp>
        <p:nvSpPr>
          <p:cNvPr id="15" name="Text 13"/>
          <p:cNvSpPr/>
          <p:nvPr/>
        </p:nvSpPr>
        <p:spPr>
          <a:xfrm>
            <a:off x="457200" y="2756916"/>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p:nvPr/>
        </p:nvSpPr>
        <p:spPr>
          <a:xfrm>
            <a:off x="896112" y="2711196"/>
            <a:ext cx="4983480" cy="777240"/>
          </a:xfrm>
          <a:prstGeom prst="rect">
            <a:avLst/>
          </a:prstGeom>
          <a:noFill/>
          <a:ln/>
        </p:spPr>
        <p:txBody>
          <a:bodyPr wrap="square" rtlCol="0" anchor="ctr"/>
          <a:lstStyle/>
          <a:p>
            <a:pPr indent="0" marL="0">
              <a:lnSpc>
                <a:spcPct val="112000"/>
              </a:lnSpc>
              <a:buNone/>
            </a:pPr>
            <a:r>
              <a:rPr lang="en-US" sz="1030" dirty="0">
                <a:solidFill>
                  <a:srgbClr val="1D2E33"/>
                </a:solidFill>
                <a:latin typeface="Calibri" pitchFamily="34" charset="0"/>
                <a:ea typeface="Calibri" pitchFamily="34" charset="-122"/>
                <a:cs typeface="Calibri" pitchFamily="34" charset="-120"/>
              </a:rPr>
              <a:t>Profit per Unit and Sales per Unit risked being misread as per-order figures rather than per-unit benchmarks across the new Order &amp; Unit Economics page.</a:t>
            </a:r>
            <a:endParaRPr lang="en-US" sz="1030" dirty="0"/>
          </a:p>
        </p:txBody>
      </p:sp>
      <p:sp>
        <p:nvSpPr>
          <p:cNvPr id="17" name="Shape 15"/>
          <p:cNvSpPr/>
          <p:nvPr/>
        </p:nvSpPr>
        <p:spPr>
          <a:xfrm>
            <a:off x="6309360" y="2756916"/>
            <a:ext cx="292608" cy="292608"/>
          </a:xfrm>
          <a:prstGeom prst="ellipse">
            <a:avLst/>
          </a:prstGeom>
          <a:solidFill>
            <a:srgbClr val="2E8B74"/>
          </a:solidFill>
          <a:ln/>
        </p:spPr>
      </p:sp>
      <p:sp>
        <p:nvSpPr>
          <p:cNvPr id="18" name="Text 16"/>
          <p:cNvSpPr/>
          <p:nvPr/>
        </p:nvSpPr>
        <p:spPr>
          <a:xfrm>
            <a:off x="6309360" y="2756916"/>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17"/>
          <p:cNvSpPr/>
          <p:nvPr/>
        </p:nvSpPr>
        <p:spPr>
          <a:xfrm>
            <a:off x="6748272" y="2711196"/>
            <a:ext cx="4983480" cy="777240"/>
          </a:xfrm>
          <a:prstGeom prst="rect">
            <a:avLst/>
          </a:prstGeom>
          <a:noFill/>
          <a:ln/>
        </p:spPr>
        <p:txBody>
          <a:bodyPr wrap="square" rtlCol="0" anchor="ctr"/>
          <a:lstStyle/>
          <a:p>
            <a:pPr indent="0" marL="0">
              <a:lnSpc>
                <a:spcPct val="112000"/>
              </a:lnSpc>
              <a:buNone/>
            </a:pPr>
            <a:r>
              <a:rPr lang="en-US" sz="1030" dirty="0">
                <a:solidFill>
                  <a:srgbClr val="1D2E33"/>
                </a:solidFill>
                <a:latin typeface="Calibri" pitchFamily="34" charset="0"/>
                <a:ea typeface="Calibri" pitchFamily="34" charset="-122"/>
                <a:cs typeface="Calibri" pitchFamily="34" charset="-120"/>
              </a:rPr>
              <a:t>Used clear card titles and matching labels across every page so unit-level and order-level metrics could never be confused by a reader.</a:t>
            </a:r>
            <a:endParaRPr lang="en-US" sz="1030" dirty="0"/>
          </a:p>
        </p:txBody>
      </p:sp>
      <p:sp>
        <p:nvSpPr>
          <p:cNvPr id="20" name="Shape 18"/>
          <p:cNvSpPr/>
          <p:nvPr/>
        </p:nvSpPr>
        <p:spPr>
          <a:xfrm>
            <a:off x="457200" y="3611880"/>
            <a:ext cx="292608" cy="292608"/>
          </a:xfrm>
          <a:prstGeom prst="ellipse">
            <a:avLst/>
          </a:prstGeom>
          <a:solidFill>
            <a:srgbClr val="C97C2B"/>
          </a:solidFill>
          <a:ln/>
        </p:spPr>
      </p:sp>
      <p:sp>
        <p:nvSpPr>
          <p:cNvPr id="21" name="Text 19"/>
          <p:cNvSpPr/>
          <p:nvPr/>
        </p:nvSpPr>
        <p:spPr>
          <a:xfrm>
            <a:off x="457200" y="361188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896112" y="3566160"/>
            <a:ext cx="4983480" cy="777240"/>
          </a:xfrm>
          <a:prstGeom prst="rect">
            <a:avLst/>
          </a:prstGeom>
          <a:noFill/>
          <a:ln/>
        </p:spPr>
        <p:txBody>
          <a:bodyPr wrap="square" rtlCol="0" anchor="ctr"/>
          <a:lstStyle/>
          <a:p>
            <a:pPr indent="0" marL="0">
              <a:lnSpc>
                <a:spcPct val="112000"/>
              </a:lnSpc>
              <a:buNone/>
            </a:pPr>
            <a:r>
              <a:rPr lang="en-US" sz="1030" dirty="0">
                <a:solidFill>
                  <a:srgbClr val="1D2E33"/>
                </a:solidFill>
                <a:latin typeface="Calibri" pitchFamily="34" charset="0"/>
                <a:ea typeface="Calibri" pitchFamily="34" charset="-122"/>
                <a:cs typeface="Calibri" pitchFamily="34" charset="-120"/>
              </a:rPr>
              <a:t>Profitability Band totals (High/Medium/Low) had to reconcile exactly with the Total Profit already reported in Milestone 3 — any DAX slip would silently misstate the numbers.</a:t>
            </a:r>
            <a:endParaRPr lang="en-US" sz="1030" dirty="0"/>
          </a:p>
        </p:txBody>
      </p:sp>
      <p:sp>
        <p:nvSpPr>
          <p:cNvPr id="23" name="Shape 21"/>
          <p:cNvSpPr/>
          <p:nvPr/>
        </p:nvSpPr>
        <p:spPr>
          <a:xfrm>
            <a:off x="6309360" y="3611880"/>
            <a:ext cx="292608" cy="292608"/>
          </a:xfrm>
          <a:prstGeom prst="ellipse">
            <a:avLst/>
          </a:prstGeom>
          <a:solidFill>
            <a:srgbClr val="2E8B74"/>
          </a:solidFill>
          <a:ln/>
        </p:spPr>
      </p:sp>
      <p:sp>
        <p:nvSpPr>
          <p:cNvPr id="24" name="Text 22"/>
          <p:cNvSpPr/>
          <p:nvPr/>
        </p:nvSpPr>
        <p:spPr>
          <a:xfrm>
            <a:off x="6309360" y="3611880"/>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6748272" y="3566160"/>
            <a:ext cx="4983480" cy="777240"/>
          </a:xfrm>
          <a:prstGeom prst="rect">
            <a:avLst/>
          </a:prstGeom>
          <a:noFill/>
          <a:ln/>
        </p:spPr>
        <p:txBody>
          <a:bodyPr wrap="square" rtlCol="0" anchor="ctr"/>
          <a:lstStyle/>
          <a:p>
            <a:pPr indent="0" marL="0">
              <a:lnSpc>
                <a:spcPct val="112000"/>
              </a:lnSpc>
              <a:buNone/>
            </a:pPr>
            <a:r>
              <a:rPr lang="en-US" sz="1030" dirty="0">
                <a:solidFill>
                  <a:srgbClr val="1D2E33"/>
                </a:solidFill>
                <a:latin typeface="Calibri" pitchFamily="34" charset="0"/>
                <a:ea typeface="Calibri" pitchFamily="34" charset="-122"/>
                <a:cs typeface="Calibri" pitchFamily="34" charset="-120"/>
              </a:rPr>
              <a:t>Carefully checked the DAX logic so High/Medium/Low Profit Band totals summed back exactly to the Total Profit figure already validated in Milestone 3.</a:t>
            </a:r>
            <a:endParaRPr lang="en-US" sz="1030" dirty="0"/>
          </a:p>
        </p:txBody>
      </p:sp>
      <p:sp>
        <p:nvSpPr>
          <p:cNvPr id="26" name="Shape 24"/>
          <p:cNvSpPr/>
          <p:nvPr/>
        </p:nvSpPr>
        <p:spPr>
          <a:xfrm>
            <a:off x="457200" y="4466844"/>
            <a:ext cx="292608" cy="292608"/>
          </a:xfrm>
          <a:prstGeom prst="ellipse">
            <a:avLst/>
          </a:prstGeom>
          <a:solidFill>
            <a:srgbClr val="C97C2B"/>
          </a:solidFill>
          <a:ln/>
        </p:spPr>
      </p:sp>
      <p:sp>
        <p:nvSpPr>
          <p:cNvPr id="27" name="Text 25"/>
          <p:cNvSpPr/>
          <p:nvPr/>
        </p:nvSpPr>
        <p:spPr>
          <a:xfrm>
            <a:off x="457200" y="4466844"/>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p:nvPr/>
        </p:nvSpPr>
        <p:spPr>
          <a:xfrm>
            <a:off x="896112" y="4421124"/>
            <a:ext cx="4983480" cy="777240"/>
          </a:xfrm>
          <a:prstGeom prst="rect">
            <a:avLst/>
          </a:prstGeom>
          <a:noFill/>
          <a:ln/>
        </p:spPr>
        <p:txBody>
          <a:bodyPr wrap="square" rtlCol="0" anchor="ctr"/>
          <a:lstStyle/>
          <a:p>
            <a:pPr indent="0" marL="0">
              <a:lnSpc>
                <a:spcPct val="112000"/>
              </a:lnSpc>
              <a:buNone/>
            </a:pPr>
            <a:r>
              <a:rPr lang="en-US" sz="1030" dirty="0">
                <a:solidFill>
                  <a:srgbClr val="1D2E33"/>
                </a:solidFill>
                <a:latin typeface="Calibri" pitchFamily="34" charset="0"/>
                <a:ea typeface="Calibri" pitchFamily="34" charset="-122"/>
                <a:cs typeface="Calibri" pitchFamily="34" charset="-120"/>
              </a:rPr>
              <a:t>Region, Segment, and Ship Mode values in the raw CSV occasionally differed only in casing or spacing, risking split, near-duplicate groups on charts.</a:t>
            </a:r>
            <a:endParaRPr lang="en-US" sz="1030" dirty="0"/>
          </a:p>
        </p:txBody>
      </p:sp>
      <p:sp>
        <p:nvSpPr>
          <p:cNvPr id="29" name="Shape 27"/>
          <p:cNvSpPr/>
          <p:nvPr/>
        </p:nvSpPr>
        <p:spPr>
          <a:xfrm>
            <a:off x="6309360" y="4466844"/>
            <a:ext cx="292608" cy="292608"/>
          </a:xfrm>
          <a:prstGeom prst="ellipse">
            <a:avLst/>
          </a:prstGeom>
          <a:solidFill>
            <a:srgbClr val="2E8B74"/>
          </a:solidFill>
          <a:ln/>
        </p:spPr>
      </p:sp>
      <p:sp>
        <p:nvSpPr>
          <p:cNvPr id="30" name="Text 28"/>
          <p:cNvSpPr/>
          <p:nvPr/>
        </p:nvSpPr>
        <p:spPr>
          <a:xfrm>
            <a:off x="6309360" y="4466844"/>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6748272" y="4421124"/>
            <a:ext cx="4983480" cy="777240"/>
          </a:xfrm>
          <a:prstGeom prst="rect">
            <a:avLst/>
          </a:prstGeom>
          <a:noFill/>
          <a:ln/>
        </p:spPr>
        <p:txBody>
          <a:bodyPr wrap="square" rtlCol="0" anchor="ctr"/>
          <a:lstStyle/>
          <a:p>
            <a:pPr indent="0" marL="0">
              <a:lnSpc>
                <a:spcPct val="112000"/>
              </a:lnSpc>
              <a:buNone/>
            </a:pPr>
            <a:r>
              <a:rPr lang="en-US" sz="1030" dirty="0">
                <a:solidFill>
                  <a:srgbClr val="1D2E33"/>
                </a:solidFill>
                <a:latin typeface="Calibri" pitchFamily="34" charset="0"/>
                <a:ea typeface="Calibri" pitchFamily="34" charset="-122"/>
                <a:cs typeface="Calibri" pitchFamily="34" charset="-120"/>
              </a:rPr>
              <a:t>Standardized text formatting for every categorical column during preprocessing, before the data was loaded into the model.</a:t>
            </a:r>
            <a:endParaRPr lang="en-US" sz="1030" dirty="0"/>
          </a:p>
        </p:txBody>
      </p:sp>
      <p:sp>
        <p:nvSpPr>
          <p:cNvPr id="32" name="Shape 30"/>
          <p:cNvSpPr/>
          <p:nvPr/>
        </p:nvSpPr>
        <p:spPr>
          <a:xfrm>
            <a:off x="457200" y="5321808"/>
            <a:ext cx="292608" cy="292608"/>
          </a:xfrm>
          <a:prstGeom prst="ellipse">
            <a:avLst/>
          </a:prstGeom>
          <a:solidFill>
            <a:srgbClr val="C97C2B"/>
          </a:solidFill>
          <a:ln/>
        </p:spPr>
      </p:sp>
      <p:sp>
        <p:nvSpPr>
          <p:cNvPr id="33" name="Text 31"/>
          <p:cNvSpPr/>
          <p:nvPr/>
        </p:nvSpPr>
        <p:spPr>
          <a:xfrm>
            <a:off x="457200" y="5321808"/>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4" name="Text 32"/>
          <p:cNvSpPr/>
          <p:nvPr/>
        </p:nvSpPr>
        <p:spPr>
          <a:xfrm>
            <a:off x="896112" y="5276088"/>
            <a:ext cx="4983480" cy="777240"/>
          </a:xfrm>
          <a:prstGeom prst="rect">
            <a:avLst/>
          </a:prstGeom>
          <a:noFill/>
          <a:ln/>
        </p:spPr>
        <p:txBody>
          <a:bodyPr wrap="square" rtlCol="0" anchor="ctr"/>
          <a:lstStyle/>
          <a:p>
            <a:pPr indent="0" marL="0">
              <a:lnSpc>
                <a:spcPct val="112000"/>
              </a:lnSpc>
              <a:buNone/>
            </a:pPr>
            <a:r>
              <a:rPr lang="en-US" sz="1030" dirty="0">
                <a:solidFill>
                  <a:srgbClr val="1D2E33"/>
                </a:solidFill>
                <a:latin typeface="Calibri" pitchFamily="34" charset="0"/>
                <a:ea typeface="Calibri" pitchFamily="34" charset="-122"/>
                <a:cs typeface="Calibri" pitchFamily="34" charset="-120"/>
              </a:rPr>
              <a:t>Keeping two brand-new pages on-brand with Pages 1–5 while coordinating a six-person team within a compressed six-week schedule.</a:t>
            </a:r>
            <a:endParaRPr lang="en-US" sz="1030" dirty="0"/>
          </a:p>
        </p:txBody>
      </p:sp>
      <p:sp>
        <p:nvSpPr>
          <p:cNvPr id="35" name="Shape 33"/>
          <p:cNvSpPr/>
          <p:nvPr/>
        </p:nvSpPr>
        <p:spPr>
          <a:xfrm>
            <a:off x="6309360" y="5321808"/>
            <a:ext cx="292608" cy="292608"/>
          </a:xfrm>
          <a:prstGeom prst="ellipse">
            <a:avLst/>
          </a:prstGeom>
          <a:solidFill>
            <a:srgbClr val="2E8B74"/>
          </a:solidFill>
          <a:ln/>
        </p:spPr>
      </p:sp>
      <p:sp>
        <p:nvSpPr>
          <p:cNvPr id="36" name="Text 34"/>
          <p:cNvSpPr/>
          <p:nvPr/>
        </p:nvSpPr>
        <p:spPr>
          <a:xfrm>
            <a:off x="6309360" y="5321808"/>
            <a:ext cx="2926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7" name="Text 35"/>
          <p:cNvSpPr/>
          <p:nvPr/>
        </p:nvSpPr>
        <p:spPr>
          <a:xfrm>
            <a:off x="6748272" y="5276088"/>
            <a:ext cx="4983480" cy="777240"/>
          </a:xfrm>
          <a:prstGeom prst="rect">
            <a:avLst/>
          </a:prstGeom>
          <a:noFill/>
          <a:ln/>
        </p:spPr>
        <p:txBody>
          <a:bodyPr wrap="square" rtlCol="0" anchor="ctr"/>
          <a:lstStyle/>
          <a:p>
            <a:pPr indent="0" marL="0">
              <a:lnSpc>
                <a:spcPct val="112000"/>
              </a:lnSpc>
              <a:buNone/>
            </a:pPr>
            <a:r>
              <a:rPr lang="en-US" sz="1030" dirty="0">
                <a:solidFill>
                  <a:srgbClr val="1D2E33"/>
                </a:solidFill>
                <a:latin typeface="Calibri" pitchFamily="34" charset="0"/>
                <a:ea typeface="Calibri" pitchFamily="34" charset="-122"/>
                <a:cs typeface="Calibri" pitchFamily="34" charset="-120"/>
              </a:rPr>
              <a:t>Reused the existing measure library and visual formatting for every new page, and split work along milestone phase boundaries with GitHub/GitLab version control.</a:t>
            </a:r>
            <a:endParaRPr lang="en-US" sz="1030" dirty="0"/>
          </a:p>
        </p:txBody>
      </p:sp>
      <p:sp>
        <p:nvSpPr>
          <p:cNvPr id="38" name="Text 36"/>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39" name="Text 37"/>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45720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Future Enhancements &amp; Key Insights</a:t>
            </a:r>
            <a:endParaRPr lang="en-US" sz="3400" dirty="0"/>
          </a:p>
        </p:txBody>
      </p:sp>
      <p:sp>
        <p:nvSpPr>
          <p:cNvPr id="6" name="Text 4"/>
          <p:cNvSpPr/>
          <p:nvPr/>
        </p:nvSpPr>
        <p:spPr>
          <a:xfrm>
            <a:off x="457200" y="1572768"/>
            <a:ext cx="5303520" cy="274320"/>
          </a:xfrm>
          <a:prstGeom prst="rect">
            <a:avLst/>
          </a:prstGeom>
          <a:noFill/>
          <a:ln/>
        </p:spPr>
        <p:txBody>
          <a:bodyPr wrap="square" rtlCol="0" anchor="ctr"/>
          <a:lstStyle/>
          <a:p>
            <a:pPr indent="0" marL="0">
              <a:buNone/>
            </a:pPr>
            <a:r>
              <a:rPr lang="en-US" sz="1200" b="1" spc="150" kern="0" dirty="0">
                <a:solidFill>
                  <a:srgbClr val="C97C2B"/>
                </a:solidFill>
                <a:latin typeface="Calibri" pitchFamily="34" charset="0"/>
                <a:ea typeface="Calibri" pitchFamily="34" charset="-122"/>
                <a:cs typeface="Calibri" pitchFamily="34" charset="-120"/>
              </a:rPr>
              <a:t>FUTURE ENHANCEMENTS</a:t>
            </a:r>
            <a:endParaRPr lang="en-US" sz="1200" dirty="0"/>
          </a:p>
        </p:txBody>
      </p:sp>
      <p:sp>
        <p:nvSpPr>
          <p:cNvPr id="7" name="Text 5"/>
          <p:cNvSpPr/>
          <p:nvPr/>
        </p:nvSpPr>
        <p:spPr>
          <a:xfrm>
            <a:off x="6263640" y="1572768"/>
            <a:ext cx="530352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KEY INSIGHTS</a:t>
            </a:r>
            <a:endParaRPr lang="en-US" sz="1200" dirty="0"/>
          </a:p>
        </p:txBody>
      </p:sp>
      <p:sp>
        <p:nvSpPr>
          <p:cNvPr id="8" name="Shape 6"/>
          <p:cNvSpPr/>
          <p:nvPr/>
        </p:nvSpPr>
        <p:spPr>
          <a:xfrm>
            <a:off x="502920" y="2084832"/>
            <a:ext cx="91440" cy="91440"/>
          </a:xfrm>
          <a:prstGeom prst="ellipse">
            <a:avLst/>
          </a:prstGeom>
          <a:solidFill>
            <a:srgbClr val="C97C2B"/>
          </a:solidFill>
          <a:ln/>
        </p:spPr>
      </p:sp>
      <p:sp>
        <p:nvSpPr>
          <p:cNvPr id="9" name="Text 7"/>
          <p:cNvSpPr/>
          <p:nvPr/>
        </p:nvSpPr>
        <p:spPr>
          <a:xfrm>
            <a:off x="731520" y="1938528"/>
            <a:ext cx="5120640" cy="594360"/>
          </a:xfrm>
          <a:prstGeom prst="rect">
            <a:avLst/>
          </a:prstGeom>
          <a:noFill/>
          <a:ln/>
        </p:spPr>
        <p:txBody>
          <a:bodyPr wrap="square" rtlCol="0" anchor="ctr"/>
          <a:lstStyle/>
          <a:p>
            <a:pPr indent="0" marL="0">
              <a:lnSpc>
                <a:spcPct val="118000"/>
              </a:lnSpc>
              <a:buNone/>
            </a:pPr>
            <a:r>
              <a:rPr lang="en-US" sz="1250" dirty="0">
                <a:solidFill>
                  <a:srgbClr val="1D2E33"/>
                </a:solidFill>
                <a:latin typeface="Calibri" pitchFamily="34" charset="0"/>
                <a:ea typeface="Calibri" pitchFamily="34" charset="-122"/>
                <a:cs typeface="Calibri" pitchFamily="34" charset="-120"/>
              </a:rPr>
              <a:t>Introduce a scheduled data refresh so the dashboard stays current automatically, rather than relying on a static CSV snapshot.</a:t>
            </a:r>
            <a:endParaRPr lang="en-US" sz="1250" dirty="0"/>
          </a:p>
        </p:txBody>
      </p:sp>
      <p:sp>
        <p:nvSpPr>
          <p:cNvPr id="10" name="Shape 8"/>
          <p:cNvSpPr/>
          <p:nvPr/>
        </p:nvSpPr>
        <p:spPr>
          <a:xfrm>
            <a:off x="502920" y="2843784"/>
            <a:ext cx="91440" cy="91440"/>
          </a:xfrm>
          <a:prstGeom prst="ellipse">
            <a:avLst/>
          </a:prstGeom>
          <a:solidFill>
            <a:srgbClr val="C97C2B"/>
          </a:solidFill>
          <a:ln/>
        </p:spPr>
      </p:sp>
      <p:sp>
        <p:nvSpPr>
          <p:cNvPr id="11" name="Text 9"/>
          <p:cNvSpPr/>
          <p:nvPr/>
        </p:nvSpPr>
        <p:spPr>
          <a:xfrm>
            <a:off x="731520" y="2697480"/>
            <a:ext cx="5120640" cy="594360"/>
          </a:xfrm>
          <a:prstGeom prst="rect">
            <a:avLst/>
          </a:prstGeom>
          <a:noFill/>
          <a:ln/>
        </p:spPr>
        <p:txBody>
          <a:bodyPr wrap="square" rtlCol="0" anchor="ctr"/>
          <a:lstStyle/>
          <a:p>
            <a:pPr indent="0" marL="0">
              <a:lnSpc>
                <a:spcPct val="118000"/>
              </a:lnSpc>
              <a:buNone/>
            </a:pPr>
            <a:r>
              <a:rPr lang="en-US" sz="1250" dirty="0">
                <a:solidFill>
                  <a:srgbClr val="1D2E33"/>
                </a:solidFill>
                <a:latin typeface="Calibri" pitchFamily="34" charset="0"/>
                <a:ea typeface="Calibri" pitchFamily="34" charset="-122"/>
                <a:cs typeface="Calibri" pitchFamily="34" charset="-120"/>
              </a:rPr>
              <a:t>Explore row-level security so regional managers see a filtered view of the same report without needing separate files.</a:t>
            </a:r>
            <a:endParaRPr lang="en-US" sz="1250" dirty="0"/>
          </a:p>
        </p:txBody>
      </p:sp>
      <p:sp>
        <p:nvSpPr>
          <p:cNvPr id="12" name="Shape 10"/>
          <p:cNvSpPr/>
          <p:nvPr/>
        </p:nvSpPr>
        <p:spPr>
          <a:xfrm>
            <a:off x="502920" y="3602736"/>
            <a:ext cx="91440" cy="91440"/>
          </a:xfrm>
          <a:prstGeom prst="ellipse">
            <a:avLst/>
          </a:prstGeom>
          <a:solidFill>
            <a:srgbClr val="C97C2B"/>
          </a:solidFill>
          <a:ln/>
        </p:spPr>
      </p:sp>
      <p:sp>
        <p:nvSpPr>
          <p:cNvPr id="13" name="Text 11"/>
          <p:cNvSpPr/>
          <p:nvPr/>
        </p:nvSpPr>
        <p:spPr>
          <a:xfrm>
            <a:off x="731520" y="3456432"/>
            <a:ext cx="5120640" cy="594360"/>
          </a:xfrm>
          <a:prstGeom prst="rect">
            <a:avLst/>
          </a:prstGeom>
          <a:noFill/>
          <a:ln/>
        </p:spPr>
        <p:txBody>
          <a:bodyPr wrap="square" rtlCol="0" anchor="ctr"/>
          <a:lstStyle/>
          <a:p>
            <a:pPr indent="0" marL="0">
              <a:lnSpc>
                <a:spcPct val="118000"/>
              </a:lnSpc>
              <a:buNone/>
            </a:pPr>
            <a:r>
              <a:rPr lang="en-US" sz="1250" dirty="0">
                <a:solidFill>
                  <a:srgbClr val="1D2E33"/>
                </a:solidFill>
                <a:latin typeface="Calibri" pitchFamily="34" charset="0"/>
                <a:ea typeface="Calibri" pitchFamily="34" charset="-122"/>
                <a:cs typeface="Calibri" pitchFamily="34" charset="-120"/>
              </a:rPr>
              <a:t>Build a discount-depth what-if parameter to simulate the profit impact of a proposed policy change before applying it.</a:t>
            </a:r>
            <a:endParaRPr lang="en-US" sz="1250" dirty="0"/>
          </a:p>
        </p:txBody>
      </p:sp>
      <p:sp>
        <p:nvSpPr>
          <p:cNvPr id="14" name="Shape 12"/>
          <p:cNvSpPr/>
          <p:nvPr/>
        </p:nvSpPr>
        <p:spPr>
          <a:xfrm>
            <a:off x="502920" y="4361688"/>
            <a:ext cx="91440" cy="91440"/>
          </a:xfrm>
          <a:prstGeom prst="ellipse">
            <a:avLst/>
          </a:prstGeom>
          <a:solidFill>
            <a:srgbClr val="C97C2B"/>
          </a:solidFill>
          <a:ln/>
        </p:spPr>
      </p:sp>
      <p:sp>
        <p:nvSpPr>
          <p:cNvPr id="15" name="Text 13"/>
          <p:cNvSpPr/>
          <p:nvPr/>
        </p:nvSpPr>
        <p:spPr>
          <a:xfrm>
            <a:off x="731520" y="4215384"/>
            <a:ext cx="5120640" cy="594360"/>
          </a:xfrm>
          <a:prstGeom prst="rect">
            <a:avLst/>
          </a:prstGeom>
          <a:noFill/>
          <a:ln/>
        </p:spPr>
        <p:txBody>
          <a:bodyPr wrap="square" rtlCol="0" anchor="ctr"/>
          <a:lstStyle/>
          <a:p>
            <a:pPr indent="0" marL="0">
              <a:lnSpc>
                <a:spcPct val="118000"/>
              </a:lnSpc>
              <a:buNone/>
            </a:pPr>
            <a:r>
              <a:rPr lang="en-US" sz="1250" dirty="0">
                <a:solidFill>
                  <a:srgbClr val="1D2E33"/>
                </a:solidFill>
                <a:latin typeface="Calibri" pitchFamily="34" charset="0"/>
                <a:ea typeface="Calibri" pitchFamily="34" charset="-122"/>
                <a:cs typeface="Calibri" pitchFamily="34" charset="-120"/>
              </a:rPr>
              <a:t>Add drill-through paths from region to state and category to sub-category directly on the Executive Dashboard.</a:t>
            </a:r>
            <a:endParaRPr lang="en-US" sz="1250" dirty="0"/>
          </a:p>
        </p:txBody>
      </p:sp>
      <p:sp>
        <p:nvSpPr>
          <p:cNvPr id="16" name="Shape 14"/>
          <p:cNvSpPr/>
          <p:nvPr/>
        </p:nvSpPr>
        <p:spPr>
          <a:xfrm>
            <a:off x="502920" y="5120640"/>
            <a:ext cx="91440" cy="91440"/>
          </a:xfrm>
          <a:prstGeom prst="ellipse">
            <a:avLst/>
          </a:prstGeom>
          <a:solidFill>
            <a:srgbClr val="C97C2B"/>
          </a:solidFill>
          <a:ln/>
        </p:spPr>
      </p:sp>
      <p:sp>
        <p:nvSpPr>
          <p:cNvPr id="17" name="Text 15"/>
          <p:cNvSpPr/>
          <p:nvPr/>
        </p:nvSpPr>
        <p:spPr>
          <a:xfrm>
            <a:off x="731520" y="4974336"/>
            <a:ext cx="5120640" cy="594360"/>
          </a:xfrm>
          <a:prstGeom prst="rect">
            <a:avLst/>
          </a:prstGeom>
          <a:noFill/>
          <a:ln/>
        </p:spPr>
        <p:txBody>
          <a:bodyPr wrap="square" rtlCol="0" anchor="ctr"/>
          <a:lstStyle/>
          <a:p>
            <a:pPr indent="0" marL="0">
              <a:lnSpc>
                <a:spcPct val="118000"/>
              </a:lnSpc>
              <a:buNone/>
            </a:pPr>
            <a:r>
              <a:rPr lang="en-US" sz="1250" dirty="0">
                <a:solidFill>
                  <a:srgbClr val="1D2E33"/>
                </a:solidFill>
                <a:latin typeface="Calibri" pitchFamily="34" charset="0"/>
                <a:ea typeface="Calibri" pitchFamily="34" charset="-122"/>
                <a:cs typeface="Calibri" pitchFamily="34" charset="-120"/>
              </a:rPr>
              <a:t>Segment loss-making orders into discount-driven vs. structurally-thin-margin groups, since each needs a different fix.</a:t>
            </a:r>
            <a:endParaRPr lang="en-US" sz="1250" dirty="0"/>
          </a:p>
        </p:txBody>
      </p:sp>
      <p:sp>
        <p:nvSpPr>
          <p:cNvPr id="18" name="Shape 16"/>
          <p:cNvSpPr/>
          <p:nvPr/>
        </p:nvSpPr>
        <p:spPr>
          <a:xfrm>
            <a:off x="6263640" y="1965960"/>
            <a:ext cx="2788920" cy="987552"/>
          </a:xfrm>
          <a:prstGeom prst="rect">
            <a:avLst/>
          </a:prstGeom>
          <a:solidFill>
            <a:srgbClr val="EEF3F3"/>
          </a:solidFill>
          <a:ln/>
        </p:spPr>
      </p:sp>
      <p:sp>
        <p:nvSpPr>
          <p:cNvPr id="19" name="Text 17"/>
          <p:cNvSpPr/>
          <p:nvPr/>
        </p:nvSpPr>
        <p:spPr>
          <a:xfrm>
            <a:off x="6428232" y="2039112"/>
            <a:ext cx="2468880" cy="384048"/>
          </a:xfrm>
          <a:prstGeom prst="rect">
            <a:avLst/>
          </a:prstGeom>
          <a:noFill/>
          <a:ln/>
        </p:spPr>
        <p:txBody>
          <a:bodyPr wrap="square" rtlCol="0" anchor="ctr"/>
          <a:lstStyle/>
          <a:p>
            <a:pPr indent="0" marL="0">
              <a:buNone/>
            </a:pPr>
            <a:r>
              <a:rPr lang="en-US" sz="1900" b="1" dirty="0">
                <a:solidFill>
                  <a:srgbClr val="0F3B4C"/>
                </a:solidFill>
                <a:latin typeface="Georgia" pitchFamily="34" charset="0"/>
                <a:ea typeface="Georgia" pitchFamily="34" charset="-122"/>
                <a:cs typeface="Georgia" pitchFamily="34" charset="-120"/>
              </a:rPr>
              <a:t>2.30M</a:t>
            </a:r>
            <a:endParaRPr lang="en-US" sz="1900" dirty="0"/>
          </a:p>
        </p:txBody>
      </p:sp>
      <p:sp>
        <p:nvSpPr>
          <p:cNvPr id="20" name="Text 18"/>
          <p:cNvSpPr/>
          <p:nvPr/>
        </p:nvSpPr>
        <p:spPr>
          <a:xfrm>
            <a:off x="6428232" y="2423160"/>
            <a:ext cx="2514600" cy="502920"/>
          </a:xfrm>
          <a:prstGeom prst="rect">
            <a:avLst/>
          </a:prstGeom>
          <a:noFill/>
          <a:ln/>
        </p:spPr>
        <p:txBody>
          <a:bodyPr wrap="square" rtlCol="0" anchor="ctr"/>
          <a:lstStyle/>
          <a:p>
            <a:pPr indent="0" marL="0">
              <a:lnSpc>
                <a:spcPct val="108000"/>
              </a:lnSpc>
              <a:buNone/>
            </a:pPr>
            <a:r>
              <a:rPr lang="en-US" sz="830" dirty="0">
                <a:solidFill>
                  <a:srgbClr val="5B6B70"/>
                </a:solidFill>
                <a:latin typeface="Calibri" pitchFamily="34" charset="0"/>
                <a:ea typeface="Calibri" pitchFamily="34" charset="-122"/>
                <a:cs typeface="Calibri" pitchFamily="34" charset="-120"/>
              </a:rPr>
              <a:t>Total Sales across 5,009 orders (12.47% margin) — the baseline every efficiency ratio is judged against.</a:t>
            </a:r>
            <a:endParaRPr lang="en-US" sz="830" dirty="0"/>
          </a:p>
        </p:txBody>
      </p:sp>
      <p:sp>
        <p:nvSpPr>
          <p:cNvPr id="21" name="Shape 19"/>
          <p:cNvSpPr/>
          <p:nvPr/>
        </p:nvSpPr>
        <p:spPr>
          <a:xfrm>
            <a:off x="9281160" y="1965960"/>
            <a:ext cx="2788920" cy="987552"/>
          </a:xfrm>
          <a:prstGeom prst="rect">
            <a:avLst/>
          </a:prstGeom>
          <a:solidFill>
            <a:srgbClr val="EEF3F3"/>
          </a:solidFill>
          <a:ln/>
        </p:spPr>
      </p:sp>
      <p:sp>
        <p:nvSpPr>
          <p:cNvPr id="22" name="Text 20"/>
          <p:cNvSpPr/>
          <p:nvPr/>
        </p:nvSpPr>
        <p:spPr>
          <a:xfrm>
            <a:off x="9445752" y="2039112"/>
            <a:ext cx="2468880" cy="384048"/>
          </a:xfrm>
          <a:prstGeom prst="rect">
            <a:avLst/>
          </a:prstGeom>
          <a:noFill/>
          <a:ln/>
        </p:spPr>
        <p:txBody>
          <a:bodyPr wrap="square" rtlCol="0" anchor="ctr"/>
          <a:lstStyle/>
          <a:p>
            <a:pPr indent="0" marL="0">
              <a:buNone/>
            </a:pPr>
            <a:r>
              <a:rPr lang="en-US" sz="1900" b="1" dirty="0">
                <a:solidFill>
                  <a:srgbClr val="0F3B4C"/>
                </a:solidFill>
                <a:latin typeface="Georgia" pitchFamily="34" charset="0"/>
                <a:ea typeface="Georgia" pitchFamily="34" charset="-122"/>
                <a:cs typeface="Georgia" pitchFamily="34" charset="-120"/>
              </a:rPr>
              <a:t>108K</a:t>
            </a:r>
            <a:endParaRPr lang="en-US" sz="1900" dirty="0"/>
          </a:p>
        </p:txBody>
      </p:sp>
      <p:sp>
        <p:nvSpPr>
          <p:cNvPr id="23" name="Text 21"/>
          <p:cNvSpPr/>
          <p:nvPr/>
        </p:nvSpPr>
        <p:spPr>
          <a:xfrm>
            <a:off x="9445752" y="2423160"/>
            <a:ext cx="2514600" cy="502920"/>
          </a:xfrm>
          <a:prstGeom prst="rect">
            <a:avLst/>
          </a:prstGeom>
          <a:noFill/>
          <a:ln/>
        </p:spPr>
        <p:txBody>
          <a:bodyPr wrap="square" rtlCol="0" anchor="ctr"/>
          <a:lstStyle/>
          <a:p>
            <a:pPr indent="0" marL="0">
              <a:lnSpc>
                <a:spcPct val="108000"/>
              </a:lnSpc>
              <a:buNone/>
            </a:pPr>
            <a:r>
              <a:rPr lang="en-US" sz="830" dirty="0">
                <a:solidFill>
                  <a:srgbClr val="5B6B70"/>
                </a:solidFill>
                <a:latin typeface="Calibri" pitchFamily="34" charset="0"/>
                <a:ea typeface="Calibri" pitchFamily="34" charset="-122"/>
                <a:cs typeface="Calibri" pitchFamily="34" charset="-120"/>
              </a:rPr>
              <a:t>West-region profit leads East (92K), South (47K), Central (40K) — a benchmark for replicating practices.</a:t>
            </a:r>
            <a:endParaRPr lang="en-US" sz="830" dirty="0"/>
          </a:p>
        </p:txBody>
      </p:sp>
      <p:sp>
        <p:nvSpPr>
          <p:cNvPr id="24" name="Shape 22"/>
          <p:cNvSpPr/>
          <p:nvPr/>
        </p:nvSpPr>
        <p:spPr>
          <a:xfrm>
            <a:off x="6263640" y="3049524"/>
            <a:ext cx="2788920" cy="987552"/>
          </a:xfrm>
          <a:prstGeom prst="rect">
            <a:avLst/>
          </a:prstGeom>
          <a:solidFill>
            <a:srgbClr val="EEF3F3"/>
          </a:solidFill>
          <a:ln/>
        </p:spPr>
      </p:sp>
      <p:sp>
        <p:nvSpPr>
          <p:cNvPr id="25" name="Text 23"/>
          <p:cNvSpPr/>
          <p:nvPr/>
        </p:nvSpPr>
        <p:spPr>
          <a:xfrm>
            <a:off x="6428232" y="3122676"/>
            <a:ext cx="2468880" cy="384048"/>
          </a:xfrm>
          <a:prstGeom prst="rect">
            <a:avLst/>
          </a:prstGeom>
          <a:noFill/>
          <a:ln/>
        </p:spPr>
        <p:txBody>
          <a:bodyPr wrap="square" rtlCol="0" anchor="ctr"/>
          <a:lstStyle/>
          <a:p>
            <a:pPr indent="0" marL="0">
              <a:buNone/>
            </a:pPr>
            <a:r>
              <a:rPr lang="en-US" sz="1900" b="1" dirty="0">
                <a:solidFill>
                  <a:srgbClr val="0F3B4C"/>
                </a:solidFill>
                <a:latin typeface="Georgia" pitchFamily="34" charset="0"/>
                <a:ea typeface="Georgia" pitchFamily="34" charset="-122"/>
                <a:cs typeface="Georgia" pitchFamily="34" charset="-120"/>
              </a:rPr>
              <a:t>79.26%</a:t>
            </a:r>
            <a:endParaRPr lang="en-US" sz="1900" dirty="0"/>
          </a:p>
        </p:txBody>
      </p:sp>
      <p:sp>
        <p:nvSpPr>
          <p:cNvPr id="26" name="Text 24"/>
          <p:cNvSpPr/>
          <p:nvPr/>
        </p:nvSpPr>
        <p:spPr>
          <a:xfrm>
            <a:off x="6428232" y="3506724"/>
            <a:ext cx="2514600" cy="502920"/>
          </a:xfrm>
          <a:prstGeom prst="rect">
            <a:avLst/>
          </a:prstGeom>
          <a:noFill/>
          <a:ln/>
        </p:spPr>
        <p:txBody>
          <a:bodyPr wrap="square" rtlCol="0" anchor="ctr"/>
          <a:lstStyle/>
          <a:p>
            <a:pPr indent="0" marL="0">
              <a:lnSpc>
                <a:spcPct val="108000"/>
              </a:lnSpc>
              <a:buNone/>
            </a:pPr>
            <a:r>
              <a:rPr lang="en-US" sz="830" dirty="0">
                <a:solidFill>
                  <a:srgbClr val="5B6B70"/>
                </a:solidFill>
                <a:latin typeface="Calibri" pitchFamily="34" charset="0"/>
                <a:ea typeface="Calibri" pitchFamily="34" charset="-122"/>
                <a:cs typeface="Calibri" pitchFamily="34" charset="-120"/>
              </a:rPr>
              <a:t>Profitable Order Rate — but 20.40% of orders currently lose money, a concrete margin-recovery target.</a:t>
            </a:r>
            <a:endParaRPr lang="en-US" sz="830" dirty="0"/>
          </a:p>
        </p:txBody>
      </p:sp>
      <p:sp>
        <p:nvSpPr>
          <p:cNvPr id="27" name="Shape 25"/>
          <p:cNvSpPr/>
          <p:nvPr/>
        </p:nvSpPr>
        <p:spPr>
          <a:xfrm>
            <a:off x="9281160" y="3049524"/>
            <a:ext cx="2788920" cy="987552"/>
          </a:xfrm>
          <a:prstGeom prst="rect">
            <a:avLst/>
          </a:prstGeom>
          <a:solidFill>
            <a:srgbClr val="EEF3F3"/>
          </a:solidFill>
          <a:ln/>
        </p:spPr>
      </p:sp>
      <p:sp>
        <p:nvSpPr>
          <p:cNvPr id="28" name="Text 26"/>
          <p:cNvSpPr/>
          <p:nvPr/>
        </p:nvSpPr>
        <p:spPr>
          <a:xfrm>
            <a:off x="9445752" y="3122676"/>
            <a:ext cx="2468880" cy="384048"/>
          </a:xfrm>
          <a:prstGeom prst="rect">
            <a:avLst/>
          </a:prstGeom>
          <a:noFill/>
          <a:ln/>
        </p:spPr>
        <p:txBody>
          <a:bodyPr wrap="square" rtlCol="0" anchor="ctr"/>
          <a:lstStyle/>
          <a:p>
            <a:pPr indent="0" marL="0">
              <a:buNone/>
            </a:pPr>
            <a:r>
              <a:rPr lang="en-US" sz="1900" b="1" dirty="0">
                <a:solidFill>
                  <a:srgbClr val="0F3B4C"/>
                </a:solidFill>
                <a:latin typeface="Georgia" pitchFamily="34" charset="0"/>
                <a:ea typeface="Georgia" pitchFamily="34" charset="-122"/>
                <a:cs typeface="Georgia" pitchFamily="34" charset="-120"/>
              </a:rPr>
              <a:t>21</a:t>
            </a:r>
            <a:endParaRPr lang="en-US" sz="1900" dirty="0"/>
          </a:p>
        </p:txBody>
      </p:sp>
      <p:sp>
        <p:nvSpPr>
          <p:cNvPr id="29" name="Text 27"/>
          <p:cNvSpPr/>
          <p:nvPr/>
        </p:nvSpPr>
        <p:spPr>
          <a:xfrm>
            <a:off x="9445752" y="3506724"/>
            <a:ext cx="2514600" cy="502920"/>
          </a:xfrm>
          <a:prstGeom prst="rect">
            <a:avLst/>
          </a:prstGeom>
          <a:noFill/>
          <a:ln/>
        </p:spPr>
        <p:txBody>
          <a:bodyPr wrap="square" rtlCol="0" anchor="ctr"/>
          <a:lstStyle/>
          <a:p>
            <a:pPr indent="0" marL="0">
              <a:lnSpc>
                <a:spcPct val="108000"/>
              </a:lnSpc>
              <a:buNone/>
            </a:pPr>
            <a:r>
              <a:rPr lang="en-US" sz="830" dirty="0">
                <a:solidFill>
                  <a:srgbClr val="5B6B70"/>
                </a:solidFill>
                <a:latin typeface="Calibri" pitchFamily="34" charset="0"/>
                <a:ea typeface="Calibri" pitchFamily="34" charset="-122"/>
                <a:cs typeface="Calibri" pitchFamily="34" charset="-120"/>
              </a:rPr>
              <a:t>Profit per unit for Technology — ~4x Office Supplies, ~10x Furniture, confirming strength beyond volume.</a:t>
            </a:r>
            <a:endParaRPr lang="en-US" sz="830" dirty="0"/>
          </a:p>
        </p:txBody>
      </p:sp>
      <p:sp>
        <p:nvSpPr>
          <p:cNvPr id="30" name="Shape 28"/>
          <p:cNvSpPr/>
          <p:nvPr/>
        </p:nvSpPr>
        <p:spPr>
          <a:xfrm>
            <a:off x="6263640" y="4133088"/>
            <a:ext cx="2788920" cy="987552"/>
          </a:xfrm>
          <a:prstGeom prst="rect">
            <a:avLst/>
          </a:prstGeom>
          <a:solidFill>
            <a:srgbClr val="EEF3F3"/>
          </a:solidFill>
          <a:ln/>
        </p:spPr>
      </p:sp>
      <p:sp>
        <p:nvSpPr>
          <p:cNvPr id="31" name="Text 29"/>
          <p:cNvSpPr/>
          <p:nvPr/>
        </p:nvSpPr>
        <p:spPr>
          <a:xfrm>
            <a:off x="6428232" y="4206240"/>
            <a:ext cx="2468880" cy="384048"/>
          </a:xfrm>
          <a:prstGeom prst="rect">
            <a:avLst/>
          </a:prstGeom>
          <a:noFill/>
          <a:ln/>
        </p:spPr>
        <p:txBody>
          <a:bodyPr wrap="square" rtlCol="0" anchor="ctr"/>
          <a:lstStyle/>
          <a:p>
            <a:pPr indent="0" marL="0">
              <a:buNone/>
            </a:pPr>
            <a:r>
              <a:rPr lang="en-US" sz="1900" b="1" dirty="0">
                <a:solidFill>
                  <a:srgbClr val="0F3B4C"/>
                </a:solidFill>
                <a:latin typeface="Georgia" pitchFamily="34" charset="0"/>
                <a:ea typeface="Georgia" pitchFamily="34" charset="-122"/>
                <a:cs typeface="Georgia" pitchFamily="34" charset="-120"/>
              </a:rPr>
              <a:t>237.68</a:t>
            </a:r>
            <a:endParaRPr lang="en-US" sz="1900" dirty="0"/>
          </a:p>
        </p:txBody>
      </p:sp>
      <p:sp>
        <p:nvSpPr>
          <p:cNvPr id="32" name="Text 30"/>
          <p:cNvSpPr/>
          <p:nvPr/>
        </p:nvSpPr>
        <p:spPr>
          <a:xfrm>
            <a:off x="6428232" y="4590288"/>
            <a:ext cx="2514600" cy="502920"/>
          </a:xfrm>
          <a:prstGeom prst="rect">
            <a:avLst/>
          </a:prstGeom>
          <a:noFill/>
          <a:ln/>
        </p:spPr>
        <p:txBody>
          <a:bodyPr wrap="square" rtlCol="0" anchor="ctr"/>
          <a:lstStyle/>
          <a:p>
            <a:pPr indent="0" marL="0">
              <a:lnSpc>
                <a:spcPct val="108000"/>
              </a:lnSpc>
              <a:buNone/>
            </a:pPr>
            <a:r>
              <a:rPr lang="en-US" sz="830" dirty="0">
                <a:solidFill>
                  <a:srgbClr val="5B6B70"/>
                </a:solidFill>
                <a:latin typeface="Calibri" pitchFamily="34" charset="0"/>
                <a:ea typeface="Calibri" pitchFamily="34" charset="-122"/>
                <a:cs typeface="Calibri" pitchFamily="34" charset="-120"/>
              </a:rPr>
              <a:t>Profit per unit from Copiers, an order of magnitude above every other sub-category on the dashboard.</a:t>
            </a:r>
            <a:endParaRPr lang="en-US" sz="830" dirty="0"/>
          </a:p>
        </p:txBody>
      </p:sp>
      <p:sp>
        <p:nvSpPr>
          <p:cNvPr id="33" name="Shape 31"/>
          <p:cNvSpPr/>
          <p:nvPr/>
        </p:nvSpPr>
        <p:spPr>
          <a:xfrm>
            <a:off x="9281160" y="4133088"/>
            <a:ext cx="2788920" cy="987552"/>
          </a:xfrm>
          <a:prstGeom prst="rect">
            <a:avLst/>
          </a:prstGeom>
          <a:solidFill>
            <a:srgbClr val="EEF3F3"/>
          </a:solidFill>
          <a:ln/>
        </p:spPr>
      </p:sp>
      <p:sp>
        <p:nvSpPr>
          <p:cNvPr id="34" name="Text 32"/>
          <p:cNvSpPr/>
          <p:nvPr/>
        </p:nvSpPr>
        <p:spPr>
          <a:xfrm>
            <a:off x="9445752" y="4206240"/>
            <a:ext cx="2468880" cy="384048"/>
          </a:xfrm>
          <a:prstGeom prst="rect">
            <a:avLst/>
          </a:prstGeom>
          <a:noFill/>
          <a:ln/>
        </p:spPr>
        <p:txBody>
          <a:bodyPr wrap="square" rtlCol="0" anchor="ctr"/>
          <a:lstStyle/>
          <a:p>
            <a:pPr indent="0" marL="0">
              <a:buNone/>
            </a:pPr>
            <a:r>
              <a:rPr lang="en-US" sz="1900" b="1" dirty="0">
                <a:solidFill>
                  <a:srgbClr val="0F3B4C"/>
                </a:solidFill>
                <a:latin typeface="Georgia" pitchFamily="34" charset="0"/>
                <a:ea typeface="Georgia" pitchFamily="34" charset="-122"/>
                <a:cs typeface="Georgia" pitchFamily="34" charset="-120"/>
              </a:rPr>
              <a:t>59.77%</a:t>
            </a:r>
            <a:endParaRPr lang="en-US" sz="1900" dirty="0"/>
          </a:p>
        </p:txBody>
      </p:sp>
      <p:sp>
        <p:nvSpPr>
          <p:cNvPr id="35" name="Text 33"/>
          <p:cNvSpPr/>
          <p:nvPr/>
        </p:nvSpPr>
        <p:spPr>
          <a:xfrm>
            <a:off x="9445752" y="4590288"/>
            <a:ext cx="2514600" cy="502920"/>
          </a:xfrm>
          <a:prstGeom prst="rect">
            <a:avLst/>
          </a:prstGeom>
          <a:noFill/>
          <a:ln/>
        </p:spPr>
        <p:txBody>
          <a:bodyPr wrap="square" rtlCol="0" anchor="ctr"/>
          <a:lstStyle/>
          <a:p>
            <a:pPr indent="0" marL="0">
              <a:lnSpc>
                <a:spcPct val="108000"/>
              </a:lnSpc>
              <a:buNone/>
            </a:pPr>
            <a:r>
              <a:rPr lang="en-US" sz="830" dirty="0">
                <a:solidFill>
                  <a:srgbClr val="5B6B70"/>
                </a:solidFill>
                <a:latin typeface="Calibri" pitchFamily="34" charset="0"/>
                <a:ea typeface="Calibri" pitchFamily="34" charset="-122"/>
                <a:cs typeface="Calibri" pitchFamily="34" charset="-120"/>
              </a:rPr>
              <a:t>Of orders ship via Standard Class at 42 days average — the single biggest lever on delivery speed.</a:t>
            </a:r>
            <a:endParaRPr lang="en-US" sz="830" dirty="0"/>
          </a:p>
        </p:txBody>
      </p:sp>
      <p:sp>
        <p:nvSpPr>
          <p:cNvPr id="36" name="Shape 34"/>
          <p:cNvSpPr/>
          <p:nvPr/>
        </p:nvSpPr>
        <p:spPr>
          <a:xfrm>
            <a:off x="6263640" y="5216652"/>
            <a:ext cx="2788920" cy="987552"/>
          </a:xfrm>
          <a:prstGeom prst="rect">
            <a:avLst/>
          </a:prstGeom>
          <a:solidFill>
            <a:srgbClr val="EEF3F3"/>
          </a:solidFill>
          <a:ln/>
        </p:spPr>
      </p:sp>
      <p:sp>
        <p:nvSpPr>
          <p:cNvPr id="37" name="Text 35"/>
          <p:cNvSpPr/>
          <p:nvPr/>
        </p:nvSpPr>
        <p:spPr>
          <a:xfrm>
            <a:off x="6428232" y="5289804"/>
            <a:ext cx="2468880" cy="384048"/>
          </a:xfrm>
          <a:prstGeom prst="rect">
            <a:avLst/>
          </a:prstGeom>
          <a:noFill/>
          <a:ln/>
        </p:spPr>
        <p:txBody>
          <a:bodyPr wrap="square" rtlCol="0" anchor="ctr"/>
          <a:lstStyle/>
          <a:p>
            <a:pPr indent="0" marL="0">
              <a:buNone/>
            </a:pPr>
            <a:r>
              <a:rPr lang="en-US" sz="1900" b="1" dirty="0">
                <a:solidFill>
                  <a:srgbClr val="0F3B4C"/>
                </a:solidFill>
                <a:latin typeface="Georgia" pitchFamily="34" charset="0"/>
                <a:ea typeface="Georgia" pitchFamily="34" charset="-122"/>
                <a:cs typeface="Georgia" pitchFamily="34" charset="-120"/>
              </a:rPr>
              <a:t>5.91%</a:t>
            </a:r>
            <a:endParaRPr lang="en-US" sz="1900" dirty="0"/>
          </a:p>
        </p:txBody>
      </p:sp>
      <p:sp>
        <p:nvSpPr>
          <p:cNvPr id="38" name="Text 36"/>
          <p:cNvSpPr/>
          <p:nvPr/>
        </p:nvSpPr>
        <p:spPr>
          <a:xfrm>
            <a:off x="6428232" y="5673852"/>
            <a:ext cx="2514600" cy="502920"/>
          </a:xfrm>
          <a:prstGeom prst="rect">
            <a:avLst/>
          </a:prstGeom>
          <a:noFill/>
          <a:ln/>
        </p:spPr>
        <p:txBody>
          <a:bodyPr wrap="square" rtlCol="0" anchor="ctr"/>
          <a:lstStyle/>
          <a:p>
            <a:pPr indent="0" marL="0">
              <a:lnSpc>
                <a:spcPct val="108000"/>
              </a:lnSpc>
              <a:buNone/>
            </a:pPr>
            <a:r>
              <a:rPr lang="en-US" sz="830" dirty="0">
                <a:solidFill>
                  <a:srgbClr val="5B6B70"/>
                </a:solidFill>
                <a:latin typeface="Calibri" pitchFamily="34" charset="0"/>
                <a:ea typeface="Calibri" pitchFamily="34" charset="-122"/>
                <a:cs typeface="Calibri" pitchFamily="34" charset="-120"/>
              </a:rPr>
              <a:t>Return Rate; returned orders carry just 0.02M profit vs. 0.26M for kept orders.</a:t>
            </a:r>
            <a:endParaRPr lang="en-US" sz="830" dirty="0"/>
          </a:p>
        </p:txBody>
      </p:sp>
      <p:sp>
        <p:nvSpPr>
          <p:cNvPr id="39" name="Shape 37"/>
          <p:cNvSpPr/>
          <p:nvPr/>
        </p:nvSpPr>
        <p:spPr>
          <a:xfrm>
            <a:off x="9281160" y="5216652"/>
            <a:ext cx="2788920" cy="987552"/>
          </a:xfrm>
          <a:prstGeom prst="rect">
            <a:avLst/>
          </a:prstGeom>
          <a:solidFill>
            <a:srgbClr val="EEF3F3"/>
          </a:solidFill>
          <a:ln/>
        </p:spPr>
      </p:sp>
      <p:sp>
        <p:nvSpPr>
          <p:cNvPr id="40" name="Text 38"/>
          <p:cNvSpPr/>
          <p:nvPr/>
        </p:nvSpPr>
        <p:spPr>
          <a:xfrm>
            <a:off x="9445752" y="5289804"/>
            <a:ext cx="2468880" cy="384048"/>
          </a:xfrm>
          <a:prstGeom prst="rect">
            <a:avLst/>
          </a:prstGeom>
          <a:noFill/>
          <a:ln/>
        </p:spPr>
        <p:txBody>
          <a:bodyPr wrap="square" rtlCol="0" anchor="ctr"/>
          <a:lstStyle/>
          <a:p>
            <a:pPr indent="0" marL="0">
              <a:buNone/>
            </a:pPr>
            <a:r>
              <a:rPr lang="en-US" sz="1900" b="1" dirty="0">
                <a:solidFill>
                  <a:srgbClr val="0F3B4C"/>
                </a:solidFill>
                <a:latin typeface="Georgia" pitchFamily="34" charset="0"/>
                <a:ea typeface="Georgia" pitchFamily="34" charset="-122"/>
                <a:cs typeface="Georgia" pitchFamily="34" charset="-120"/>
              </a:rPr>
              <a:t>Furniture</a:t>
            </a:r>
            <a:endParaRPr lang="en-US" sz="1900" dirty="0"/>
          </a:p>
        </p:txBody>
      </p:sp>
      <p:sp>
        <p:nvSpPr>
          <p:cNvPr id="41" name="Text 39"/>
          <p:cNvSpPr/>
          <p:nvPr/>
        </p:nvSpPr>
        <p:spPr>
          <a:xfrm>
            <a:off x="9445752" y="5673852"/>
            <a:ext cx="2514600" cy="502920"/>
          </a:xfrm>
          <a:prstGeom prst="rect">
            <a:avLst/>
          </a:prstGeom>
          <a:noFill/>
          <a:ln/>
        </p:spPr>
        <p:txBody>
          <a:bodyPr wrap="square" rtlCol="0" anchor="ctr"/>
          <a:lstStyle/>
          <a:p>
            <a:pPr indent="0" marL="0">
              <a:lnSpc>
                <a:spcPct val="108000"/>
              </a:lnSpc>
              <a:buNone/>
            </a:pPr>
            <a:r>
              <a:rPr lang="en-US" sz="830" dirty="0">
                <a:solidFill>
                  <a:srgbClr val="5B6B70"/>
                </a:solidFill>
                <a:latin typeface="Calibri" pitchFamily="34" charset="0"/>
                <a:ea typeface="Calibri" pitchFamily="34" charset="-122"/>
                <a:cs typeface="Calibri" pitchFamily="34" charset="-120"/>
              </a:rPr>
              <a:t>Combines the deepest average discount with the weakest category profit — the clearest policy target.</a:t>
            </a:r>
            <a:endParaRPr lang="en-US" sz="830" dirty="0"/>
          </a:p>
        </p:txBody>
      </p:sp>
      <p:sp>
        <p:nvSpPr>
          <p:cNvPr id="42" name="Text 40"/>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43" name="Text 41"/>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164592"/>
            <a:ext cx="8229600" cy="274320"/>
          </a:xfrm>
          <a:prstGeom prst="rect">
            <a:avLst/>
          </a:prstGeom>
          <a:noFill/>
          <a:ln/>
        </p:spPr>
        <p:txBody>
          <a:bodyPr wrap="square" rtlCol="0" anchor="ctr"/>
          <a:lstStyle/>
          <a:p>
            <a:pPr indent="0" marL="0">
              <a:buNone/>
            </a:pPr>
            <a:r>
              <a:rPr lang="en-US" sz="1100" b="1" spc="200" kern="0" dirty="0">
                <a:solidFill>
                  <a:srgbClr val="9FD1C4"/>
                </a:solidFill>
                <a:latin typeface="Calibri" pitchFamily="34" charset="0"/>
                <a:ea typeface="Calibri" pitchFamily="34" charset="-122"/>
                <a:cs typeface="Calibri" pitchFamily="34" charset="-120"/>
              </a:rPr>
              <a:t>MILESTONE-2  ·  HEADLINE KPIS</a:t>
            </a:r>
            <a:endParaRPr lang="en-US" sz="1100" dirty="0"/>
          </a:p>
        </p:txBody>
      </p:sp>
      <p:sp>
        <p:nvSpPr>
          <p:cNvPr id="6" name="Text 4"/>
          <p:cNvSpPr/>
          <p:nvPr/>
        </p:nvSpPr>
        <p:spPr>
          <a:xfrm>
            <a:off x="457200" y="41148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Dashboard Page 1 — Executive Dashboard</a:t>
            </a:r>
            <a:endParaRPr lang="en-US" sz="3400" dirty="0"/>
          </a:p>
        </p:txBody>
      </p:sp>
      <p:sp>
        <p:nvSpPr>
          <p:cNvPr id="7" name="Shape 5"/>
          <p:cNvSpPr/>
          <p:nvPr/>
        </p:nvSpPr>
        <p:spPr>
          <a:xfrm>
            <a:off x="384048" y="1618488"/>
            <a:ext cx="7050024" cy="4010716"/>
          </a:xfrm>
          <a:prstGeom prst="rect">
            <a:avLst/>
          </a:prstGeom>
          <a:solidFill>
            <a:srgbClr val="F5F8F7"/>
          </a:solidFill>
          <a:ln w="12700">
            <a:solidFill>
              <a:srgbClr val="D8E2E1"/>
            </a:solidFill>
            <a:prstDash val="solid"/>
          </a:ln>
        </p:spPr>
      </p:sp>
      <p:pic>
        <p:nvPicPr>
          <p:cNvPr id="8" name="Image 0" descr="/home/claude/work/dash_imgs/dash1_executive.png">    </p:cNvPr>
          <p:cNvPicPr>
            <a:picLocks noChangeAspect="1"/>
          </p:cNvPicPr>
          <p:nvPr/>
        </p:nvPicPr>
        <p:blipFill>
          <a:blip r:embed="rId1"/>
          <a:stretch>
            <a:fillRect/>
          </a:stretch>
        </p:blipFill>
        <p:spPr>
          <a:xfrm>
            <a:off x="457200" y="1691640"/>
            <a:ext cx="6903720" cy="3864412"/>
          </a:xfrm>
          <a:prstGeom prst="rect">
            <a:avLst/>
          </a:prstGeom>
        </p:spPr>
      </p:pic>
      <p:sp>
        <p:nvSpPr>
          <p:cNvPr id="9" name="Text 6"/>
          <p:cNvSpPr/>
          <p:nvPr/>
        </p:nvSpPr>
        <p:spPr>
          <a:xfrm>
            <a:off x="457200" y="5684068"/>
            <a:ext cx="6903720" cy="274320"/>
          </a:xfrm>
          <a:prstGeom prst="rect">
            <a:avLst/>
          </a:prstGeom>
          <a:noFill/>
          <a:ln/>
        </p:spPr>
        <p:txBody>
          <a:bodyPr wrap="square" rtlCol="0" anchor="ctr"/>
          <a:lstStyle/>
          <a:p>
            <a:pPr indent="0" marL="0">
              <a:buNone/>
            </a:pPr>
            <a:r>
              <a:rPr lang="en-US" sz="900" i="1" dirty="0">
                <a:solidFill>
                  <a:srgbClr val="5B6B70"/>
                </a:solidFill>
                <a:latin typeface="Calibri" pitchFamily="34" charset="0"/>
                <a:ea typeface="Calibri" pitchFamily="34" charset="-122"/>
                <a:cs typeface="Calibri" pitchFamily="34" charset="-120"/>
              </a:rPr>
              <a:t>Figure 3  ·  Power BI Desktop screenshot, exported from the working report file</a:t>
            </a:r>
            <a:endParaRPr lang="en-US" sz="900" dirty="0"/>
          </a:p>
        </p:txBody>
      </p:sp>
      <p:sp>
        <p:nvSpPr>
          <p:cNvPr id="10" name="Shape 7"/>
          <p:cNvSpPr/>
          <p:nvPr/>
        </p:nvSpPr>
        <p:spPr>
          <a:xfrm>
            <a:off x="7635240" y="1691640"/>
            <a:ext cx="4114800" cy="4572000"/>
          </a:xfrm>
          <a:prstGeom prst="rect">
            <a:avLst/>
          </a:prstGeom>
          <a:solidFill>
            <a:srgbClr val="EEF3F3"/>
          </a:solidFill>
          <a:ln/>
        </p:spPr>
      </p:sp>
      <p:sp>
        <p:nvSpPr>
          <p:cNvPr id="11" name="Text 8"/>
          <p:cNvSpPr/>
          <p:nvPr/>
        </p:nvSpPr>
        <p:spPr>
          <a:xfrm>
            <a:off x="7909560" y="1874520"/>
            <a:ext cx="356616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KEY INSIGHTS</a:t>
            </a:r>
            <a:endParaRPr lang="en-US" sz="1200" dirty="0"/>
          </a:p>
        </p:txBody>
      </p:sp>
      <p:sp>
        <p:nvSpPr>
          <p:cNvPr id="12" name="Shape 9"/>
          <p:cNvSpPr/>
          <p:nvPr/>
        </p:nvSpPr>
        <p:spPr>
          <a:xfrm>
            <a:off x="7909560" y="2267712"/>
            <a:ext cx="82296" cy="82296"/>
          </a:xfrm>
          <a:prstGeom prst="ellipse">
            <a:avLst/>
          </a:prstGeom>
          <a:solidFill>
            <a:srgbClr val="C97C2B"/>
          </a:solidFill>
          <a:ln/>
        </p:spPr>
      </p:sp>
      <p:sp>
        <p:nvSpPr>
          <p:cNvPr id="13" name="Text 10"/>
          <p:cNvSpPr/>
          <p:nvPr/>
        </p:nvSpPr>
        <p:spPr>
          <a:xfrm>
            <a:off x="8110728" y="2139696"/>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Total Sales reach 2.30M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across 5,009 orders, with Total Profit of 286.41K and a blended Profit Margin of 12.47% — the baseline every other ratio on the suite is judged against.</a:t>
            </a:r>
            <a:endParaRPr lang="en-US" sz="1130" dirty="0"/>
          </a:p>
        </p:txBody>
      </p:sp>
      <p:sp>
        <p:nvSpPr>
          <p:cNvPr id="14" name="Shape 11"/>
          <p:cNvSpPr/>
          <p:nvPr/>
        </p:nvSpPr>
        <p:spPr>
          <a:xfrm>
            <a:off x="7909560" y="3300984"/>
            <a:ext cx="82296" cy="82296"/>
          </a:xfrm>
          <a:prstGeom prst="ellipse">
            <a:avLst/>
          </a:prstGeom>
          <a:solidFill>
            <a:srgbClr val="C97C2B"/>
          </a:solidFill>
          <a:ln/>
        </p:spPr>
      </p:sp>
      <p:sp>
        <p:nvSpPr>
          <p:cNvPr id="15" name="Text 12"/>
          <p:cNvSpPr/>
          <p:nvPr/>
        </p:nvSpPr>
        <p:spPr>
          <a:xfrm>
            <a:off x="8110728" y="3172968"/>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Technology leads Sales by Category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at 0.84M, ahead of Furniture (0.74M) and Office Supplies (0.72M) — a Pareto-style view that informs inventory prioritization.</a:t>
            </a:r>
            <a:endParaRPr lang="en-US" sz="1130" dirty="0"/>
          </a:p>
        </p:txBody>
      </p:sp>
      <p:sp>
        <p:nvSpPr>
          <p:cNvPr id="16" name="Shape 13"/>
          <p:cNvSpPr/>
          <p:nvPr/>
        </p:nvSpPr>
        <p:spPr>
          <a:xfrm>
            <a:off x="7909560" y="4334256"/>
            <a:ext cx="82296" cy="82296"/>
          </a:xfrm>
          <a:prstGeom prst="ellipse">
            <a:avLst/>
          </a:prstGeom>
          <a:solidFill>
            <a:srgbClr val="C97C2B"/>
          </a:solidFill>
          <a:ln/>
        </p:spPr>
      </p:sp>
      <p:sp>
        <p:nvSpPr>
          <p:cNvPr id="17" name="Text 14"/>
          <p:cNvSpPr/>
          <p:nvPr/>
        </p:nvSpPr>
        <p:spPr>
          <a:xfrm>
            <a:off x="8110728" y="4206240"/>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West region leads Profit by Region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at 108K, ahead of East (92K), South (47K), and Central (40K) — the operating practices behind this are worth studying and replicating.</a:t>
            </a:r>
            <a:endParaRPr lang="en-US" sz="1130" dirty="0"/>
          </a:p>
        </p:txBody>
      </p:sp>
      <p:sp>
        <p:nvSpPr>
          <p:cNvPr id="18" name="Shape 15"/>
          <p:cNvSpPr/>
          <p:nvPr/>
        </p:nvSpPr>
        <p:spPr>
          <a:xfrm>
            <a:off x="7909560" y="5367528"/>
            <a:ext cx="82296" cy="82296"/>
          </a:xfrm>
          <a:prstGeom prst="ellipse">
            <a:avLst/>
          </a:prstGeom>
          <a:solidFill>
            <a:srgbClr val="C97C2B"/>
          </a:solidFill>
          <a:ln/>
        </p:spPr>
      </p:sp>
      <p:sp>
        <p:nvSpPr>
          <p:cNvPr id="19" name="Text 16"/>
          <p:cNvSpPr/>
          <p:nvPr/>
        </p:nvSpPr>
        <p:spPr>
          <a:xfrm>
            <a:off x="8110728" y="5239512"/>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Monthly Sales Trend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spans 2014–2017 and exposes a clear upward growth trajectory alongside month-over-month seasonality.</a:t>
            </a:r>
            <a:endParaRPr lang="en-US" sz="1130" dirty="0"/>
          </a:p>
        </p:txBody>
      </p:sp>
      <p:sp>
        <p:nvSpPr>
          <p:cNvPr id="20" name="Text 17"/>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21" name="Text 18"/>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164592"/>
            <a:ext cx="8229600" cy="274320"/>
          </a:xfrm>
          <a:prstGeom prst="rect">
            <a:avLst/>
          </a:prstGeom>
          <a:noFill/>
          <a:ln/>
        </p:spPr>
        <p:txBody>
          <a:bodyPr wrap="square" rtlCol="0" anchor="ctr"/>
          <a:lstStyle/>
          <a:p>
            <a:pPr indent="0" marL="0">
              <a:buNone/>
            </a:pPr>
            <a:r>
              <a:rPr lang="en-US" sz="1100" b="1" spc="200" kern="0" dirty="0">
                <a:solidFill>
                  <a:srgbClr val="9FD1C4"/>
                </a:solidFill>
                <a:latin typeface="Calibri" pitchFamily="34" charset="0"/>
                <a:ea typeface="Calibri" pitchFamily="34" charset="-122"/>
                <a:cs typeface="Calibri" pitchFamily="34" charset="-120"/>
              </a:rPr>
              <a:t>MILESTONE-2  ·  RETURNS &amp; LOGISTICS</a:t>
            </a:r>
            <a:endParaRPr lang="en-US" sz="1100" dirty="0"/>
          </a:p>
        </p:txBody>
      </p:sp>
      <p:sp>
        <p:nvSpPr>
          <p:cNvPr id="6" name="Text 4"/>
          <p:cNvSpPr/>
          <p:nvPr/>
        </p:nvSpPr>
        <p:spPr>
          <a:xfrm>
            <a:off x="457200" y="41148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Dashboard Page 2 — Supply Chain Insights</a:t>
            </a:r>
            <a:endParaRPr lang="en-US" sz="3400" dirty="0"/>
          </a:p>
        </p:txBody>
      </p:sp>
      <p:sp>
        <p:nvSpPr>
          <p:cNvPr id="7" name="Shape 5"/>
          <p:cNvSpPr/>
          <p:nvPr/>
        </p:nvSpPr>
        <p:spPr>
          <a:xfrm>
            <a:off x="384048" y="1618488"/>
            <a:ext cx="7050024" cy="4010716"/>
          </a:xfrm>
          <a:prstGeom prst="rect">
            <a:avLst/>
          </a:prstGeom>
          <a:solidFill>
            <a:srgbClr val="F5F8F7"/>
          </a:solidFill>
          <a:ln w="12700">
            <a:solidFill>
              <a:srgbClr val="D8E2E1"/>
            </a:solidFill>
            <a:prstDash val="solid"/>
          </a:ln>
        </p:spPr>
      </p:sp>
      <p:pic>
        <p:nvPicPr>
          <p:cNvPr id="8" name="Image 0" descr="/home/claude/work/dash_imgs/dash2_supplychain.png">    </p:cNvPr>
          <p:cNvPicPr>
            <a:picLocks noChangeAspect="1"/>
          </p:cNvPicPr>
          <p:nvPr/>
        </p:nvPicPr>
        <p:blipFill>
          <a:blip r:embed="rId1"/>
          <a:stretch>
            <a:fillRect/>
          </a:stretch>
        </p:blipFill>
        <p:spPr>
          <a:xfrm>
            <a:off x="457200" y="1691640"/>
            <a:ext cx="6903720" cy="3864412"/>
          </a:xfrm>
          <a:prstGeom prst="rect">
            <a:avLst/>
          </a:prstGeom>
        </p:spPr>
      </p:pic>
      <p:sp>
        <p:nvSpPr>
          <p:cNvPr id="9" name="Text 6"/>
          <p:cNvSpPr/>
          <p:nvPr/>
        </p:nvSpPr>
        <p:spPr>
          <a:xfrm>
            <a:off x="457200" y="5684068"/>
            <a:ext cx="6903720" cy="274320"/>
          </a:xfrm>
          <a:prstGeom prst="rect">
            <a:avLst/>
          </a:prstGeom>
          <a:noFill/>
          <a:ln/>
        </p:spPr>
        <p:txBody>
          <a:bodyPr wrap="square" rtlCol="0" anchor="ctr"/>
          <a:lstStyle/>
          <a:p>
            <a:pPr indent="0" marL="0">
              <a:buNone/>
            </a:pPr>
            <a:r>
              <a:rPr lang="en-US" sz="900" i="1" dirty="0">
                <a:solidFill>
                  <a:srgbClr val="5B6B70"/>
                </a:solidFill>
                <a:latin typeface="Calibri" pitchFamily="34" charset="0"/>
                <a:ea typeface="Calibri" pitchFamily="34" charset="-122"/>
                <a:cs typeface="Calibri" pitchFamily="34" charset="-120"/>
              </a:rPr>
              <a:t>Figure 4  ·  Power BI Desktop screenshot, exported from the working report file</a:t>
            </a:r>
            <a:endParaRPr lang="en-US" sz="900" dirty="0"/>
          </a:p>
        </p:txBody>
      </p:sp>
      <p:sp>
        <p:nvSpPr>
          <p:cNvPr id="10" name="Shape 7"/>
          <p:cNvSpPr/>
          <p:nvPr/>
        </p:nvSpPr>
        <p:spPr>
          <a:xfrm>
            <a:off x="7635240" y="1691640"/>
            <a:ext cx="4114800" cy="4572000"/>
          </a:xfrm>
          <a:prstGeom prst="rect">
            <a:avLst/>
          </a:prstGeom>
          <a:solidFill>
            <a:srgbClr val="EEF3F3"/>
          </a:solidFill>
          <a:ln/>
        </p:spPr>
      </p:sp>
      <p:sp>
        <p:nvSpPr>
          <p:cNvPr id="11" name="Text 8"/>
          <p:cNvSpPr/>
          <p:nvPr/>
        </p:nvSpPr>
        <p:spPr>
          <a:xfrm>
            <a:off x="7909560" y="1874520"/>
            <a:ext cx="356616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KEY INSIGHTS</a:t>
            </a:r>
            <a:endParaRPr lang="en-US" sz="1200" dirty="0"/>
          </a:p>
        </p:txBody>
      </p:sp>
      <p:sp>
        <p:nvSpPr>
          <p:cNvPr id="12" name="Shape 9"/>
          <p:cNvSpPr/>
          <p:nvPr/>
        </p:nvSpPr>
        <p:spPr>
          <a:xfrm>
            <a:off x="7909560" y="2267712"/>
            <a:ext cx="82296" cy="82296"/>
          </a:xfrm>
          <a:prstGeom prst="ellipse">
            <a:avLst/>
          </a:prstGeom>
          <a:solidFill>
            <a:srgbClr val="C97C2B"/>
          </a:solidFill>
          <a:ln/>
        </p:spPr>
      </p:sp>
      <p:sp>
        <p:nvSpPr>
          <p:cNvPr id="13" name="Text 10"/>
          <p:cNvSpPr/>
          <p:nvPr/>
        </p:nvSpPr>
        <p:spPr>
          <a:xfrm>
            <a:off x="8110728" y="2139696"/>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Return Rate sits at a healthy 5.91%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across 296 returned orders out of 5,009 total — a clear baseline to track in future reporting periods.</a:t>
            </a:r>
            <a:endParaRPr lang="en-US" sz="1130" dirty="0"/>
          </a:p>
        </p:txBody>
      </p:sp>
      <p:sp>
        <p:nvSpPr>
          <p:cNvPr id="14" name="Shape 11"/>
          <p:cNvSpPr/>
          <p:nvPr/>
        </p:nvSpPr>
        <p:spPr>
          <a:xfrm>
            <a:off x="7909560" y="3300984"/>
            <a:ext cx="82296" cy="82296"/>
          </a:xfrm>
          <a:prstGeom prst="ellipse">
            <a:avLst/>
          </a:prstGeom>
          <a:solidFill>
            <a:srgbClr val="C97C2B"/>
          </a:solidFill>
          <a:ln/>
        </p:spPr>
      </p:sp>
      <p:sp>
        <p:nvSpPr>
          <p:cNvPr id="15" name="Text 12"/>
          <p:cNvSpPr/>
          <p:nvPr/>
        </p:nvSpPr>
        <p:spPr>
          <a:xfrm>
            <a:off x="8110728" y="3172968"/>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Consumer segment dominates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Sales by Segment at 1.2M, ahead of Corporate (0.7M) and Home Office (0.4M), and also leads Total Profit by Segment at 134K.</a:t>
            </a:r>
            <a:endParaRPr lang="en-US" sz="1130" dirty="0"/>
          </a:p>
        </p:txBody>
      </p:sp>
      <p:sp>
        <p:nvSpPr>
          <p:cNvPr id="16" name="Shape 13"/>
          <p:cNvSpPr/>
          <p:nvPr/>
        </p:nvSpPr>
        <p:spPr>
          <a:xfrm>
            <a:off x="7909560" y="4334256"/>
            <a:ext cx="82296" cy="82296"/>
          </a:xfrm>
          <a:prstGeom prst="ellipse">
            <a:avLst/>
          </a:prstGeom>
          <a:solidFill>
            <a:srgbClr val="C97C2B"/>
          </a:solidFill>
          <a:ln/>
        </p:spPr>
      </p:sp>
      <p:sp>
        <p:nvSpPr>
          <p:cNvPr id="17" name="Text 14"/>
          <p:cNvSpPr/>
          <p:nvPr/>
        </p:nvSpPr>
        <p:spPr>
          <a:xfrm>
            <a:off x="8110728" y="4206240"/>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Standard Class dominates shipping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at 59.77% of all orders on the Ship Mode donut — dwarfing Second Class (15.71%), First Class, and Same Day combined.</a:t>
            </a:r>
            <a:endParaRPr lang="en-US" sz="1130" dirty="0"/>
          </a:p>
        </p:txBody>
      </p:sp>
      <p:sp>
        <p:nvSpPr>
          <p:cNvPr id="18" name="Shape 15"/>
          <p:cNvSpPr/>
          <p:nvPr/>
        </p:nvSpPr>
        <p:spPr>
          <a:xfrm>
            <a:off x="7909560" y="5367528"/>
            <a:ext cx="82296" cy="82296"/>
          </a:xfrm>
          <a:prstGeom prst="ellipse">
            <a:avLst/>
          </a:prstGeom>
          <a:solidFill>
            <a:srgbClr val="C97C2B"/>
          </a:solidFill>
          <a:ln/>
        </p:spPr>
      </p:sp>
      <p:sp>
        <p:nvSpPr>
          <p:cNvPr id="19" name="Text 16"/>
          <p:cNvSpPr/>
          <p:nvPr/>
        </p:nvSpPr>
        <p:spPr>
          <a:xfrm>
            <a:off x="8110728" y="5239512"/>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Canon imageCLASS line tops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Top Products by Sales at 62K, heading a ranked list used for merchandising and stock decisions.</a:t>
            </a:r>
            <a:endParaRPr lang="en-US" sz="1130" dirty="0"/>
          </a:p>
        </p:txBody>
      </p:sp>
      <p:sp>
        <p:nvSpPr>
          <p:cNvPr id="20" name="Text 17"/>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21" name="Text 18"/>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164592"/>
            <a:ext cx="8229600" cy="274320"/>
          </a:xfrm>
          <a:prstGeom prst="rect">
            <a:avLst/>
          </a:prstGeom>
          <a:noFill/>
          <a:ln/>
        </p:spPr>
        <p:txBody>
          <a:bodyPr wrap="square" rtlCol="0" anchor="ctr"/>
          <a:lstStyle/>
          <a:p>
            <a:pPr indent="0" marL="0">
              <a:buNone/>
            </a:pPr>
            <a:r>
              <a:rPr lang="en-US" sz="1100" b="1" spc="200" kern="0" dirty="0">
                <a:solidFill>
                  <a:srgbClr val="9FD1C4"/>
                </a:solidFill>
                <a:latin typeface="Calibri" pitchFamily="34" charset="0"/>
                <a:ea typeface="Calibri" pitchFamily="34" charset="-122"/>
                <a:cs typeface="Calibri" pitchFamily="34" charset="-120"/>
              </a:rPr>
              <a:t>MILESTONE-3  ·  PRICING DIAGNOSTICS</a:t>
            </a:r>
            <a:endParaRPr lang="en-US" sz="1100" dirty="0"/>
          </a:p>
        </p:txBody>
      </p:sp>
      <p:sp>
        <p:nvSpPr>
          <p:cNvPr id="6" name="Text 4"/>
          <p:cNvSpPr/>
          <p:nvPr/>
        </p:nvSpPr>
        <p:spPr>
          <a:xfrm>
            <a:off x="457200" y="41148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Dashboard Page 3 — Product &amp; Pricing Analysis</a:t>
            </a:r>
            <a:endParaRPr lang="en-US" sz="3400" dirty="0"/>
          </a:p>
        </p:txBody>
      </p:sp>
      <p:sp>
        <p:nvSpPr>
          <p:cNvPr id="7" name="Shape 5"/>
          <p:cNvSpPr/>
          <p:nvPr/>
        </p:nvSpPr>
        <p:spPr>
          <a:xfrm>
            <a:off x="384048" y="1618488"/>
            <a:ext cx="7050024" cy="4010716"/>
          </a:xfrm>
          <a:prstGeom prst="rect">
            <a:avLst/>
          </a:prstGeom>
          <a:solidFill>
            <a:srgbClr val="F5F8F7"/>
          </a:solidFill>
          <a:ln w="12700">
            <a:solidFill>
              <a:srgbClr val="D8E2E1"/>
            </a:solidFill>
            <a:prstDash val="solid"/>
          </a:ln>
        </p:spPr>
      </p:sp>
      <p:pic>
        <p:nvPicPr>
          <p:cNvPr id="8" name="Image 0" descr="/home/claude/work/dash_imgs/dash3_productpricing.png">    </p:cNvPr>
          <p:cNvPicPr>
            <a:picLocks noChangeAspect="1"/>
          </p:cNvPicPr>
          <p:nvPr/>
        </p:nvPicPr>
        <p:blipFill>
          <a:blip r:embed="rId1"/>
          <a:stretch>
            <a:fillRect/>
          </a:stretch>
        </p:blipFill>
        <p:spPr>
          <a:xfrm>
            <a:off x="457200" y="1691640"/>
            <a:ext cx="6903720" cy="3864412"/>
          </a:xfrm>
          <a:prstGeom prst="rect">
            <a:avLst/>
          </a:prstGeom>
        </p:spPr>
      </p:pic>
      <p:sp>
        <p:nvSpPr>
          <p:cNvPr id="9" name="Text 6"/>
          <p:cNvSpPr/>
          <p:nvPr/>
        </p:nvSpPr>
        <p:spPr>
          <a:xfrm>
            <a:off x="457200" y="5684068"/>
            <a:ext cx="6903720" cy="274320"/>
          </a:xfrm>
          <a:prstGeom prst="rect">
            <a:avLst/>
          </a:prstGeom>
          <a:noFill/>
          <a:ln/>
        </p:spPr>
        <p:txBody>
          <a:bodyPr wrap="square" rtlCol="0" anchor="ctr"/>
          <a:lstStyle/>
          <a:p>
            <a:pPr indent="0" marL="0">
              <a:buNone/>
            </a:pPr>
            <a:r>
              <a:rPr lang="en-US" sz="900" i="1" dirty="0">
                <a:solidFill>
                  <a:srgbClr val="5B6B70"/>
                </a:solidFill>
                <a:latin typeface="Calibri" pitchFamily="34" charset="0"/>
                <a:ea typeface="Calibri" pitchFamily="34" charset="-122"/>
                <a:cs typeface="Calibri" pitchFamily="34" charset="-120"/>
              </a:rPr>
              <a:t>Figure 5  ·  Power BI Desktop screenshot, exported from the working report file</a:t>
            </a:r>
            <a:endParaRPr lang="en-US" sz="900" dirty="0"/>
          </a:p>
        </p:txBody>
      </p:sp>
      <p:sp>
        <p:nvSpPr>
          <p:cNvPr id="10" name="Shape 7"/>
          <p:cNvSpPr/>
          <p:nvPr/>
        </p:nvSpPr>
        <p:spPr>
          <a:xfrm>
            <a:off x="7635240" y="1691640"/>
            <a:ext cx="4114800" cy="4572000"/>
          </a:xfrm>
          <a:prstGeom prst="rect">
            <a:avLst/>
          </a:prstGeom>
          <a:solidFill>
            <a:srgbClr val="EEF3F3"/>
          </a:solidFill>
          <a:ln/>
        </p:spPr>
      </p:sp>
      <p:sp>
        <p:nvSpPr>
          <p:cNvPr id="11" name="Text 8"/>
          <p:cNvSpPr/>
          <p:nvPr/>
        </p:nvSpPr>
        <p:spPr>
          <a:xfrm>
            <a:off x="7909560" y="1874520"/>
            <a:ext cx="356616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KEY INSIGHTS</a:t>
            </a:r>
            <a:endParaRPr lang="en-US" sz="1200" dirty="0"/>
          </a:p>
        </p:txBody>
      </p:sp>
      <p:sp>
        <p:nvSpPr>
          <p:cNvPr id="12" name="Shape 9"/>
          <p:cNvSpPr/>
          <p:nvPr/>
        </p:nvSpPr>
        <p:spPr>
          <a:xfrm>
            <a:off x="7909560" y="2267712"/>
            <a:ext cx="82296" cy="82296"/>
          </a:xfrm>
          <a:prstGeom prst="ellipse">
            <a:avLst/>
          </a:prstGeom>
          <a:solidFill>
            <a:srgbClr val="C97C2B"/>
          </a:solidFill>
          <a:ln/>
        </p:spPr>
      </p:sp>
      <p:sp>
        <p:nvSpPr>
          <p:cNvPr id="13" name="Text 10"/>
          <p:cNvSpPr/>
          <p:nvPr/>
        </p:nvSpPr>
        <p:spPr>
          <a:xfrm>
            <a:off x="8110728" y="2139696"/>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Average Discount runs at 0.09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with Average Shipping Days at 34.61 — two headline pricing and service-level KPIs tracked together.</a:t>
            </a:r>
            <a:endParaRPr lang="en-US" sz="1130" dirty="0"/>
          </a:p>
        </p:txBody>
      </p:sp>
      <p:sp>
        <p:nvSpPr>
          <p:cNvPr id="14" name="Shape 11"/>
          <p:cNvSpPr/>
          <p:nvPr/>
        </p:nvSpPr>
        <p:spPr>
          <a:xfrm>
            <a:off x="7909560" y="3300984"/>
            <a:ext cx="82296" cy="82296"/>
          </a:xfrm>
          <a:prstGeom prst="ellipse">
            <a:avLst/>
          </a:prstGeom>
          <a:solidFill>
            <a:srgbClr val="C97C2B"/>
          </a:solidFill>
          <a:ln/>
        </p:spPr>
      </p:sp>
      <p:sp>
        <p:nvSpPr>
          <p:cNvPr id="15" name="Text 12"/>
          <p:cNvSpPr/>
          <p:nvPr/>
        </p:nvSpPr>
        <p:spPr>
          <a:xfrm>
            <a:off x="8110728" y="3172968"/>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Office Supplies is discounted most heavily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at 0.11 average discount, followed by Furniture (0.07); Technology is discounted least at 0.01.</a:t>
            </a:r>
            <a:endParaRPr lang="en-US" sz="1130" dirty="0"/>
          </a:p>
        </p:txBody>
      </p:sp>
      <p:sp>
        <p:nvSpPr>
          <p:cNvPr id="16" name="Shape 13"/>
          <p:cNvSpPr/>
          <p:nvPr/>
        </p:nvSpPr>
        <p:spPr>
          <a:xfrm>
            <a:off x="7909560" y="4334256"/>
            <a:ext cx="82296" cy="82296"/>
          </a:xfrm>
          <a:prstGeom prst="ellipse">
            <a:avLst/>
          </a:prstGeom>
          <a:solidFill>
            <a:srgbClr val="C97C2B"/>
          </a:solidFill>
          <a:ln/>
        </p:spPr>
      </p:sp>
      <p:sp>
        <p:nvSpPr>
          <p:cNvPr id="17" name="Text 14"/>
          <p:cNvSpPr/>
          <p:nvPr/>
        </p:nvSpPr>
        <p:spPr>
          <a:xfrm>
            <a:off x="8110728" y="4206240"/>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Technology and Office Supplies stay strongly profitable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at 145K and 122K profit respectively, while Furniture trails at a comparatively weak 18K.</a:t>
            </a:r>
            <a:endParaRPr lang="en-US" sz="1130" dirty="0"/>
          </a:p>
        </p:txBody>
      </p:sp>
      <p:sp>
        <p:nvSpPr>
          <p:cNvPr id="18" name="Shape 15"/>
          <p:cNvSpPr/>
          <p:nvPr/>
        </p:nvSpPr>
        <p:spPr>
          <a:xfrm>
            <a:off x="7909560" y="5367528"/>
            <a:ext cx="82296" cy="82296"/>
          </a:xfrm>
          <a:prstGeom prst="ellipse">
            <a:avLst/>
          </a:prstGeom>
          <a:solidFill>
            <a:srgbClr val="C97C2B"/>
          </a:solidFill>
          <a:ln/>
        </p:spPr>
      </p:sp>
      <p:sp>
        <p:nvSpPr>
          <p:cNvPr id="19" name="Text 16"/>
          <p:cNvSpPr/>
          <p:nvPr/>
        </p:nvSpPr>
        <p:spPr>
          <a:xfrm>
            <a:off x="8110728" y="5239512"/>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Tables is the single biggest loss-maker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at -18K on the ranked Profit by Sub-Category waterfall — the most actionable view for pricing correction.</a:t>
            </a:r>
            <a:endParaRPr lang="en-US" sz="1130" dirty="0"/>
          </a:p>
        </p:txBody>
      </p:sp>
      <p:sp>
        <p:nvSpPr>
          <p:cNvPr id="20" name="Text 17"/>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21" name="Text 18"/>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164592"/>
            <a:ext cx="8229600" cy="274320"/>
          </a:xfrm>
          <a:prstGeom prst="rect">
            <a:avLst/>
          </a:prstGeom>
          <a:noFill/>
          <a:ln/>
        </p:spPr>
        <p:txBody>
          <a:bodyPr wrap="square" rtlCol="0" anchor="ctr"/>
          <a:lstStyle/>
          <a:p>
            <a:pPr indent="0" marL="0">
              <a:buNone/>
            </a:pPr>
            <a:r>
              <a:rPr lang="en-US" sz="1100" b="1" spc="200" kern="0" dirty="0">
                <a:solidFill>
                  <a:srgbClr val="9FD1C4"/>
                </a:solidFill>
                <a:latin typeface="Calibri" pitchFamily="34" charset="0"/>
                <a:ea typeface="Calibri" pitchFamily="34" charset="-122"/>
                <a:cs typeface="Calibri" pitchFamily="34" charset="-120"/>
              </a:rPr>
              <a:t>MILESTONE-3  ·  CUSTOMER &amp; GEOGRAPHY</a:t>
            </a:r>
            <a:endParaRPr lang="en-US" sz="1100" dirty="0"/>
          </a:p>
        </p:txBody>
      </p:sp>
      <p:sp>
        <p:nvSpPr>
          <p:cNvPr id="6" name="Text 4"/>
          <p:cNvSpPr/>
          <p:nvPr/>
        </p:nvSpPr>
        <p:spPr>
          <a:xfrm>
            <a:off x="457200" y="41148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Dashboard Page 4 — Customer &amp; Regional Insights</a:t>
            </a:r>
            <a:endParaRPr lang="en-US" sz="3400" dirty="0"/>
          </a:p>
        </p:txBody>
      </p:sp>
      <p:sp>
        <p:nvSpPr>
          <p:cNvPr id="7" name="Shape 5"/>
          <p:cNvSpPr/>
          <p:nvPr/>
        </p:nvSpPr>
        <p:spPr>
          <a:xfrm>
            <a:off x="384048" y="1618488"/>
            <a:ext cx="7050024" cy="4010716"/>
          </a:xfrm>
          <a:prstGeom prst="rect">
            <a:avLst/>
          </a:prstGeom>
          <a:solidFill>
            <a:srgbClr val="F5F8F7"/>
          </a:solidFill>
          <a:ln w="12700">
            <a:solidFill>
              <a:srgbClr val="D8E2E1"/>
            </a:solidFill>
            <a:prstDash val="solid"/>
          </a:ln>
        </p:spPr>
      </p:sp>
      <p:pic>
        <p:nvPicPr>
          <p:cNvPr id="8" name="Image 0" descr="/home/claude/work/dash_imgs/dash4_customerregional.png">    </p:cNvPr>
          <p:cNvPicPr>
            <a:picLocks noChangeAspect="1"/>
          </p:cNvPicPr>
          <p:nvPr/>
        </p:nvPicPr>
        <p:blipFill>
          <a:blip r:embed="rId1"/>
          <a:stretch>
            <a:fillRect/>
          </a:stretch>
        </p:blipFill>
        <p:spPr>
          <a:xfrm>
            <a:off x="457200" y="1691640"/>
            <a:ext cx="6903720" cy="3864412"/>
          </a:xfrm>
          <a:prstGeom prst="rect">
            <a:avLst/>
          </a:prstGeom>
        </p:spPr>
      </p:pic>
      <p:sp>
        <p:nvSpPr>
          <p:cNvPr id="9" name="Text 6"/>
          <p:cNvSpPr/>
          <p:nvPr/>
        </p:nvSpPr>
        <p:spPr>
          <a:xfrm>
            <a:off x="457200" y="5684068"/>
            <a:ext cx="6903720" cy="274320"/>
          </a:xfrm>
          <a:prstGeom prst="rect">
            <a:avLst/>
          </a:prstGeom>
          <a:noFill/>
          <a:ln/>
        </p:spPr>
        <p:txBody>
          <a:bodyPr wrap="square" rtlCol="0" anchor="ctr"/>
          <a:lstStyle/>
          <a:p>
            <a:pPr indent="0" marL="0">
              <a:buNone/>
            </a:pPr>
            <a:r>
              <a:rPr lang="en-US" sz="900" i="1" dirty="0">
                <a:solidFill>
                  <a:srgbClr val="5B6B70"/>
                </a:solidFill>
                <a:latin typeface="Calibri" pitchFamily="34" charset="0"/>
                <a:ea typeface="Calibri" pitchFamily="34" charset="-122"/>
                <a:cs typeface="Calibri" pitchFamily="34" charset="-120"/>
              </a:rPr>
              <a:t>Figure 6  ·  Power BI Desktop screenshot, exported from the working report file</a:t>
            </a:r>
            <a:endParaRPr lang="en-US" sz="900" dirty="0"/>
          </a:p>
        </p:txBody>
      </p:sp>
      <p:sp>
        <p:nvSpPr>
          <p:cNvPr id="10" name="Shape 7"/>
          <p:cNvSpPr/>
          <p:nvPr/>
        </p:nvSpPr>
        <p:spPr>
          <a:xfrm>
            <a:off x="7635240" y="1691640"/>
            <a:ext cx="4114800" cy="4572000"/>
          </a:xfrm>
          <a:prstGeom prst="rect">
            <a:avLst/>
          </a:prstGeom>
          <a:solidFill>
            <a:srgbClr val="EEF3F3"/>
          </a:solidFill>
          <a:ln/>
        </p:spPr>
      </p:sp>
      <p:sp>
        <p:nvSpPr>
          <p:cNvPr id="11" name="Text 8"/>
          <p:cNvSpPr/>
          <p:nvPr/>
        </p:nvSpPr>
        <p:spPr>
          <a:xfrm>
            <a:off x="7909560" y="1874520"/>
            <a:ext cx="356616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KEY INSIGHTS</a:t>
            </a:r>
            <a:endParaRPr lang="en-US" sz="1200" dirty="0"/>
          </a:p>
        </p:txBody>
      </p:sp>
      <p:sp>
        <p:nvSpPr>
          <p:cNvPr id="12" name="Shape 9"/>
          <p:cNvSpPr/>
          <p:nvPr/>
        </p:nvSpPr>
        <p:spPr>
          <a:xfrm>
            <a:off x="7909560" y="2267712"/>
            <a:ext cx="82296" cy="82296"/>
          </a:xfrm>
          <a:prstGeom prst="ellipse">
            <a:avLst/>
          </a:prstGeom>
          <a:solidFill>
            <a:srgbClr val="C97C2B"/>
          </a:solidFill>
          <a:ln/>
        </p:spPr>
      </p:sp>
      <p:sp>
        <p:nvSpPr>
          <p:cNvPr id="13" name="Text 10"/>
          <p:cNvSpPr/>
          <p:nvPr/>
        </p:nvSpPr>
        <p:spPr>
          <a:xfrm>
            <a:off x="8110728" y="2139696"/>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Total Quantity reaches 38K units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with an Average Order Value of 458.56 — revealing whether upsell and cross-sell activity increases basket size.</a:t>
            </a:r>
            <a:endParaRPr lang="en-US" sz="1130" dirty="0"/>
          </a:p>
        </p:txBody>
      </p:sp>
      <p:sp>
        <p:nvSpPr>
          <p:cNvPr id="14" name="Shape 11"/>
          <p:cNvSpPr/>
          <p:nvPr/>
        </p:nvSpPr>
        <p:spPr>
          <a:xfrm>
            <a:off x="7909560" y="3300984"/>
            <a:ext cx="82296" cy="82296"/>
          </a:xfrm>
          <a:prstGeom prst="ellipse">
            <a:avLst/>
          </a:prstGeom>
          <a:solidFill>
            <a:srgbClr val="C97C2B"/>
          </a:solidFill>
          <a:ln/>
        </p:spPr>
      </p:sp>
      <p:sp>
        <p:nvSpPr>
          <p:cNvPr id="15" name="Text 12"/>
          <p:cNvSpPr/>
          <p:nvPr/>
        </p:nvSpPr>
        <p:spPr>
          <a:xfrm>
            <a:off x="8110728" y="3172968"/>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Consumer accounts for 51.95% of orders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on the segment donut, ahead of Corporate (30.22%) and Home Office (17.83%).</a:t>
            </a:r>
            <a:endParaRPr lang="en-US" sz="1130" dirty="0"/>
          </a:p>
        </p:txBody>
      </p:sp>
      <p:sp>
        <p:nvSpPr>
          <p:cNvPr id="16" name="Shape 13"/>
          <p:cNvSpPr/>
          <p:nvPr/>
        </p:nvSpPr>
        <p:spPr>
          <a:xfrm>
            <a:off x="7909560" y="4334256"/>
            <a:ext cx="82296" cy="82296"/>
          </a:xfrm>
          <a:prstGeom prst="ellipse">
            <a:avLst/>
          </a:prstGeom>
          <a:solidFill>
            <a:srgbClr val="C97C2B"/>
          </a:solidFill>
          <a:ln/>
        </p:spPr>
      </p:sp>
      <p:sp>
        <p:nvSpPr>
          <p:cNvPr id="17" name="Text 14"/>
          <p:cNvSpPr/>
          <p:nvPr/>
        </p:nvSpPr>
        <p:spPr>
          <a:xfrm>
            <a:off x="8110728" y="4206240"/>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California (0.46M) and New York (0.31M)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anchor Sales by State, applying the Pareto principle geographically across the retail footprint.</a:t>
            </a:r>
            <a:endParaRPr lang="en-US" sz="1130" dirty="0"/>
          </a:p>
        </p:txBody>
      </p:sp>
      <p:sp>
        <p:nvSpPr>
          <p:cNvPr id="18" name="Shape 15"/>
          <p:cNvSpPr/>
          <p:nvPr/>
        </p:nvSpPr>
        <p:spPr>
          <a:xfrm>
            <a:off x="7909560" y="5367528"/>
            <a:ext cx="82296" cy="82296"/>
          </a:xfrm>
          <a:prstGeom prst="ellipse">
            <a:avLst/>
          </a:prstGeom>
          <a:solidFill>
            <a:srgbClr val="C97C2B"/>
          </a:solidFill>
          <a:ln/>
        </p:spPr>
      </p:sp>
      <p:sp>
        <p:nvSpPr>
          <p:cNvPr id="19" name="Text 16"/>
          <p:cNvSpPr/>
          <p:nvPr/>
        </p:nvSpPr>
        <p:spPr>
          <a:xfrm>
            <a:off x="8110728" y="5239512"/>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Same Day ships in ~1 day vs. 42 for Standard Class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and Home Office carries the highest Average Order Value by Segment at 472.</a:t>
            </a:r>
            <a:endParaRPr lang="en-US" sz="1130" dirty="0"/>
          </a:p>
        </p:txBody>
      </p:sp>
      <p:sp>
        <p:nvSpPr>
          <p:cNvPr id="20" name="Text 17"/>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21" name="Text 18"/>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164592"/>
            <a:ext cx="8229600" cy="274320"/>
          </a:xfrm>
          <a:prstGeom prst="rect">
            <a:avLst/>
          </a:prstGeom>
          <a:noFill/>
          <a:ln/>
        </p:spPr>
        <p:txBody>
          <a:bodyPr wrap="square" rtlCol="0" anchor="ctr"/>
          <a:lstStyle/>
          <a:p>
            <a:pPr indent="0" marL="0">
              <a:buNone/>
            </a:pPr>
            <a:r>
              <a:rPr lang="en-US" sz="1100" b="1" spc="200" kern="0" dirty="0">
                <a:solidFill>
                  <a:srgbClr val="9FD1C4"/>
                </a:solidFill>
                <a:latin typeface="Calibri" pitchFamily="34" charset="0"/>
                <a:ea typeface="Calibri" pitchFamily="34" charset="-122"/>
                <a:cs typeface="Calibri" pitchFamily="34" charset="-120"/>
              </a:rPr>
              <a:t>MILESTONE-3  ·  PRODUCT &amp; RETURN RISK</a:t>
            </a:r>
            <a:endParaRPr lang="en-US" sz="1100" dirty="0"/>
          </a:p>
        </p:txBody>
      </p:sp>
      <p:sp>
        <p:nvSpPr>
          <p:cNvPr id="6" name="Text 4"/>
          <p:cNvSpPr/>
          <p:nvPr/>
        </p:nvSpPr>
        <p:spPr>
          <a:xfrm>
            <a:off x="457200" y="41148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Dashboard Page 5 — Business Performance Monitoring</a:t>
            </a:r>
            <a:endParaRPr lang="en-US" sz="3400" dirty="0"/>
          </a:p>
        </p:txBody>
      </p:sp>
      <p:sp>
        <p:nvSpPr>
          <p:cNvPr id="7" name="Shape 5"/>
          <p:cNvSpPr/>
          <p:nvPr/>
        </p:nvSpPr>
        <p:spPr>
          <a:xfrm>
            <a:off x="384048" y="1618488"/>
            <a:ext cx="7050024" cy="4010716"/>
          </a:xfrm>
          <a:prstGeom prst="rect">
            <a:avLst/>
          </a:prstGeom>
          <a:solidFill>
            <a:srgbClr val="F5F8F7"/>
          </a:solidFill>
          <a:ln w="12700">
            <a:solidFill>
              <a:srgbClr val="D8E2E1"/>
            </a:solidFill>
            <a:prstDash val="solid"/>
          </a:ln>
        </p:spPr>
      </p:sp>
      <p:pic>
        <p:nvPicPr>
          <p:cNvPr id="8" name="Image 0" descr="/home/claude/work/dash_imgs/dash5_bizperformance.png">    </p:cNvPr>
          <p:cNvPicPr>
            <a:picLocks noChangeAspect="1"/>
          </p:cNvPicPr>
          <p:nvPr/>
        </p:nvPicPr>
        <p:blipFill>
          <a:blip r:embed="rId1"/>
          <a:stretch>
            <a:fillRect/>
          </a:stretch>
        </p:blipFill>
        <p:spPr>
          <a:xfrm>
            <a:off x="457200" y="1691640"/>
            <a:ext cx="6903720" cy="3864412"/>
          </a:xfrm>
          <a:prstGeom prst="rect">
            <a:avLst/>
          </a:prstGeom>
        </p:spPr>
      </p:pic>
      <p:sp>
        <p:nvSpPr>
          <p:cNvPr id="9" name="Text 6"/>
          <p:cNvSpPr/>
          <p:nvPr/>
        </p:nvSpPr>
        <p:spPr>
          <a:xfrm>
            <a:off x="457200" y="5684068"/>
            <a:ext cx="6903720" cy="274320"/>
          </a:xfrm>
          <a:prstGeom prst="rect">
            <a:avLst/>
          </a:prstGeom>
          <a:noFill/>
          <a:ln/>
        </p:spPr>
        <p:txBody>
          <a:bodyPr wrap="square" rtlCol="0" anchor="ctr"/>
          <a:lstStyle/>
          <a:p>
            <a:pPr indent="0" marL="0">
              <a:buNone/>
            </a:pPr>
            <a:r>
              <a:rPr lang="en-US" sz="900" i="1" dirty="0">
                <a:solidFill>
                  <a:srgbClr val="5B6B70"/>
                </a:solidFill>
                <a:latin typeface="Calibri" pitchFamily="34" charset="0"/>
                <a:ea typeface="Calibri" pitchFamily="34" charset="-122"/>
                <a:cs typeface="Calibri" pitchFamily="34" charset="-120"/>
              </a:rPr>
              <a:t>Figure 7  ·  Power BI Desktop screenshot, exported from the working report file</a:t>
            </a:r>
            <a:endParaRPr lang="en-US" sz="900" dirty="0"/>
          </a:p>
        </p:txBody>
      </p:sp>
      <p:sp>
        <p:nvSpPr>
          <p:cNvPr id="10" name="Shape 7"/>
          <p:cNvSpPr/>
          <p:nvPr/>
        </p:nvSpPr>
        <p:spPr>
          <a:xfrm>
            <a:off x="7635240" y="1691640"/>
            <a:ext cx="4114800" cy="4572000"/>
          </a:xfrm>
          <a:prstGeom prst="rect">
            <a:avLst/>
          </a:prstGeom>
          <a:solidFill>
            <a:srgbClr val="EEF3F3"/>
          </a:solidFill>
          <a:ln/>
        </p:spPr>
      </p:sp>
      <p:sp>
        <p:nvSpPr>
          <p:cNvPr id="11" name="Text 8"/>
          <p:cNvSpPr/>
          <p:nvPr/>
        </p:nvSpPr>
        <p:spPr>
          <a:xfrm>
            <a:off x="7909560" y="1874520"/>
            <a:ext cx="356616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KEY INSIGHTS</a:t>
            </a:r>
            <a:endParaRPr lang="en-US" sz="1200" dirty="0"/>
          </a:p>
        </p:txBody>
      </p:sp>
      <p:sp>
        <p:nvSpPr>
          <p:cNvPr id="12" name="Shape 9"/>
          <p:cNvSpPr/>
          <p:nvPr/>
        </p:nvSpPr>
        <p:spPr>
          <a:xfrm>
            <a:off x="7909560" y="2267712"/>
            <a:ext cx="82296" cy="82296"/>
          </a:xfrm>
          <a:prstGeom prst="ellipse">
            <a:avLst/>
          </a:prstGeom>
          <a:solidFill>
            <a:srgbClr val="C97C2B"/>
          </a:solidFill>
          <a:ln/>
        </p:spPr>
      </p:sp>
      <p:sp>
        <p:nvSpPr>
          <p:cNvPr id="13" name="Text 10"/>
          <p:cNvSpPr/>
          <p:nvPr/>
        </p:nvSpPr>
        <p:spPr>
          <a:xfrm>
            <a:off x="8110728" y="2139696"/>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Distinct Products span 2K SKUs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served across 49 States — headline KPIs reflecting the breadth and reach of the product catalogue.</a:t>
            </a:r>
            <a:endParaRPr lang="en-US" sz="1130" dirty="0"/>
          </a:p>
        </p:txBody>
      </p:sp>
      <p:sp>
        <p:nvSpPr>
          <p:cNvPr id="14" name="Shape 11"/>
          <p:cNvSpPr/>
          <p:nvPr/>
        </p:nvSpPr>
        <p:spPr>
          <a:xfrm>
            <a:off x="7909560" y="3300984"/>
            <a:ext cx="82296" cy="82296"/>
          </a:xfrm>
          <a:prstGeom prst="ellipse">
            <a:avLst/>
          </a:prstGeom>
          <a:solidFill>
            <a:srgbClr val="C97C2B"/>
          </a:solidFill>
          <a:ln/>
        </p:spPr>
      </p:sp>
      <p:sp>
        <p:nvSpPr>
          <p:cNvPr id="15" name="Text 12"/>
          <p:cNvSpPr/>
          <p:nvPr/>
        </p:nvSpPr>
        <p:spPr>
          <a:xfrm>
            <a:off x="8110728" y="3172968"/>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Cubify CubeX 3D Printer is the top loss-maker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at -8.9K on the Loss by Product Name ranking, the clearest single product-level red flag on the dashboard.</a:t>
            </a:r>
            <a:endParaRPr lang="en-US" sz="1130" dirty="0"/>
          </a:p>
        </p:txBody>
      </p:sp>
      <p:sp>
        <p:nvSpPr>
          <p:cNvPr id="16" name="Shape 13"/>
          <p:cNvSpPr/>
          <p:nvPr/>
        </p:nvSpPr>
        <p:spPr>
          <a:xfrm>
            <a:off x="7909560" y="4334256"/>
            <a:ext cx="82296" cy="82296"/>
          </a:xfrm>
          <a:prstGeom prst="ellipse">
            <a:avLst/>
          </a:prstGeom>
          <a:solidFill>
            <a:srgbClr val="C97C2B"/>
          </a:solidFill>
          <a:ln/>
        </p:spPr>
      </p:sp>
      <p:sp>
        <p:nvSpPr>
          <p:cNvPr id="17" name="Text 14"/>
          <p:cNvSpPr/>
          <p:nvPr/>
        </p:nvSpPr>
        <p:spPr>
          <a:xfrm>
            <a:off x="8110728" y="4206240"/>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California (76K) and New York (74K)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lead Sum of Profit by State, reinforcing the same geographic strength seen on the regional insights page.</a:t>
            </a:r>
            <a:endParaRPr lang="en-US" sz="1130" dirty="0"/>
          </a:p>
        </p:txBody>
      </p:sp>
      <p:sp>
        <p:nvSpPr>
          <p:cNvPr id="18" name="Shape 15"/>
          <p:cNvSpPr/>
          <p:nvPr/>
        </p:nvSpPr>
        <p:spPr>
          <a:xfrm>
            <a:off x="7909560" y="5367528"/>
            <a:ext cx="82296" cy="82296"/>
          </a:xfrm>
          <a:prstGeom prst="ellipse">
            <a:avLst/>
          </a:prstGeom>
          <a:solidFill>
            <a:srgbClr val="C97C2B"/>
          </a:solidFill>
          <a:ln/>
        </p:spPr>
      </p:sp>
      <p:sp>
        <p:nvSpPr>
          <p:cNvPr id="19" name="Text 16"/>
          <p:cNvSpPr/>
          <p:nvPr/>
        </p:nvSpPr>
        <p:spPr>
          <a:xfrm>
            <a:off x="8110728" y="5239512"/>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Returned orders carry only 0.02M in profit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versus 0.26M for kept orders — returns are concentrated in low-margin transactions, not spread evenly.</a:t>
            </a:r>
            <a:endParaRPr lang="en-US" sz="1130" dirty="0"/>
          </a:p>
        </p:txBody>
      </p:sp>
      <p:sp>
        <p:nvSpPr>
          <p:cNvPr id="20" name="Text 17"/>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21" name="Text 18"/>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164592"/>
            <a:ext cx="8229600" cy="274320"/>
          </a:xfrm>
          <a:prstGeom prst="rect">
            <a:avLst/>
          </a:prstGeom>
          <a:noFill/>
          <a:ln/>
        </p:spPr>
        <p:txBody>
          <a:bodyPr wrap="square" rtlCol="0" anchor="ctr"/>
          <a:lstStyle/>
          <a:p>
            <a:pPr indent="0" marL="0">
              <a:buNone/>
            </a:pPr>
            <a:r>
              <a:rPr lang="en-US" sz="1100" b="1" spc="200" kern="0" dirty="0">
                <a:solidFill>
                  <a:srgbClr val="9FD1C4"/>
                </a:solidFill>
                <a:latin typeface="Calibri" pitchFamily="34" charset="0"/>
                <a:ea typeface="Calibri" pitchFamily="34" charset="-122"/>
                <a:cs typeface="Calibri" pitchFamily="34" charset="-120"/>
              </a:rPr>
              <a:t>MILESTONE-4  ·  ORDER-LEVEL HEALTH CHECK</a:t>
            </a:r>
            <a:endParaRPr lang="en-US" sz="1100" dirty="0"/>
          </a:p>
        </p:txBody>
      </p:sp>
      <p:sp>
        <p:nvSpPr>
          <p:cNvPr id="6" name="Text 4"/>
          <p:cNvSpPr/>
          <p:nvPr/>
        </p:nvSpPr>
        <p:spPr>
          <a:xfrm>
            <a:off x="457200" y="41148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Dashboard Page 6 — Discount &amp; Profitability Diagnostics</a:t>
            </a:r>
            <a:endParaRPr lang="en-US" sz="3400" dirty="0"/>
          </a:p>
        </p:txBody>
      </p:sp>
      <p:sp>
        <p:nvSpPr>
          <p:cNvPr id="7" name="Shape 5"/>
          <p:cNvSpPr/>
          <p:nvPr/>
        </p:nvSpPr>
        <p:spPr>
          <a:xfrm>
            <a:off x="384048" y="1618488"/>
            <a:ext cx="7050024" cy="4010716"/>
          </a:xfrm>
          <a:prstGeom prst="rect">
            <a:avLst/>
          </a:prstGeom>
          <a:solidFill>
            <a:srgbClr val="F5F8F7"/>
          </a:solidFill>
          <a:ln w="12700">
            <a:solidFill>
              <a:srgbClr val="D8E2E1"/>
            </a:solidFill>
            <a:prstDash val="solid"/>
          </a:ln>
        </p:spPr>
      </p:sp>
      <p:pic>
        <p:nvPicPr>
          <p:cNvPr id="8" name="Image 0" descr="/home/claude/work/dash_imgs/dash6_discountprofit.png">    </p:cNvPr>
          <p:cNvPicPr>
            <a:picLocks noChangeAspect="1"/>
          </p:cNvPicPr>
          <p:nvPr/>
        </p:nvPicPr>
        <p:blipFill>
          <a:blip r:embed="rId1"/>
          <a:stretch>
            <a:fillRect/>
          </a:stretch>
        </p:blipFill>
        <p:spPr>
          <a:xfrm>
            <a:off x="457200" y="1691640"/>
            <a:ext cx="6903720" cy="3864412"/>
          </a:xfrm>
          <a:prstGeom prst="rect">
            <a:avLst/>
          </a:prstGeom>
        </p:spPr>
      </p:pic>
      <p:sp>
        <p:nvSpPr>
          <p:cNvPr id="9" name="Text 6"/>
          <p:cNvSpPr/>
          <p:nvPr/>
        </p:nvSpPr>
        <p:spPr>
          <a:xfrm>
            <a:off x="457200" y="5684068"/>
            <a:ext cx="6903720" cy="274320"/>
          </a:xfrm>
          <a:prstGeom prst="rect">
            <a:avLst/>
          </a:prstGeom>
          <a:noFill/>
          <a:ln/>
        </p:spPr>
        <p:txBody>
          <a:bodyPr wrap="square" rtlCol="0" anchor="ctr"/>
          <a:lstStyle/>
          <a:p>
            <a:pPr indent="0" marL="0">
              <a:buNone/>
            </a:pPr>
            <a:r>
              <a:rPr lang="en-US" sz="900" i="1" dirty="0">
                <a:solidFill>
                  <a:srgbClr val="5B6B70"/>
                </a:solidFill>
                <a:latin typeface="Calibri" pitchFamily="34" charset="0"/>
                <a:ea typeface="Calibri" pitchFamily="34" charset="-122"/>
                <a:cs typeface="Calibri" pitchFamily="34" charset="-120"/>
              </a:rPr>
              <a:t>Figure 8  ·  Power BI Desktop screenshot, exported from the working report file</a:t>
            </a:r>
            <a:endParaRPr lang="en-US" sz="900" dirty="0"/>
          </a:p>
        </p:txBody>
      </p:sp>
      <p:sp>
        <p:nvSpPr>
          <p:cNvPr id="10" name="Shape 7"/>
          <p:cNvSpPr/>
          <p:nvPr/>
        </p:nvSpPr>
        <p:spPr>
          <a:xfrm>
            <a:off x="7635240" y="1691640"/>
            <a:ext cx="4114800" cy="4572000"/>
          </a:xfrm>
          <a:prstGeom prst="rect">
            <a:avLst/>
          </a:prstGeom>
          <a:solidFill>
            <a:srgbClr val="EEF3F3"/>
          </a:solidFill>
          <a:ln/>
        </p:spPr>
      </p:sp>
      <p:sp>
        <p:nvSpPr>
          <p:cNvPr id="11" name="Text 8"/>
          <p:cNvSpPr/>
          <p:nvPr/>
        </p:nvSpPr>
        <p:spPr>
          <a:xfrm>
            <a:off x="7909560" y="1874520"/>
            <a:ext cx="356616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KEY INSIGHTS</a:t>
            </a:r>
            <a:endParaRPr lang="en-US" sz="1200" dirty="0"/>
          </a:p>
        </p:txBody>
      </p:sp>
      <p:sp>
        <p:nvSpPr>
          <p:cNvPr id="12" name="Shape 9"/>
          <p:cNvSpPr/>
          <p:nvPr/>
        </p:nvSpPr>
        <p:spPr>
          <a:xfrm>
            <a:off x="7909560" y="2267712"/>
            <a:ext cx="82296" cy="82296"/>
          </a:xfrm>
          <a:prstGeom prst="ellipse">
            <a:avLst/>
          </a:prstGeom>
          <a:solidFill>
            <a:srgbClr val="C97C2B"/>
          </a:solidFill>
          <a:ln/>
        </p:spPr>
      </p:sp>
      <p:sp>
        <p:nvSpPr>
          <p:cNvPr id="13" name="Text 10"/>
          <p:cNvSpPr/>
          <p:nvPr/>
        </p:nvSpPr>
        <p:spPr>
          <a:xfrm>
            <a:off x="8110728" y="2139696"/>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Profitable Order Rate stands at 79.26%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against a Loss-Making Order Rate of 20.40% — one order in five is currently unprofitable.</a:t>
            </a:r>
            <a:endParaRPr lang="en-US" sz="1130" dirty="0"/>
          </a:p>
        </p:txBody>
      </p:sp>
      <p:sp>
        <p:nvSpPr>
          <p:cNvPr id="14" name="Shape 11"/>
          <p:cNvSpPr/>
          <p:nvPr/>
        </p:nvSpPr>
        <p:spPr>
          <a:xfrm>
            <a:off x="7909560" y="3300984"/>
            <a:ext cx="82296" cy="82296"/>
          </a:xfrm>
          <a:prstGeom prst="ellipse">
            <a:avLst/>
          </a:prstGeom>
          <a:solidFill>
            <a:srgbClr val="C97C2B"/>
          </a:solidFill>
          <a:ln/>
        </p:spPr>
      </p:sp>
      <p:sp>
        <p:nvSpPr>
          <p:cNvPr id="15" name="Text 12"/>
          <p:cNvSpPr/>
          <p:nvPr/>
        </p:nvSpPr>
        <p:spPr>
          <a:xfrm>
            <a:off x="8110728" y="3172968"/>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Discounted Order Rate is just 13.68%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meaning discounting alone does not explain every loss-making order — some lose money even undiscounted.</a:t>
            </a:r>
            <a:endParaRPr lang="en-US" sz="1130" dirty="0"/>
          </a:p>
        </p:txBody>
      </p:sp>
      <p:sp>
        <p:nvSpPr>
          <p:cNvPr id="16" name="Shape 13"/>
          <p:cNvSpPr/>
          <p:nvPr/>
        </p:nvSpPr>
        <p:spPr>
          <a:xfrm>
            <a:off x="7909560" y="4334256"/>
            <a:ext cx="82296" cy="82296"/>
          </a:xfrm>
          <a:prstGeom prst="ellipse">
            <a:avLst/>
          </a:prstGeom>
          <a:solidFill>
            <a:srgbClr val="C97C2B"/>
          </a:solidFill>
          <a:ln/>
        </p:spPr>
      </p:sp>
      <p:sp>
        <p:nvSpPr>
          <p:cNvPr id="17" name="Text 14"/>
          <p:cNvSpPr/>
          <p:nvPr/>
        </p:nvSpPr>
        <p:spPr>
          <a:xfrm>
            <a:off x="8110728" y="4206240"/>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Technology sits low-discount / high-profit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while Furniture sits higher-discount / lower-profit on the scatter view by category.</a:t>
            </a:r>
            <a:endParaRPr lang="en-US" sz="1130" dirty="0"/>
          </a:p>
        </p:txBody>
      </p:sp>
      <p:sp>
        <p:nvSpPr>
          <p:cNvPr id="18" name="Shape 15"/>
          <p:cNvSpPr/>
          <p:nvPr/>
        </p:nvSpPr>
        <p:spPr>
          <a:xfrm>
            <a:off x="7909560" y="5367528"/>
            <a:ext cx="82296" cy="82296"/>
          </a:xfrm>
          <a:prstGeom prst="ellipse">
            <a:avLst/>
          </a:prstGeom>
          <a:solidFill>
            <a:srgbClr val="C97C2B"/>
          </a:solidFill>
          <a:ln/>
        </p:spPr>
      </p:sp>
      <p:sp>
        <p:nvSpPr>
          <p:cNvPr id="19" name="Text 16"/>
          <p:cNvSpPr/>
          <p:nvPr/>
        </p:nvSpPr>
        <p:spPr>
          <a:xfrm>
            <a:off x="8110728" y="5239512"/>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Technology–Consumer (71K) and Office Supplies–Consumer (56K)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are the two largest profit combinations on the category-and-segment ribbon chart.</a:t>
            </a:r>
            <a:endParaRPr lang="en-US" sz="1130" dirty="0"/>
          </a:p>
        </p:txBody>
      </p:sp>
      <p:sp>
        <p:nvSpPr>
          <p:cNvPr id="20" name="Text 17"/>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21" name="Text 18"/>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164592"/>
            <a:ext cx="8229600" cy="274320"/>
          </a:xfrm>
          <a:prstGeom prst="rect">
            <a:avLst/>
          </a:prstGeom>
          <a:noFill/>
          <a:ln/>
        </p:spPr>
        <p:txBody>
          <a:bodyPr wrap="square" rtlCol="0" anchor="ctr"/>
          <a:lstStyle/>
          <a:p>
            <a:pPr indent="0" marL="0">
              <a:buNone/>
            </a:pPr>
            <a:r>
              <a:rPr lang="en-US" sz="1100" b="1" spc="200" kern="0" dirty="0">
                <a:solidFill>
                  <a:srgbClr val="9FD1C4"/>
                </a:solidFill>
                <a:latin typeface="Calibri" pitchFamily="34" charset="0"/>
                <a:ea typeface="Calibri" pitchFamily="34" charset="-122"/>
                <a:cs typeface="Calibri" pitchFamily="34" charset="-120"/>
              </a:rPr>
              <a:t>MILESTONE-4  ·  UNIT-LEVEL PROFITABILITY</a:t>
            </a:r>
            <a:endParaRPr lang="en-US" sz="1100" dirty="0"/>
          </a:p>
        </p:txBody>
      </p:sp>
      <p:sp>
        <p:nvSpPr>
          <p:cNvPr id="6" name="Text 4"/>
          <p:cNvSpPr/>
          <p:nvPr/>
        </p:nvSpPr>
        <p:spPr>
          <a:xfrm>
            <a:off x="457200" y="41148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Dashboard Page 7 — Order &amp; Unit Economics</a:t>
            </a:r>
            <a:endParaRPr lang="en-US" sz="3400" dirty="0"/>
          </a:p>
        </p:txBody>
      </p:sp>
      <p:sp>
        <p:nvSpPr>
          <p:cNvPr id="7" name="Shape 5"/>
          <p:cNvSpPr/>
          <p:nvPr/>
        </p:nvSpPr>
        <p:spPr>
          <a:xfrm>
            <a:off x="384048" y="1618488"/>
            <a:ext cx="7050024" cy="4010716"/>
          </a:xfrm>
          <a:prstGeom prst="rect">
            <a:avLst/>
          </a:prstGeom>
          <a:solidFill>
            <a:srgbClr val="F5F8F7"/>
          </a:solidFill>
          <a:ln w="12700">
            <a:solidFill>
              <a:srgbClr val="D8E2E1"/>
            </a:solidFill>
            <a:prstDash val="solid"/>
          </a:ln>
        </p:spPr>
      </p:sp>
      <p:pic>
        <p:nvPicPr>
          <p:cNvPr id="8" name="Image 0" descr="/home/claude/work/dash_imgs/dash7_orderunit.png">    </p:cNvPr>
          <p:cNvPicPr>
            <a:picLocks noChangeAspect="1"/>
          </p:cNvPicPr>
          <p:nvPr/>
        </p:nvPicPr>
        <p:blipFill>
          <a:blip r:embed="rId1"/>
          <a:stretch>
            <a:fillRect/>
          </a:stretch>
        </p:blipFill>
        <p:spPr>
          <a:xfrm>
            <a:off x="457200" y="1691640"/>
            <a:ext cx="6903720" cy="3864412"/>
          </a:xfrm>
          <a:prstGeom prst="rect">
            <a:avLst/>
          </a:prstGeom>
        </p:spPr>
      </p:pic>
      <p:sp>
        <p:nvSpPr>
          <p:cNvPr id="9" name="Text 6"/>
          <p:cNvSpPr/>
          <p:nvPr/>
        </p:nvSpPr>
        <p:spPr>
          <a:xfrm>
            <a:off x="457200" y="5684068"/>
            <a:ext cx="6903720" cy="274320"/>
          </a:xfrm>
          <a:prstGeom prst="rect">
            <a:avLst/>
          </a:prstGeom>
          <a:noFill/>
          <a:ln/>
        </p:spPr>
        <p:txBody>
          <a:bodyPr wrap="square" rtlCol="0" anchor="ctr"/>
          <a:lstStyle/>
          <a:p>
            <a:pPr indent="0" marL="0">
              <a:buNone/>
            </a:pPr>
            <a:r>
              <a:rPr lang="en-US" sz="900" i="1" dirty="0">
                <a:solidFill>
                  <a:srgbClr val="5B6B70"/>
                </a:solidFill>
                <a:latin typeface="Calibri" pitchFamily="34" charset="0"/>
                <a:ea typeface="Calibri" pitchFamily="34" charset="-122"/>
                <a:cs typeface="Calibri" pitchFamily="34" charset="-120"/>
              </a:rPr>
              <a:t>Figure 9  ·  Power BI Desktop screenshot, exported from the working report file</a:t>
            </a:r>
            <a:endParaRPr lang="en-US" sz="900" dirty="0"/>
          </a:p>
        </p:txBody>
      </p:sp>
      <p:sp>
        <p:nvSpPr>
          <p:cNvPr id="10" name="Shape 7"/>
          <p:cNvSpPr/>
          <p:nvPr/>
        </p:nvSpPr>
        <p:spPr>
          <a:xfrm>
            <a:off x="7635240" y="1691640"/>
            <a:ext cx="4114800" cy="4572000"/>
          </a:xfrm>
          <a:prstGeom prst="rect">
            <a:avLst/>
          </a:prstGeom>
          <a:solidFill>
            <a:srgbClr val="EEF3F3"/>
          </a:solidFill>
          <a:ln/>
        </p:spPr>
      </p:sp>
      <p:sp>
        <p:nvSpPr>
          <p:cNvPr id="11" name="Text 8"/>
          <p:cNvSpPr/>
          <p:nvPr/>
        </p:nvSpPr>
        <p:spPr>
          <a:xfrm>
            <a:off x="7909560" y="1874520"/>
            <a:ext cx="356616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KEY INSIGHTS</a:t>
            </a:r>
            <a:endParaRPr lang="en-US" sz="1200" dirty="0"/>
          </a:p>
        </p:txBody>
      </p:sp>
      <p:sp>
        <p:nvSpPr>
          <p:cNvPr id="12" name="Shape 9"/>
          <p:cNvSpPr/>
          <p:nvPr/>
        </p:nvSpPr>
        <p:spPr>
          <a:xfrm>
            <a:off x="7909560" y="2267712"/>
            <a:ext cx="82296" cy="82296"/>
          </a:xfrm>
          <a:prstGeom prst="ellipse">
            <a:avLst/>
          </a:prstGeom>
          <a:solidFill>
            <a:srgbClr val="C97C2B"/>
          </a:solidFill>
          <a:ln/>
        </p:spPr>
      </p:sp>
      <p:sp>
        <p:nvSpPr>
          <p:cNvPr id="13" name="Text 10"/>
          <p:cNvSpPr/>
          <p:nvPr/>
        </p:nvSpPr>
        <p:spPr>
          <a:xfrm>
            <a:off x="8110728" y="2139696"/>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Average Items per Order is 7.56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with Sales per Unit at 60.65 and Profit per Unit at 7.56 — normalizing revenue by item rather than by order.</a:t>
            </a:r>
            <a:endParaRPr lang="en-US" sz="1130" dirty="0"/>
          </a:p>
        </p:txBody>
      </p:sp>
      <p:sp>
        <p:nvSpPr>
          <p:cNvPr id="14" name="Shape 11"/>
          <p:cNvSpPr/>
          <p:nvPr/>
        </p:nvSpPr>
        <p:spPr>
          <a:xfrm>
            <a:off x="7909560" y="3300984"/>
            <a:ext cx="82296" cy="82296"/>
          </a:xfrm>
          <a:prstGeom prst="ellipse">
            <a:avLst/>
          </a:prstGeom>
          <a:solidFill>
            <a:srgbClr val="C97C2B"/>
          </a:solidFill>
          <a:ln/>
        </p:spPr>
      </p:sp>
      <p:sp>
        <p:nvSpPr>
          <p:cNvPr id="15" name="Text 12"/>
          <p:cNvSpPr/>
          <p:nvPr/>
        </p:nvSpPr>
        <p:spPr>
          <a:xfrm>
            <a:off x="8110728" y="3172968"/>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Technology leads Profit per Unit at 21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roughly 4x Office Supplies (5) and 10x Furniture (2) — confirming its strength holds beyond raw volume.</a:t>
            </a:r>
            <a:endParaRPr lang="en-US" sz="1130" dirty="0"/>
          </a:p>
        </p:txBody>
      </p:sp>
      <p:sp>
        <p:nvSpPr>
          <p:cNvPr id="16" name="Shape 13"/>
          <p:cNvSpPr/>
          <p:nvPr/>
        </p:nvSpPr>
        <p:spPr>
          <a:xfrm>
            <a:off x="7909560" y="4334256"/>
            <a:ext cx="82296" cy="82296"/>
          </a:xfrm>
          <a:prstGeom prst="ellipse">
            <a:avLst/>
          </a:prstGeom>
          <a:solidFill>
            <a:srgbClr val="C97C2B"/>
          </a:solidFill>
          <a:ln/>
        </p:spPr>
      </p:sp>
      <p:sp>
        <p:nvSpPr>
          <p:cNvPr id="17" name="Text 14"/>
          <p:cNvSpPr/>
          <p:nvPr/>
        </p:nvSpPr>
        <p:spPr>
          <a:xfrm>
            <a:off x="8110728" y="4206240"/>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Copiers stand out at 237.68 profit per unit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an order of magnitude above every other sub-category — the clearest candidate for continued stock priority.</a:t>
            </a:r>
            <a:endParaRPr lang="en-US" sz="1130" dirty="0"/>
          </a:p>
        </p:txBody>
      </p:sp>
      <p:sp>
        <p:nvSpPr>
          <p:cNvPr id="18" name="Shape 15"/>
          <p:cNvSpPr/>
          <p:nvPr/>
        </p:nvSpPr>
        <p:spPr>
          <a:xfrm>
            <a:off x="7909560" y="5367528"/>
            <a:ext cx="82296" cy="82296"/>
          </a:xfrm>
          <a:prstGeom prst="ellipse">
            <a:avLst/>
          </a:prstGeom>
          <a:solidFill>
            <a:srgbClr val="C97C2B"/>
          </a:solidFill>
          <a:ln/>
        </p:spPr>
      </p:sp>
      <p:sp>
        <p:nvSpPr>
          <p:cNvPr id="19" name="Text 16"/>
          <p:cNvSpPr/>
          <p:nvPr/>
        </p:nvSpPr>
        <p:spPr>
          <a:xfrm>
            <a:off x="8110728" y="5239512"/>
            <a:ext cx="3364992" cy="941832"/>
          </a:xfrm>
          <a:prstGeom prst="rect">
            <a:avLst/>
          </a:prstGeom>
          <a:noFill/>
          <a:ln/>
        </p:spPr>
        <p:txBody>
          <a:bodyPr wrap="square" rtlCol="0" anchor="t"/>
          <a:lstStyle/>
          <a:p>
            <a:pPr indent="0" marL="0">
              <a:lnSpc>
                <a:spcPct val="118000"/>
              </a:lnSpc>
              <a:buNone/>
            </a:pPr>
            <a:r>
              <a:rPr lang="en-US" sz="1130" b="1" dirty="0">
                <a:solidFill>
                  <a:srgbClr val="0F3B4C"/>
                </a:solidFill>
                <a:latin typeface="Calibri" pitchFamily="34" charset="0"/>
                <a:ea typeface="Calibri" pitchFamily="34" charset="-122"/>
                <a:cs typeface="Calibri" pitchFamily="34" charset="-120"/>
              </a:rPr>
              <a:t>Basket sizes stay similar across segments </a:t>
            </a:r>
            <a:pPr indent="0" marL="0">
              <a:lnSpc>
                <a:spcPct val="118000"/>
              </a:lnSpc>
              <a:buNone/>
            </a:pPr>
            <a:r>
              <a:rPr lang="en-US" sz="1060" dirty="0">
                <a:solidFill>
                  <a:srgbClr val="1D2E33"/>
                </a:solidFill>
                <a:latin typeface="Calibri" pitchFamily="34" charset="0"/>
                <a:ea typeface="Calibri" pitchFamily="34" charset="-122"/>
                <a:cs typeface="Calibri" pitchFamily="34" charset="-120"/>
              </a:rPr>
              <a:t>Corporate (7.7), Consumer (7.5), Home Office (7.4) — revenue differences come from price and mix, not basket size.</a:t>
            </a:r>
            <a:endParaRPr lang="en-US" sz="1130" dirty="0"/>
          </a:p>
        </p:txBody>
      </p:sp>
      <p:sp>
        <p:nvSpPr>
          <p:cNvPr id="20" name="Text 17"/>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21" name="Text 18"/>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45720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Conclusion</a:t>
            </a:r>
            <a:endParaRPr lang="en-US" sz="3400" dirty="0"/>
          </a:p>
        </p:txBody>
      </p:sp>
      <p:sp>
        <p:nvSpPr>
          <p:cNvPr id="6" name="Text 4"/>
          <p:cNvSpPr/>
          <p:nvPr/>
        </p:nvSpPr>
        <p:spPr>
          <a:xfrm>
            <a:off x="457200" y="1627632"/>
            <a:ext cx="11247120" cy="777240"/>
          </a:xfrm>
          <a:prstGeom prst="rect">
            <a:avLst/>
          </a:prstGeom>
          <a:noFill/>
          <a:ln/>
        </p:spPr>
        <p:txBody>
          <a:bodyPr wrap="square" rtlCol="0" anchor="ctr"/>
          <a:lstStyle/>
          <a:p>
            <a:pPr indent="0" marL="0">
              <a:lnSpc>
                <a:spcPct val="125000"/>
              </a:lnSpc>
              <a:buNone/>
            </a:pPr>
            <a:r>
              <a:rPr lang="en-US" sz="1450" dirty="0">
                <a:solidFill>
                  <a:srgbClr val="1D2E33"/>
                </a:solidFill>
                <a:latin typeface="Calibri" pitchFamily="34" charset="0"/>
                <a:ea typeface="Calibri" pitchFamily="34" charset="-122"/>
                <a:cs typeface="Calibri" pitchFamily="34" charset="-120"/>
              </a:rPr>
              <a:t>Supply Chain Visibility &amp; Optimization — across four connected milestones I transformed a raw, scattered Kaggle CSV export into a governed, seven-page interactive Power BI dashboard suite, giving supply chain and sales stakeholders one trustworthy source of truth for decision-making.</a:t>
            </a:r>
            <a:endParaRPr lang="en-US" sz="1450" dirty="0"/>
          </a:p>
        </p:txBody>
      </p:sp>
      <p:sp>
        <p:nvSpPr>
          <p:cNvPr id="7" name="Text 5"/>
          <p:cNvSpPr/>
          <p:nvPr/>
        </p:nvSpPr>
        <p:spPr>
          <a:xfrm>
            <a:off x="457200" y="2606040"/>
            <a:ext cx="5303520" cy="274320"/>
          </a:xfrm>
          <a:prstGeom prst="rect">
            <a:avLst/>
          </a:prstGeom>
          <a:noFill/>
          <a:ln/>
        </p:spPr>
        <p:txBody>
          <a:bodyPr wrap="square" rtlCol="0" anchor="ctr"/>
          <a:lstStyle/>
          <a:p>
            <a:pPr indent="0" marL="0">
              <a:buNone/>
            </a:pPr>
            <a:r>
              <a:rPr lang="en-US" sz="1200" b="1" spc="150" kern="0" dirty="0">
                <a:solidFill>
                  <a:srgbClr val="C97C2B"/>
                </a:solidFill>
                <a:latin typeface="Calibri" pitchFamily="34" charset="0"/>
                <a:ea typeface="Calibri" pitchFamily="34" charset="-122"/>
                <a:cs typeface="Calibri" pitchFamily="34" charset="-120"/>
              </a:rPr>
              <a:t>TECHNICAL SKILLS</a:t>
            </a:r>
            <a:endParaRPr lang="en-US" sz="1200" dirty="0"/>
          </a:p>
        </p:txBody>
      </p:sp>
      <p:sp>
        <p:nvSpPr>
          <p:cNvPr id="8" name="Text 6"/>
          <p:cNvSpPr/>
          <p:nvPr/>
        </p:nvSpPr>
        <p:spPr>
          <a:xfrm>
            <a:off x="457200" y="2944368"/>
            <a:ext cx="228600" cy="320040"/>
          </a:xfrm>
          <a:prstGeom prst="rect">
            <a:avLst/>
          </a:prstGeom>
          <a:noFill/>
          <a:ln/>
        </p:spPr>
        <p:txBody>
          <a:bodyPr wrap="square" rtlCol="0" anchor="ctr"/>
          <a:lstStyle/>
          <a:p>
            <a:pPr indent="0" marL="0">
              <a:buNone/>
            </a:pPr>
            <a:r>
              <a:rPr lang="en-US" sz="1300" dirty="0">
                <a:solidFill>
                  <a:srgbClr val="C97C2B"/>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731520" y="2944368"/>
            <a:ext cx="5120640" cy="320040"/>
          </a:xfrm>
          <a:prstGeom prst="rect">
            <a:avLst/>
          </a:prstGeom>
          <a:noFill/>
          <a:ln/>
        </p:spPr>
        <p:txBody>
          <a:bodyPr wrap="square" rtlCol="0" anchor="ctr"/>
          <a:lstStyle/>
          <a:p>
            <a:pPr indent="0" marL="0">
              <a:buNone/>
            </a:pPr>
            <a:r>
              <a:rPr lang="en-US" sz="1250" dirty="0">
                <a:solidFill>
                  <a:srgbClr val="1D2E33"/>
                </a:solidFill>
                <a:latin typeface="Calibri" pitchFamily="34" charset="0"/>
                <a:ea typeface="Calibri" pitchFamily="34" charset="-122"/>
                <a:cs typeface="Calibri" pitchFamily="34" charset="-120"/>
              </a:rPr>
              <a:t>Power BI Desktop, Power Query &amp; Star-Schema Data Modeling</a:t>
            </a:r>
            <a:endParaRPr lang="en-US" sz="1250" dirty="0"/>
          </a:p>
        </p:txBody>
      </p:sp>
      <p:sp>
        <p:nvSpPr>
          <p:cNvPr id="10" name="Text 8"/>
          <p:cNvSpPr/>
          <p:nvPr/>
        </p:nvSpPr>
        <p:spPr>
          <a:xfrm>
            <a:off x="457200" y="3310128"/>
            <a:ext cx="228600" cy="320040"/>
          </a:xfrm>
          <a:prstGeom prst="rect">
            <a:avLst/>
          </a:prstGeom>
          <a:noFill/>
          <a:ln/>
        </p:spPr>
        <p:txBody>
          <a:bodyPr wrap="square" rtlCol="0" anchor="ctr"/>
          <a:lstStyle/>
          <a:p>
            <a:pPr indent="0" marL="0">
              <a:buNone/>
            </a:pPr>
            <a:r>
              <a:rPr lang="en-US" sz="1300" dirty="0">
                <a:solidFill>
                  <a:srgbClr val="C97C2B"/>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731520" y="3310128"/>
            <a:ext cx="5120640" cy="320040"/>
          </a:xfrm>
          <a:prstGeom prst="rect">
            <a:avLst/>
          </a:prstGeom>
          <a:noFill/>
          <a:ln/>
        </p:spPr>
        <p:txBody>
          <a:bodyPr wrap="square" rtlCol="0" anchor="ctr"/>
          <a:lstStyle/>
          <a:p>
            <a:pPr indent="0" marL="0">
              <a:buNone/>
            </a:pPr>
            <a:r>
              <a:rPr lang="en-US" sz="1250" dirty="0">
                <a:solidFill>
                  <a:srgbClr val="1D2E33"/>
                </a:solidFill>
                <a:latin typeface="Calibri" pitchFamily="34" charset="0"/>
                <a:ea typeface="Calibri" pitchFamily="34" charset="-122"/>
                <a:cs typeface="Calibri" pitchFamily="34" charset="-120"/>
              </a:rPr>
              <a:t>DAX Measure Design — sums, ratios &amp; FILTER/COUNTROWS order-level logic</a:t>
            </a:r>
            <a:endParaRPr lang="en-US" sz="1250" dirty="0"/>
          </a:p>
        </p:txBody>
      </p:sp>
      <p:sp>
        <p:nvSpPr>
          <p:cNvPr id="12" name="Text 10"/>
          <p:cNvSpPr/>
          <p:nvPr/>
        </p:nvSpPr>
        <p:spPr>
          <a:xfrm>
            <a:off x="457200" y="3675888"/>
            <a:ext cx="228600" cy="320040"/>
          </a:xfrm>
          <a:prstGeom prst="rect">
            <a:avLst/>
          </a:prstGeom>
          <a:noFill/>
          <a:ln/>
        </p:spPr>
        <p:txBody>
          <a:bodyPr wrap="square" rtlCol="0" anchor="ctr"/>
          <a:lstStyle/>
          <a:p>
            <a:pPr indent="0" marL="0">
              <a:buNone/>
            </a:pPr>
            <a:r>
              <a:rPr lang="en-US" sz="1300" dirty="0">
                <a:solidFill>
                  <a:srgbClr val="C97C2B"/>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731520" y="3675888"/>
            <a:ext cx="5120640" cy="320040"/>
          </a:xfrm>
          <a:prstGeom prst="rect">
            <a:avLst/>
          </a:prstGeom>
          <a:noFill/>
          <a:ln/>
        </p:spPr>
        <p:txBody>
          <a:bodyPr wrap="square" rtlCol="0" anchor="ctr"/>
          <a:lstStyle/>
          <a:p>
            <a:pPr indent="0" marL="0">
              <a:buNone/>
            </a:pPr>
            <a:r>
              <a:rPr lang="en-US" sz="1250" dirty="0">
                <a:solidFill>
                  <a:srgbClr val="1D2E33"/>
                </a:solidFill>
                <a:latin typeface="Calibri" pitchFamily="34" charset="0"/>
                <a:ea typeface="Calibri" pitchFamily="34" charset="-122"/>
                <a:cs typeface="Calibri" pitchFamily="34" charset="-120"/>
              </a:rPr>
              <a:t>Data Cleaning &amp; Cross-Filtered / Drill-Through Dashboard Design</a:t>
            </a:r>
            <a:endParaRPr lang="en-US" sz="1250" dirty="0"/>
          </a:p>
        </p:txBody>
      </p:sp>
      <p:sp>
        <p:nvSpPr>
          <p:cNvPr id="14" name="Text 12"/>
          <p:cNvSpPr/>
          <p:nvPr/>
        </p:nvSpPr>
        <p:spPr>
          <a:xfrm>
            <a:off x="457200" y="4041648"/>
            <a:ext cx="228600" cy="320040"/>
          </a:xfrm>
          <a:prstGeom prst="rect">
            <a:avLst/>
          </a:prstGeom>
          <a:noFill/>
          <a:ln/>
        </p:spPr>
        <p:txBody>
          <a:bodyPr wrap="square" rtlCol="0" anchor="ctr"/>
          <a:lstStyle/>
          <a:p>
            <a:pPr indent="0" marL="0">
              <a:buNone/>
            </a:pPr>
            <a:r>
              <a:rPr lang="en-US" sz="1300" dirty="0">
                <a:solidFill>
                  <a:srgbClr val="C97C2B"/>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731520" y="4041648"/>
            <a:ext cx="5120640" cy="320040"/>
          </a:xfrm>
          <a:prstGeom prst="rect">
            <a:avLst/>
          </a:prstGeom>
          <a:noFill/>
          <a:ln/>
        </p:spPr>
        <p:txBody>
          <a:bodyPr wrap="square" rtlCol="0" anchor="ctr"/>
          <a:lstStyle/>
          <a:p>
            <a:pPr indent="0" marL="0">
              <a:buNone/>
            </a:pPr>
            <a:r>
              <a:rPr lang="en-US" sz="1250" dirty="0">
                <a:solidFill>
                  <a:srgbClr val="1D2E33"/>
                </a:solidFill>
                <a:latin typeface="Calibri" pitchFamily="34" charset="0"/>
                <a:ea typeface="Calibri" pitchFamily="34" charset="-122"/>
                <a:cs typeface="Calibri" pitchFamily="34" charset="-120"/>
              </a:rPr>
              <a:t>Visual-Type Selection Matched to the Business Question</a:t>
            </a:r>
            <a:endParaRPr lang="en-US" sz="1250" dirty="0"/>
          </a:p>
        </p:txBody>
      </p:sp>
      <p:sp>
        <p:nvSpPr>
          <p:cNvPr id="16" name="Text 14"/>
          <p:cNvSpPr/>
          <p:nvPr/>
        </p:nvSpPr>
        <p:spPr>
          <a:xfrm>
            <a:off x="457200" y="4407408"/>
            <a:ext cx="228600" cy="320040"/>
          </a:xfrm>
          <a:prstGeom prst="rect">
            <a:avLst/>
          </a:prstGeom>
          <a:noFill/>
          <a:ln/>
        </p:spPr>
        <p:txBody>
          <a:bodyPr wrap="square" rtlCol="0" anchor="ctr"/>
          <a:lstStyle/>
          <a:p>
            <a:pPr indent="0" marL="0">
              <a:buNone/>
            </a:pPr>
            <a:r>
              <a:rPr lang="en-US" sz="1300" dirty="0">
                <a:solidFill>
                  <a:srgbClr val="C97C2B"/>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731520" y="4407408"/>
            <a:ext cx="5120640" cy="320040"/>
          </a:xfrm>
          <a:prstGeom prst="rect">
            <a:avLst/>
          </a:prstGeom>
          <a:noFill/>
          <a:ln/>
        </p:spPr>
        <p:txBody>
          <a:bodyPr wrap="square" rtlCol="0" anchor="ctr"/>
          <a:lstStyle/>
          <a:p>
            <a:pPr indent="0" marL="0">
              <a:buNone/>
            </a:pPr>
            <a:r>
              <a:rPr lang="en-US" sz="1250" dirty="0">
                <a:solidFill>
                  <a:srgbClr val="1D2E33"/>
                </a:solidFill>
                <a:latin typeface="Calibri" pitchFamily="34" charset="0"/>
                <a:ea typeface="Calibri" pitchFamily="34" charset="-122"/>
                <a:cs typeface="Calibri" pitchFamily="34" charset="-120"/>
              </a:rPr>
              <a:t>Version Control &amp; Team Workflow via GitHub, GitLab, Microsoft Teams</a:t>
            </a:r>
            <a:endParaRPr lang="en-US" sz="1250" dirty="0"/>
          </a:p>
        </p:txBody>
      </p:sp>
      <p:sp>
        <p:nvSpPr>
          <p:cNvPr id="18" name="Text 16"/>
          <p:cNvSpPr/>
          <p:nvPr/>
        </p:nvSpPr>
        <p:spPr>
          <a:xfrm>
            <a:off x="6263640" y="2606040"/>
            <a:ext cx="530352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SOFT SKILLS</a:t>
            </a:r>
            <a:endParaRPr lang="en-US" sz="1200" dirty="0"/>
          </a:p>
        </p:txBody>
      </p:sp>
      <p:sp>
        <p:nvSpPr>
          <p:cNvPr id="19" name="Shape 17"/>
          <p:cNvSpPr/>
          <p:nvPr/>
        </p:nvSpPr>
        <p:spPr>
          <a:xfrm>
            <a:off x="6263640" y="2944368"/>
            <a:ext cx="1399032" cy="420624"/>
          </a:xfrm>
          <a:prstGeom prst="roundRect">
            <a:avLst>
              <a:gd name="adj" fmla="val 50000"/>
            </a:avLst>
          </a:prstGeom>
          <a:solidFill>
            <a:srgbClr val="EEF3F3"/>
          </a:solidFill>
          <a:ln/>
        </p:spPr>
      </p:sp>
      <p:sp>
        <p:nvSpPr>
          <p:cNvPr id="20" name="Text 18"/>
          <p:cNvSpPr/>
          <p:nvPr/>
        </p:nvSpPr>
        <p:spPr>
          <a:xfrm>
            <a:off x="6263640" y="2944368"/>
            <a:ext cx="1399032" cy="420624"/>
          </a:xfrm>
          <a:prstGeom prst="rect">
            <a:avLst/>
          </a:prstGeom>
          <a:noFill/>
          <a:ln/>
        </p:spPr>
        <p:txBody>
          <a:bodyPr wrap="square" rtlCol="0" anchor="ctr"/>
          <a:lstStyle/>
          <a:p>
            <a:pPr algn="ctr" indent="0" marL="0">
              <a:buNone/>
            </a:pPr>
            <a:r>
              <a:rPr lang="en-US" sz="1000" b="1" dirty="0">
                <a:solidFill>
                  <a:srgbClr val="0F3B4C"/>
                </a:solidFill>
                <a:latin typeface="Calibri" pitchFamily="34" charset="0"/>
                <a:ea typeface="Calibri" pitchFamily="34" charset="-122"/>
                <a:cs typeface="Calibri" pitchFamily="34" charset="-120"/>
              </a:rPr>
              <a:t>Problem Solving</a:t>
            </a:r>
            <a:endParaRPr lang="en-US" sz="1000" dirty="0"/>
          </a:p>
        </p:txBody>
      </p:sp>
      <p:sp>
        <p:nvSpPr>
          <p:cNvPr id="21" name="Shape 19"/>
          <p:cNvSpPr/>
          <p:nvPr/>
        </p:nvSpPr>
        <p:spPr>
          <a:xfrm>
            <a:off x="7799832" y="2944368"/>
            <a:ext cx="1292962" cy="420624"/>
          </a:xfrm>
          <a:prstGeom prst="roundRect">
            <a:avLst>
              <a:gd name="adj" fmla="val 50000"/>
            </a:avLst>
          </a:prstGeom>
          <a:solidFill>
            <a:srgbClr val="EEF3F3"/>
          </a:solidFill>
          <a:ln/>
        </p:spPr>
      </p:sp>
      <p:sp>
        <p:nvSpPr>
          <p:cNvPr id="22" name="Text 20"/>
          <p:cNvSpPr/>
          <p:nvPr/>
        </p:nvSpPr>
        <p:spPr>
          <a:xfrm>
            <a:off x="7799832" y="2944368"/>
            <a:ext cx="1292962" cy="420624"/>
          </a:xfrm>
          <a:prstGeom prst="rect">
            <a:avLst/>
          </a:prstGeom>
          <a:noFill/>
          <a:ln/>
        </p:spPr>
        <p:txBody>
          <a:bodyPr wrap="square" rtlCol="0" anchor="ctr"/>
          <a:lstStyle/>
          <a:p>
            <a:pPr algn="ctr" indent="0" marL="0">
              <a:buNone/>
            </a:pPr>
            <a:r>
              <a:rPr lang="en-US" sz="1000" b="1" dirty="0">
                <a:solidFill>
                  <a:srgbClr val="0F3B4C"/>
                </a:solidFill>
                <a:latin typeface="Calibri" pitchFamily="34" charset="0"/>
                <a:ea typeface="Calibri" pitchFamily="34" charset="-122"/>
                <a:cs typeface="Calibri" pitchFamily="34" charset="-120"/>
              </a:rPr>
              <a:t>Communication</a:t>
            </a:r>
            <a:endParaRPr lang="en-US" sz="1000" dirty="0"/>
          </a:p>
        </p:txBody>
      </p:sp>
      <p:sp>
        <p:nvSpPr>
          <p:cNvPr id="23" name="Shape 21"/>
          <p:cNvSpPr/>
          <p:nvPr/>
        </p:nvSpPr>
        <p:spPr>
          <a:xfrm>
            <a:off x="9229954" y="2944368"/>
            <a:ext cx="1027786" cy="420624"/>
          </a:xfrm>
          <a:prstGeom prst="roundRect">
            <a:avLst>
              <a:gd name="adj" fmla="val 50000"/>
            </a:avLst>
          </a:prstGeom>
          <a:solidFill>
            <a:srgbClr val="EEF3F3"/>
          </a:solidFill>
          <a:ln/>
        </p:spPr>
      </p:sp>
      <p:sp>
        <p:nvSpPr>
          <p:cNvPr id="24" name="Text 22"/>
          <p:cNvSpPr/>
          <p:nvPr/>
        </p:nvSpPr>
        <p:spPr>
          <a:xfrm>
            <a:off x="9229954" y="2944368"/>
            <a:ext cx="1027786" cy="420624"/>
          </a:xfrm>
          <a:prstGeom prst="rect">
            <a:avLst/>
          </a:prstGeom>
          <a:noFill/>
          <a:ln/>
        </p:spPr>
        <p:txBody>
          <a:bodyPr wrap="square" rtlCol="0" anchor="ctr"/>
          <a:lstStyle/>
          <a:p>
            <a:pPr algn="ctr" indent="0" marL="0">
              <a:buNone/>
            </a:pPr>
            <a:r>
              <a:rPr lang="en-US" sz="1000" b="1" dirty="0">
                <a:solidFill>
                  <a:srgbClr val="0F3B4C"/>
                </a:solidFill>
                <a:latin typeface="Calibri" pitchFamily="34" charset="0"/>
                <a:ea typeface="Calibri" pitchFamily="34" charset="-122"/>
                <a:cs typeface="Calibri" pitchFamily="34" charset="-120"/>
              </a:rPr>
              <a:t>Teamwork</a:t>
            </a:r>
            <a:endParaRPr lang="en-US" sz="1000" dirty="0"/>
          </a:p>
        </p:txBody>
      </p:sp>
      <p:sp>
        <p:nvSpPr>
          <p:cNvPr id="25" name="Shape 23"/>
          <p:cNvSpPr/>
          <p:nvPr/>
        </p:nvSpPr>
        <p:spPr>
          <a:xfrm>
            <a:off x="10394899" y="2944368"/>
            <a:ext cx="1239926" cy="420624"/>
          </a:xfrm>
          <a:prstGeom prst="roundRect">
            <a:avLst>
              <a:gd name="adj" fmla="val 50000"/>
            </a:avLst>
          </a:prstGeom>
          <a:solidFill>
            <a:srgbClr val="EEF3F3"/>
          </a:solidFill>
          <a:ln/>
        </p:spPr>
      </p:sp>
      <p:sp>
        <p:nvSpPr>
          <p:cNvPr id="26" name="Text 24"/>
          <p:cNvSpPr/>
          <p:nvPr/>
        </p:nvSpPr>
        <p:spPr>
          <a:xfrm>
            <a:off x="10394899" y="2944368"/>
            <a:ext cx="1239926" cy="420624"/>
          </a:xfrm>
          <a:prstGeom prst="rect">
            <a:avLst/>
          </a:prstGeom>
          <a:noFill/>
          <a:ln/>
        </p:spPr>
        <p:txBody>
          <a:bodyPr wrap="square" rtlCol="0" anchor="ctr"/>
          <a:lstStyle/>
          <a:p>
            <a:pPr algn="ctr" indent="0" marL="0">
              <a:buNone/>
            </a:pPr>
            <a:r>
              <a:rPr lang="en-US" sz="1000" b="1" dirty="0">
                <a:solidFill>
                  <a:srgbClr val="0F3B4C"/>
                </a:solidFill>
                <a:latin typeface="Calibri" pitchFamily="34" charset="0"/>
                <a:ea typeface="Calibri" pitchFamily="34" charset="-122"/>
                <a:cs typeface="Calibri" pitchFamily="34" charset="-120"/>
              </a:rPr>
              <a:t>Presentation</a:t>
            </a:r>
            <a:endParaRPr lang="en-US" sz="1000" dirty="0"/>
          </a:p>
        </p:txBody>
      </p:sp>
      <p:sp>
        <p:nvSpPr>
          <p:cNvPr id="27" name="Text 25"/>
          <p:cNvSpPr/>
          <p:nvPr/>
        </p:nvSpPr>
        <p:spPr>
          <a:xfrm>
            <a:off x="6263640" y="3611880"/>
            <a:ext cx="530352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KEY LEARNINGS</a:t>
            </a:r>
            <a:endParaRPr lang="en-US" sz="1200" dirty="0"/>
          </a:p>
        </p:txBody>
      </p:sp>
      <p:sp>
        <p:nvSpPr>
          <p:cNvPr id="28" name="Text 26"/>
          <p:cNvSpPr/>
          <p:nvPr/>
        </p:nvSpPr>
        <p:spPr>
          <a:xfrm>
            <a:off x="6263640" y="3950208"/>
            <a:ext cx="5394960" cy="685800"/>
          </a:xfrm>
          <a:prstGeom prst="rect">
            <a:avLst/>
          </a:prstGeom>
          <a:noFill/>
          <a:ln/>
        </p:spPr>
        <p:txBody>
          <a:bodyPr wrap="square" rtlCol="0" anchor="ctr"/>
          <a:lstStyle/>
          <a:p>
            <a:pPr indent="0" marL="0">
              <a:lnSpc>
                <a:spcPct val="120000"/>
              </a:lnSpc>
              <a:buNone/>
            </a:pPr>
            <a:r>
              <a:rPr lang="en-US" sz="1100" dirty="0">
                <a:solidFill>
                  <a:srgbClr val="5B6B70"/>
                </a:solidFill>
                <a:latin typeface="Calibri" pitchFamily="34" charset="0"/>
                <a:ea typeface="Calibri" pitchFamily="34" charset="-122"/>
                <a:cs typeface="Calibri" pitchFamily="34" charset="-120"/>
              </a:rPr>
              <a:t>Analytical: a strong regional or category total is never trustworthy until checked at the next level of granularity — the discipline that surfaced West-region variation by state.</a:t>
            </a:r>
            <a:endParaRPr lang="en-US" sz="1100" dirty="0"/>
          </a:p>
        </p:txBody>
      </p:sp>
      <p:sp>
        <p:nvSpPr>
          <p:cNvPr id="29" name="Text 27"/>
          <p:cNvSpPr/>
          <p:nvPr/>
        </p:nvSpPr>
        <p:spPr>
          <a:xfrm>
            <a:off x="6263640" y="4663440"/>
            <a:ext cx="5394960" cy="685800"/>
          </a:xfrm>
          <a:prstGeom prst="rect">
            <a:avLst/>
          </a:prstGeom>
          <a:noFill/>
          <a:ln/>
        </p:spPr>
        <p:txBody>
          <a:bodyPr wrap="square" rtlCol="0" anchor="ctr"/>
          <a:lstStyle/>
          <a:p>
            <a:pPr indent="0" marL="0">
              <a:lnSpc>
                <a:spcPct val="120000"/>
              </a:lnSpc>
              <a:buNone/>
            </a:pPr>
            <a:r>
              <a:rPr lang="en-US" sz="1100" dirty="0">
                <a:solidFill>
                  <a:srgbClr val="5B6B70"/>
                </a:solidFill>
                <a:latin typeface="Calibri" pitchFamily="34" charset="0"/>
                <a:ea typeface="Calibri" pitchFamily="34" charset="-122"/>
                <a:cs typeface="Calibri" pitchFamily="34" charset="-120"/>
              </a:rPr>
              <a:t>Domain: understanding what “ship mode” and “discount band” mean in a retail operation made it easy to judge whether a visual answered a real business question.</a:t>
            </a:r>
            <a:endParaRPr lang="en-US" sz="1100" dirty="0"/>
          </a:p>
        </p:txBody>
      </p:sp>
      <p:sp>
        <p:nvSpPr>
          <p:cNvPr id="30" name="Text 28"/>
          <p:cNvSpPr/>
          <p:nvPr/>
        </p:nvSpPr>
        <p:spPr>
          <a:xfrm>
            <a:off x="6263640" y="5376672"/>
            <a:ext cx="5394960" cy="685800"/>
          </a:xfrm>
          <a:prstGeom prst="rect">
            <a:avLst/>
          </a:prstGeom>
          <a:noFill/>
          <a:ln/>
        </p:spPr>
        <p:txBody>
          <a:bodyPr wrap="square" rtlCol="0" anchor="ctr"/>
          <a:lstStyle/>
          <a:p>
            <a:pPr indent="0" marL="0">
              <a:lnSpc>
                <a:spcPct val="120000"/>
              </a:lnSpc>
              <a:buNone/>
            </a:pPr>
            <a:r>
              <a:rPr lang="en-US" sz="1100" dirty="0">
                <a:solidFill>
                  <a:srgbClr val="5B6B70"/>
                </a:solidFill>
                <a:latin typeface="Calibri" pitchFamily="34" charset="0"/>
                <a:ea typeface="Calibri" pitchFamily="34" charset="-122"/>
                <a:cs typeface="Calibri" pitchFamily="34" charset="-120"/>
              </a:rPr>
              <a:t>Documentation: writing KPI theory alongside the build — not after — caught measure-definition inconsistencies early.</a:t>
            </a:r>
            <a:endParaRPr lang="en-US" sz="1100" dirty="0"/>
          </a:p>
        </p:txBody>
      </p:sp>
      <p:sp>
        <p:nvSpPr>
          <p:cNvPr id="31" name="Text 29"/>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32" name="Text 30"/>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3B4C"/>
          </a:solidFill>
          <a:ln/>
        </p:spPr>
      </p:sp>
      <p:sp>
        <p:nvSpPr>
          <p:cNvPr id="3" name="Shape 1"/>
          <p:cNvSpPr/>
          <p:nvPr/>
        </p:nvSpPr>
        <p:spPr>
          <a:xfrm>
            <a:off x="11292840" y="-960120"/>
            <a:ext cx="2743200" cy="2743200"/>
          </a:xfrm>
          <a:prstGeom prst="ellipse">
            <a:avLst/>
          </a:prstGeom>
          <a:solidFill>
            <a:srgbClr val="154A5F">
              <a:alpha val="55000"/>
            </a:srgbClr>
          </a:solidFill>
          <a:ln/>
        </p:spPr>
      </p:sp>
      <p:sp>
        <p:nvSpPr>
          <p:cNvPr id="4" name="Shape 2"/>
          <p:cNvSpPr/>
          <p:nvPr/>
        </p:nvSpPr>
        <p:spPr>
          <a:xfrm>
            <a:off x="11795760" y="-457200"/>
            <a:ext cx="1737360" cy="1737360"/>
          </a:xfrm>
          <a:prstGeom prst="ellipse">
            <a:avLst/>
          </a:prstGeom>
          <a:solidFill>
            <a:srgbClr val="154A5F">
              <a:alpha val="70000"/>
            </a:srgbClr>
          </a:solidFill>
          <a:ln/>
        </p:spPr>
      </p:sp>
      <p:sp>
        <p:nvSpPr>
          <p:cNvPr id="5" name="Text 3"/>
          <p:cNvSpPr/>
          <p:nvPr/>
        </p:nvSpPr>
        <p:spPr>
          <a:xfrm>
            <a:off x="457200" y="457200"/>
            <a:ext cx="1051560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Acknowledgements &amp; References</a:t>
            </a:r>
            <a:endParaRPr lang="en-US" sz="3400" dirty="0"/>
          </a:p>
        </p:txBody>
      </p:sp>
      <p:sp>
        <p:nvSpPr>
          <p:cNvPr id="6" name="Text 4"/>
          <p:cNvSpPr/>
          <p:nvPr/>
        </p:nvSpPr>
        <p:spPr>
          <a:xfrm>
            <a:off x="457200" y="1572768"/>
            <a:ext cx="5303520" cy="274320"/>
          </a:xfrm>
          <a:prstGeom prst="rect">
            <a:avLst/>
          </a:prstGeom>
          <a:noFill/>
          <a:ln/>
        </p:spPr>
        <p:txBody>
          <a:bodyPr wrap="square" rtlCol="0" anchor="ctr"/>
          <a:lstStyle/>
          <a:p>
            <a:pPr indent="0" marL="0">
              <a:buNone/>
            </a:pPr>
            <a:r>
              <a:rPr lang="en-US" sz="1200" b="1" spc="150" kern="0" dirty="0">
                <a:solidFill>
                  <a:srgbClr val="C97C2B"/>
                </a:solidFill>
                <a:latin typeface="Calibri" pitchFamily="34" charset="0"/>
                <a:ea typeface="Calibri" pitchFamily="34" charset="-122"/>
                <a:cs typeface="Calibri" pitchFamily="34" charset="-120"/>
              </a:rPr>
              <a:t>ACKNOWLEDGEMENTS</a:t>
            </a:r>
            <a:endParaRPr lang="en-US" sz="1200" dirty="0"/>
          </a:p>
        </p:txBody>
      </p:sp>
      <p:sp>
        <p:nvSpPr>
          <p:cNvPr id="7" name="Text 5"/>
          <p:cNvSpPr/>
          <p:nvPr/>
        </p:nvSpPr>
        <p:spPr>
          <a:xfrm>
            <a:off x="6263640" y="1572768"/>
            <a:ext cx="5303520" cy="274320"/>
          </a:xfrm>
          <a:prstGeom prst="rect">
            <a:avLst/>
          </a:prstGeom>
          <a:noFill/>
          <a:ln/>
        </p:spPr>
        <p:txBody>
          <a:bodyPr wrap="square" rtlCol="0" anchor="ctr"/>
          <a:lstStyle/>
          <a:p>
            <a:pPr indent="0" marL="0">
              <a:buNone/>
            </a:pPr>
            <a:r>
              <a:rPr lang="en-US" sz="1200" b="1" spc="150" kern="0" dirty="0">
                <a:solidFill>
                  <a:srgbClr val="2E8B74"/>
                </a:solidFill>
                <a:latin typeface="Calibri" pitchFamily="34" charset="0"/>
                <a:ea typeface="Calibri" pitchFamily="34" charset="-122"/>
                <a:cs typeface="Calibri" pitchFamily="34" charset="-120"/>
              </a:rPr>
              <a:t>REFERENCES</a:t>
            </a:r>
            <a:endParaRPr lang="en-US" sz="1200" dirty="0"/>
          </a:p>
        </p:txBody>
      </p:sp>
      <p:sp>
        <p:nvSpPr>
          <p:cNvPr id="8" name="Text 6"/>
          <p:cNvSpPr/>
          <p:nvPr/>
        </p:nvSpPr>
        <p:spPr>
          <a:xfrm>
            <a:off x="457200" y="1920240"/>
            <a:ext cx="5394960" cy="274320"/>
          </a:xfrm>
          <a:prstGeom prst="rect">
            <a:avLst/>
          </a:prstGeom>
          <a:noFill/>
          <a:ln/>
        </p:spPr>
        <p:txBody>
          <a:bodyPr wrap="square" rtlCol="0" anchor="ctr"/>
          <a:lstStyle/>
          <a:p>
            <a:pPr indent="0" marL="0">
              <a:buNone/>
            </a:pPr>
            <a:r>
              <a:rPr lang="en-US" sz="1250" b="1" dirty="0">
                <a:solidFill>
                  <a:srgbClr val="0F3B4C"/>
                </a:solidFill>
                <a:latin typeface="Calibri" pitchFamily="34" charset="0"/>
                <a:ea typeface="Calibri" pitchFamily="34" charset="-122"/>
                <a:cs typeface="Calibri" pitchFamily="34" charset="-120"/>
              </a:rPr>
              <a:t>Infosys Springboard Team</a:t>
            </a:r>
            <a:endParaRPr lang="en-US" sz="1250" dirty="0"/>
          </a:p>
        </p:txBody>
      </p:sp>
      <p:sp>
        <p:nvSpPr>
          <p:cNvPr id="9" name="Text 7"/>
          <p:cNvSpPr/>
          <p:nvPr/>
        </p:nvSpPr>
        <p:spPr>
          <a:xfrm>
            <a:off x="457200" y="2194560"/>
            <a:ext cx="5394960" cy="502920"/>
          </a:xfrm>
          <a:prstGeom prst="rect">
            <a:avLst/>
          </a:prstGeom>
          <a:noFill/>
          <a:ln/>
        </p:spPr>
        <p:txBody>
          <a:bodyPr wrap="square" rtlCol="0" anchor="ctr"/>
          <a:lstStyle/>
          <a:p>
            <a:pPr indent="0" marL="0">
              <a:lnSpc>
                <a:spcPct val="115000"/>
              </a:lnSpc>
              <a:buNone/>
            </a:pPr>
            <a:r>
              <a:rPr lang="en-US" sz="1050" dirty="0">
                <a:solidFill>
                  <a:srgbClr val="5B6B70"/>
                </a:solidFill>
                <a:latin typeface="Calibri" pitchFamily="34" charset="0"/>
                <a:ea typeface="Calibri" pitchFamily="34" charset="-122"/>
                <a:cs typeface="Calibri" pitchFamily="34" charset="-120"/>
              </a:rPr>
              <a:t>For organizing a structured, industry-aligned virtual internship programme with a milestone-based framework.</a:t>
            </a:r>
            <a:endParaRPr lang="en-US" sz="1050" dirty="0"/>
          </a:p>
        </p:txBody>
      </p:sp>
      <p:sp>
        <p:nvSpPr>
          <p:cNvPr id="10" name="Text 8"/>
          <p:cNvSpPr/>
          <p:nvPr/>
        </p:nvSpPr>
        <p:spPr>
          <a:xfrm>
            <a:off x="457200" y="2953512"/>
            <a:ext cx="5394960" cy="274320"/>
          </a:xfrm>
          <a:prstGeom prst="rect">
            <a:avLst/>
          </a:prstGeom>
          <a:noFill/>
          <a:ln/>
        </p:spPr>
        <p:txBody>
          <a:bodyPr wrap="square" rtlCol="0" anchor="ctr"/>
          <a:lstStyle/>
          <a:p>
            <a:pPr indent="0" marL="0">
              <a:buNone/>
            </a:pPr>
            <a:r>
              <a:rPr lang="en-US" sz="1250" b="1" dirty="0">
                <a:solidFill>
                  <a:srgbClr val="0F3B4C"/>
                </a:solidFill>
                <a:latin typeface="Calibri" pitchFamily="34" charset="0"/>
                <a:ea typeface="Calibri" pitchFamily="34" charset="-122"/>
                <a:cs typeface="Calibri" pitchFamily="34" charset="-120"/>
              </a:rPr>
              <a:t>Ms. Nityasree, Mentor</a:t>
            </a:r>
            <a:endParaRPr lang="en-US" sz="1250" dirty="0"/>
          </a:p>
        </p:txBody>
      </p:sp>
      <p:sp>
        <p:nvSpPr>
          <p:cNvPr id="11" name="Text 9"/>
          <p:cNvSpPr/>
          <p:nvPr/>
        </p:nvSpPr>
        <p:spPr>
          <a:xfrm>
            <a:off x="457200" y="3227832"/>
            <a:ext cx="5394960" cy="502920"/>
          </a:xfrm>
          <a:prstGeom prst="rect">
            <a:avLst/>
          </a:prstGeom>
          <a:noFill/>
          <a:ln/>
        </p:spPr>
        <p:txBody>
          <a:bodyPr wrap="square" rtlCol="0" anchor="ctr"/>
          <a:lstStyle/>
          <a:p>
            <a:pPr indent="0" marL="0">
              <a:lnSpc>
                <a:spcPct val="115000"/>
              </a:lnSpc>
              <a:buNone/>
            </a:pPr>
            <a:r>
              <a:rPr lang="en-US" sz="1050" dirty="0">
                <a:solidFill>
                  <a:srgbClr val="5B6B70"/>
                </a:solidFill>
                <a:latin typeface="Calibri" pitchFamily="34" charset="0"/>
                <a:ea typeface="Calibri" pitchFamily="34" charset="-122"/>
                <a:cs typeface="Calibri" pitchFamily="34" charset="-120"/>
              </a:rPr>
              <a:t>For consistent guidance, valuable feedback, and continuous encouragement throughout every milestone review.</a:t>
            </a:r>
            <a:endParaRPr lang="en-US" sz="1050" dirty="0"/>
          </a:p>
        </p:txBody>
      </p:sp>
      <p:sp>
        <p:nvSpPr>
          <p:cNvPr id="12" name="Text 10"/>
          <p:cNvSpPr/>
          <p:nvPr/>
        </p:nvSpPr>
        <p:spPr>
          <a:xfrm>
            <a:off x="457200" y="3986784"/>
            <a:ext cx="5394960" cy="274320"/>
          </a:xfrm>
          <a:prstGeom prst="rect">
            <a:avLst/>
          </a:prstGeom>
          <a:noFill/>
          <a:ln/>
        </p:spPr>
        <p:txBody>
          <a:bodyPr wrap="square" rtlCol="0" anchor="ctr"/>
          <a:lstStyle/>
          <a:p>
            <a:pPr indent="0" marL="0">
              <a:buNone/>
            </a:pPr>
            <a:r>
              <a:rPr lang="en-US" sz="1250" b="1" dirty="0">
                <a:solidFill>
                  <a:srgbClr val="0F3B4C"/>
                </a:solidFill>
                <a:latin typeface="Calibri" pitchFamily="34" charset="0"/>
                <a:ea typeface="Calibri" pitchFamily="34" charset="-122"/>
                <a:cs typeface="Calibri" pitchFamily="34" charset="-120"/>
              </a:rPr>
              <a:t>Team B — Manoj, Narayana, P. Shreesha, Prajwal &amp; Priyanshi</a:t>
            </a:r>
            <a:endParaRPr lang="en-US" sz="1250" dirty="0"/>
          </a:p>
        </p:txBody>
      </p:sp>
      <p:sp>
        <p:nvSpPr>
          <p:cNvPr id="13" name="Text 11"/>
          <p:cNvSpPr/>
          <p:nvPr/>
        </p:nvSpPr>
        <p:spPr>
          <a:xfrm>
            <a:off x="457200" y="4261104"/>
            <a:ext cx="5394960" cy="502920"/>
          </a:xfrm>
          <a:prstGeom prst="rect">
            <a:avLst/>
          </a:prstGeom>
          <a:noFill/>
          <a:ln/>
        </p:spPr>
        <p:txBody>
          <a:bodyPr wrap="square" rtlCol="0" anchor="ctr"/>
          <a:lstStyle/>
          <a:p>
            <a:pPr indent="0" marL="0">
              <a:lnSpc>
                <a:spcPct val="115000"/>
              </a:lnSpc>
              <a:buNone/>
            </a:pPr>
            <a:r>
              <a:rPr lang="en-US" sz="1050" dirty="0">
                <a:solidFill>
                  <a:srgbClr val="5B6B70"/>
                </a:solidFill>
                <a:latin typeface="Calibri" pitchFamily="34" charset="0"/>
                <a:ea typeface="Calibri" pitchFamily="34" charset="-122"/>
                <a:cs typeface="Calibri" pitchFamily="34" charset="-120"/>
              </a:rPr>
              <a:t>For strong collaboration, accountability, and shared commitment across the six-week build.</a:t>
            </a:r>
            <a:endParaRPr lang="en-US" sz="1050" dirty="0"/>
          </a:p>
        </p:txBody>
      </p:sp>
      <p:sp>
        <p:nvSpPr>
          <p:cNvPr id="14" name="Text 12"/>
          <p:cNvSpPr/>
          <p:nvPr/>
        </p:nvSpPr>
        <p:spPr>
          <a:xfrm>
            <a:off x="457200" y="5020056"/>
            <a:ext cx="5394960" cy="274320"/>
          </a:xfrm>
          <a:prstGeom prst="rect">
            <a:avLst/>
          </a:prstGeom>
          <a:noFill/>
          <a:ln/>
        </p:spPr>
        <p:txBody>
          <a:bodyPr wrap="square" rtlCol="0" anchor="ctr"/>
          <a:lstStyle/>
          <a:p>
            <a:pPr indent="0" marL="0">
              <a:buNone/>
            </a:pPr>
            <a:r>
              <a:rPr lang="en-US" sz="1250" b="1" dirty="0">
                <a:solidFill>
                  <a:srgbClr val="0F3B4C"/>
                </a:solidFill>
                <a:latin typeface="Calibri" pitchFamily="34" charset="0"/>
                <a:ea typeface="Calibri" pitchFamily="34" charset="-122"/>
                <a:cs typeface="Calibri" pitchFamily="34" charset="-120"/>
              </a:rPr>
              <a:t>Kaggle &amp; the Power BI Community</a:t>
            </a:r>
            <a:endParaRPr lang="en-US" sz="1250" dirty="0"/>
          </a:p>
        </p:txBody>
      </p:sp>
      <p:sp>
        <p:nvSpPr>
          <p:cNvPr id="15" name="Text 13"/>
          <p:cNvSpPr/>
          <p:nvPr/>
        </p:nvSpPr>
        <p:spPr>
          <a:xfrm>
            <a:off x="457200" y="5294376"/>
            <a:ext cx="5394960" cy="502920"/>
          </a:xfrm>
          <a:prstGeom prst="rect">
            <a:avLst/>
          </a:prstGeom>
          <a:noFill/>
          <a:ln/>
        </p:spPr>
        <p:txBody>
          <a:bodyPr wrap="square" rtlCol="0" anchor="ctr"/>
          <a:lstStyle/>
          <a:p>
            <a:pPr indent="0" marL="0">
              <a:lnSpc>
                <a:spcPct val="115000"/>
              </a:lnSpc>
              <a:buNone/>
            </a:pPr>
            <a:r>
              <a:rPr lang="en-US" sz="1050" dirty="0">
                <a:solidFill>
                  <a:srgbClr val="5B6B70"/>
                </a:solidFill>
                <a:latin typeface="Calibri" pitchFamily="34" charset="0"/>
                <a:ea typeface="Calibri" pitchFamily="34" charset="-122"/>
                <a:cs typeface="Calibri" pitchFamily="34" charset="-120"/>
              </a:rPr>
              <a:t>For the public dataset and documentation resources that made hands-on, real-world practice possible.</a:t>
            </a:r>
            <a:endParaRPr lang="en-US" sz="1050" dirty="0"/>
          </a:p>
        </p:txBody>
      </p:sp>
      <p:sp>
        <p:nvSpPr>
          <p:cNvPr id="16" name="Text 14"/>
          <p:cNvSpPr/>
          <p:nvPr/>
        </p:nvSpPr>
        <p:spPr>
          <a:xfrm>
            <a:off x="6263640" y="1920240"/>
            <a:ext cx="5394960" cy="274320"/>
          </a:xfrm>
          <a:prstGeom prst="rect">
            <a:avLst/>
          </a:prstGeom>
          <a:noFill/>
          <a:ln/>
        </p:spPr>
        <p:txBody>
          <a:bodyPr wrap="square" rtlCol="0" anchor="ctr"/>
          <a:lstStyle/>
          <a:p>
            <a:pPr indent="0" marL="0">
              <a:buNone/>
            </a:pPr>
            <a:r>
              <a:rPr lang="en-US" sz="1250" b="1" dirty="0">
                <a:solidFill>
                  <a:srgbClr val="0F3B4C"/>
                </a:solidFill>
                <a:latin typeface="Calibri" pitchFamily="34" charset="0"/>
                <a:ea typeface="Calibri" pitchFamily="34" charset="-122"/>
                <a:cs typeface="Calibri" pitchFamily="34" charset="-120"/>
              </a:rPr>
              <a:t>Retail Supply Chain Sales Dataset</a:t>
            </a:r>
            <a:endParaRPr lang="en-US" sz="1250" dirty="0"/>
          </a:p>
        </p:txBody>
      </p:sp>
      <p:sp>
        <p:nvSpPr>
          <p:cNvPr id="17" name="Text 15"/>
          <p:cNvSpPr/>
          <p:nvPr/>
        </p:nvSpPr>
        <p:spPr>
          <a:xfrm>
            <a:off x="6263640" y="2194560"/>
            <a:ext cx="5394960" cy="502920"/>
          </a:xfrm>
          <a:prstGeom prst="rect">
            <a:avLst/>
          </a:prstGeom>
          <a:noFill/>
          <a:ln/>
        </p:spPr>
        <p:txBody>
          <a:bodyPr wrap="square" rtlCol="0" anchor="ctr"/>
          <a:lstStyle/>
          <a:p>
            <a:pPr indent="0" marL="0">
              <a:lnSpc>
                <a:spcPct val="115000"/>
              </a:lnSpc>
              <a:buNone/>
            </a:pPr>
            <a:r>
              <a:rPr lang="en-US" sz="1050" dirty="0">
                <a:solidFill>
                  <a:srgbClr val="5B6B70"/>
                </a:solidFill>
                <a:latin typeface="Calibri" pitchFamily="34" charset="0"/>
                <a:ea typeface="Calibri" pitchFamily="34" charset="-122"/>
                <a:cs typeface="Calibri" pitchFamily="34" charset="-120"/>
              </a:rPr>
              <a:t>Sourced via Kaggle — the public order, customer, product, and logistics data used throughout the project.</a:t>
            </a:r>
            <a:endParaRPr lang="en-US" sz="1050" dirty="0"/>
          </a:p>
        </p:txBody>
      </p:sp>
      <p:sp>
        <p:nvSpPr>
          <p:cNvPr id="18" name="Text 16"/>
          <p:cNvSpPr/>
          <p:nvPr/>
        </p:nvSpPr>
        <p:spPr>
          <a:xfrm>
            <a:off x="6263640" y="2953512"/>
            <a:ext cx="5394960" cy="274320"/>
          </a:xfrm>
          <a:prstGeom prst="rect">
            <a:avLst/>
          </a:prstGeom>
          <a:noFill/>
          <a:ln/>
        </p:spPr>
        <p:txBody>
          <a:bodyPr wrap="square" rtlCol="0" anchor="ctr"/>
          <a:lstStyle/>
          <a:p>
            <a:pPr indent="0" marL="0">
              <a:buNone/>
            </a:pPr>
            <a:r>
              <a:rPr lang="en-US" sz="1250" b="1" dirty="0">
                <a:solidFill>
                  <a:srgbClr val="0F3B4C"/>
                </a:solidFill>
                <a:latin typeface="Calibri" pitchFamily="34" charset="0"/>
                <a:ea typeface="Calibri" pitchFamily="34" charset="-122"/>
                <a:cs typeface="Calibri" pitchFamily="34" charset="-120"/>
              </a:rPr>
              <a:t>Microsoft Power BI Documentation</a:t>
            </a:r>
            <a:endParaRPr lang="en-US" sz="1250" dirty="0"/>
          </a:p>
        </p:txBody>
      </p:sp>
      <p:sp>
        <p:nvSpPr>
          <p:cNvPr id="19" name="Text 17"/>
          <p:cNvSpPr/>
          <p:nvPr/>
        </p:nvSpPr>
        <p:spPr>
          <a:xfrm>
            <a:off x="6263640" y="3227832"/>
            <a:ext cx="5394960" cy="502920"/>
          </a:xfrm>
          <a:prstGeom prst="rect">
            <a:avLst/>
          </a:prstGeom>
          <a:noFill/>
          <a:ln/>
        </p:spPr>
        <p:txBody>
          <a:bodyPr wrap="square" rtlCol="0" anchor="ctr"/>
          <a:lstStyle/>
          <a:p>
            <a:pPr indent="0" marL="0">
              <a:lnSpc>
                <a:spcPct val="115000"/>
              </a:lnSpc>
              <a:buNone/>
            </a:pPr>
            <a:r>
              <a:rPr lang="en-US" sz="1050" dirty="0">
                <a:solidFill>
                  <a:srgbClr val="5B6B70"/>
                </a:solidFill>
                <a:latin typeface="Calibri" pitchFamily="34" charset="0"/>
                <a:ea typeface="Calibri" pitchFamily="34" charset="-122"/>
                <a:cs typeface="Calibri" pitchFamily="34" charset="-120"/>
              </a:rPr>
              <a:t>Official documentation and community resources referenced for DAX syntax and dashboard design patterns.</a:t>
            </a:r>
            <a:endParaRPr lang="en-US" sz="1050" dirty="0"/>
          </a:p>
        </p:txBody>
      </p:sp>
      <p:sp>
        <p:nvSpPr>
          <p:cNvPr id="20" name="Text 18"/>
          <p:cNvSpPr/>
          <p:nvPr/>
        </p:nvSpPr>
        <p:spPr>
          <a:xfrm>
            <a:off x="6263640" y="3986784"/>
            <a:ext cx="5394960" cy="274320"/>
          </a:xfrm>
          <a:prstGeom prst="rect">
            <a:avLst/>
          </a:prstGeom>
          <a:noFill/>
          <a:ln/>
        </p:spPr>
        <p:txBody>
          <a:bodyPr wrap="square" rtlCol="0" anchor="ctr"/>
          <a:lstStyle/>
          <a:p>
            <a:pPr indent="0" marL="0">
              <a:buNone/>
            </a:pPr>
            <a:r>
              <a:rPr lang="en-US" sz="1250" b="1" dirty="0">
                <a:solidFill>
                  <a:srgbClr val="0F3B4C"/>
                </a:solidFill>
                <a:latin typeface="Calibri" pitchFamily="34" charset="0"/>
                <a:ea typeface="Calibri" pitchFamily="34" charset="-122"/>
                <a:cs typeface="Calibri" pitchFamily="34" charset="-120"/>
              </a:rPr>
              <a:t>Infosys Springboard Training Materials</a:t>
            </a:r>
            <a:endParaRPr lang="en-US" sz="1250" dirty="0"/>
          </a:p>
        </p:txBody>
      </p:sp>
      <p:sp>
        <p:nvSpPr>
          <p:cNvPr id="21" name="Text 19"/>
          <p:cNvSpPr/>
          <p:nvPr/>
        </p:nvSpPr>
        <p:spPr>
          <a:xfrm>
            <a:off x="6263640" y="4261104"/>
            <a:ext cx="5394960" cy="502920"/>
          </a:xfrm>
          <a:prstGeom prst="rect">
            <a:avLst/>
          </a:prstGeom>
          <a:noFill/>
          <a:ln/>
        </p:spPr>
        <p:txBody>
          <a:bodyPr wrap="square" rtlCol="0" anchor="ctr"/>
          <a:lstStyle/>
          <a:p>
            <a:pPr indent="0" marL="0">
              <a:lnSpc>
                <a:spcPct val="115000"/>
              </a:lnSpc>
              <a:buNone/>
            </a:pPr>
            <a:r>
              <a:rPr lang="en-US" sz="1050" dirty="0">
                <a:solidFill>
                  <a:srgbClr val="5B6B70"/>
                </a:solidFill>
                <a:latin typeface="Calibri" pitchFamily="34" charset="0"/>
                <a:ea typeface="Calibri" pitchFamily="34" charset="-122"/>
                <a:cs typeface="Calibri" pitchFamily="34" charset="-120"/>
              </a:rPr>
              <a:t>Virtual Internship 7.0 course modules, milestone guidelines, and mentor review notes.</a:t>
            </a:r>
            <a:endParaRPr lang="en-US" sz="1050" dirty="0"/>
          </a:p>
        </p:txBody>
      </p:sp>
      <p:sp>
        <p:nvSpPr>
          <p:cNvPr id="22" name="Text 20"/>
          <p:cNvSpPr/>
          <p:nvPr/>
        </p:nvSpPr>
        <p:spPr>
          <a:xfrm>
            <a:off x="457200" y="6510528"/>
            <a:ext cx="8686800" cy="274320"/>
          </a:xfrm>
          <a:prstGeom prst="rect">
            <a:avLst/>
          </a:prstGeom>
          <a:noFill/>
          <a:ln/>
        </p:spPr>
        <p:txBody>
          <a:bodyPr wrap="square" rtlCol="0" anchor="ctr"/>
          <a:lstStyle/>
          <a:p>
            <a:pPr indent="0" marL="0">
              <a:buNone/>
            </a:pPr>
            <a:r>
              <a:rPr lang="en-US" sz="1000" i="1" dirty="0">
                <a:solidFill>
                  <a:srgbClr val="5B6B70"/>
                </a:solidFill>
                <a:latin typeface="Calibri" pitchFamily="34" charset="0"/>
                <a:ea typeface="Calibri" pitchFamily="34" charset="-122"/>
                <a:cs typeface="Calibri" pitchFamily="34" charset="-120"/>
              </a:rPr>
              <a:t>Supply Chain Visibility System with Optimization Analytics  •  Pendyala Venkata Bharath</a:t>
            </a:r>
            <a:endParaRPr lang="en-US" sz="1000" dirty="0"/>
          </a:p>
        </p:txBody>
      </p:sp>
      <p:sp>
        <p:nvSpPr>
          <p:cNvPr id="23" name="Text 21"/>
          <p:cNvSpPr/>
          <p:nvPr/>
        </p:nvSpPr>
        <p:spPr>
          <a:xfrm>
            <a:off x="11430000" y="6510528"/>
            <a:ext cx="365760" cy="274320"/>
          </a:xfrm>
          <a:prstGeom prst="rect">
            <a:avLst/>
          </a:prstGeom>
          <a:noFill/>
          <a:ln/>
        </p:spPr>
        <p:txBody>
          <a:bodyPr wrap="square" rtlCol="0" anchor="ctr"/>
          <a:lstStyle/>
          <a:p>
            <a:pPr algn="r" indent="0" marL="0">
              <a:buNone/>
            </a:pPr>
            <a:r>
              <a:rPr lang="en-US" sz="1000" dirty="0">
                <a:solidFill>
                  <a:srgbClr val="5B6B7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3B4C"/>
        </a:solidFill>
      </p:bgPr>
    </p:bg>
    <p:spTree>
      <p:nvGrpSpPr>
        <p:cNvPr id="1" name=""/>
        <p:cNvGrpSpPr/>
        <p:nvPr/>
      </p:nvGrpSpPr>
      <p:grpSpPr>
        <a:xfrm>
          <a:off x="0" y="0"/>
          <a:ext cx="0" cy="0"/>
          <a:chOff x="0" y="0"/>
          <a:chExt cx="0" cy="0"/>
        </a:xfrm>
      </p:grpSpPr>
      <p:sp>
        <p:nvSpPr>
          <p:cNvPr id="2" name="Shape 0"/>
          <p:cNvSpPr/>
          <p:nvPr/>
        </p:nvSpPr>
        <p:spPr>
          <a:xfrm>
            <a:off x="9418320" y="-2194560"/>
            <a:ext cx="5943600" cy="5943600"/>
          </a:xfrm>
          <a:prstGeom prst="ellipse">
            <a:avLst/>
          </a:prstGeom>
          <a:solidFill>
            <a:srgbClr val="154A5F">
              <a:alpha val="45000"/>
            </a:srgbClr>
          </a:solidFill>
          <a:ln/>
        </p:spPr>
      </p:sp>
      <p:sp>
        <p:nvSpPr>
          <p:cNvPr id="3" name="Shape 1"/>
          <p:cNvSpPr/>
          <p:nvPr/>
        </p:nvSpPr>
        <p:spPr>
          <a:xfrm>
            <a:off x="10332720" y="-1280160"/>
            <a:ext cx="3931920" cy="3931920"/>
          </a:xfrm>
          <a:prstGeom prst="ellipse">
            <a:avLst/>
          </a:prstGeom>
          <a:solidFill>
            <a:srgbClr val="154A5F">
              <a:alpha val="60000"/>
            </a:srgbClr>
          </a:solidFill>
          <a:ln/>
        </p:spPr>
      </p:sp>
      <p:sp>
        <p:nvSpPr>
          <p:cNvPr id="4" name="Shape 2"/>
          <p:cNvSpPr/>
          <p:nvPr/>
        </p:nvSpPr>
        <p:spPr>
          <a:xfrm>
            <a:off x="-2011680" y="4206240"/>
            <a:ext cx="4937760" cy="4937760"/>
          </a:xfrm>
          <a:prstGeom prst="ellipse">
            <a:avLst/>
          </a:prstGeom>
          <a:solidFill>
            <a:srgbClr val="154A5F">
              <a:alpha val="45000"/>
            </a:srgbClr>
          </a:solidFill>
          <a:ln/>
        </p:spPr>
      </p:sp>
      <p:sp>
        <p:nvSpPr>
          <p:cNvPr id="5" name="Shape 3"/>
          <p:cNvSpPr/>
          <p:nvPr/>
        </p:nvSpPr>
        <p:spPr>
          <a:xfrm>
            <a:off x="-1188720" y="5120640"/>
            <a:ext cx="3108960" cy="3108960"/>
          </a:xfrm>
          <a:prstGeom prst="ellipse">
            <a:avLst/>
          </a:prstGeom>
          <a:solidFill>
            <a:srgbClr val="154A5F">
              <a:alpha val="60000"/>
            </a:srgbClr>
          </a:solidFill>
          <a:ln/>
        </p:spPr>
      </p:sp>
      <p:sp>
        <p:nvSpPr>
          <p:cNvPr id="6" name="Text 4"/>
          <p:cNvSpPr/>
          <p:nvPr/>
        </p:nvSpPr>
        <p:spPr>
          <a:xfrm>
            <a:off x="0" y="2880360"/>
            <a:ext cx="12191695" cy="91440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7" name="Text 5"/>
          <p:cNvSpPr/>
          <p:nvPr/>
        </p:nvSpPr>
        <p:spPr>
          <a:xfrm>
            <a:off x="0" y="3794760"/>
            <a:ext cx="12191695" cy="320040"/>
          </a:xfrm>
          <a:prstGeom prst="rect">
            <a:avLst/>
          </a:prstGeom>
          <a:noFill/>
          <a:ln/>
        </p:spPr>
        <p:txBody>
          <a:bodyPr wrap="square" rtlCol="0" anchor="ctr"/>
          <a:lstStyle/>
          <a:p>
            <a:pPr algn="ctr" indent="0" marL="0">
              <a:buNone/>
            </a:pPr>
            <a:r>
              <a:rPr lang="en-US" sz="1200" i="1" dirty="0">
                <a:solidFill>
                  <a:srgbClr val="C7D8D4"/>
                </a:solidFill>
                <a:latin typeface="Calibri" pitchFamily="34" charset="0"/>
                <a:ea typeface="Calibri" pitchFamily="34" charset="-122"/>
                <a:cs typeface="Calibri" pitchFamily="34" charset="-120"/>
              </a:rPr>
              <a:t>Supply Chain Visibility System with Optimization Analytics  •  Pendyala Venkata Bharath</a:t>
            </a:r>
            <a:endParaRPr lang="en-US" sz="1200" dirty="0"/>
          </a:p>
        </p:txBody>
      </p:sp>
      <p:sp>
        <p:nvSpPr>
          <p:cNvPr id="8" name="Text 6"/>
          <p:cNvSpPr/>
          <p:nvPr/>
        </p:nvSpPr>
        <p:spPr>
          <a:xfrm>
            <a:off x="0" y="4114800"/>
            <a:ext cx="12191695" cy="320040"/>
          </a:xfrm>
          <a:prstGeom prst="rect">
            <a:avLst/>
          </a:prstGeom>
          <a:noFill/>
          <a:ln/>
        </p:spPr>
        <p:txBody>
          <a:bodyPr wrap="square" rtlCol="0" anchor="ctr"/>
          <a:lstStyle/>
          <a:p>
            <a:pPr algn="ctr" indent="0" marL="0">
              <a:buNone/>
            </a:pPr>
            <a:r>
              <a:rPr lang="en-US" sz="1200" dirty="0">
                <a:solidFill>
                  <a:srgbClr val="C7D8D4"/>
                </a:solidFill>
                <a:latin typeface="Calibri" pitchFamily="34" charset="0"/>
                <a:ea typeface="Calibri" pitchFamily="34" charset="-122"/>
                <a:cs typeface="Calibri" pitchFamily="34" charset="-120"/>
              </a:rPr>
              <a:t>Infosys Springboard Virtual Internship 7.0  |  Mentor: Ms. Nityasree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2026-08-22T08:01:05Z</dcterms:created>
  <dcterms:modified xsi:type="dcterms:W3CDTF">2026-08-22T08:01:05Z</dcterms:modified>
</cp:coreProperties>
</file>